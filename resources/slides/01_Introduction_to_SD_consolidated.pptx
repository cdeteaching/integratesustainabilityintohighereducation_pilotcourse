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56"/>
  </p:notesMasterIdLst>
  <p:handoutMasterIdLst>
    <p:handoutMasterId r:id="rId57"/>
  </p:handoutMasterIdLst>
  <p:sldIdLst>
    <p:sldId id="2392" r:id="rId5"/>
    <p:sldId id="281" r:id="rId6"/>
    <p:sldId id="355" r:id="rId7"/>
    <p:sldId id="354" r:id="rId8"/>
    <p:sldId id="2384" r:id="rId9"/>
    <p:sldId id="325" r:id="rId10"/>
    <p:sldId id="2347" r:id="rId11"/>
    <p:sldId id="353" r:id="rId12"/>
    <p:sldId id="357" r:id="rId13"/>
    <p:sldId id="381" r:id="rId14"/>
    <p:sldId id="262" r:id="rId15"/>
    <p:sldId id="263" r:id="rId16"/>
    <p:sldId id="382" r:id="rId17"/>
    <p:sldId id="2385" r:id="rId18"/>
    <p:sldId id="2350" r:id="rId19"/>
    <p:sldId id="2418" r:id="rId20"/>
    <p:sldId id="2387" r:id="rId21"/>
    <p:sldId id="360" r:id="rId22"/>
    <p:sldId id="2352" r:id="rId23"/>
    <p:sldId id="2341" r:id="rId24"/>
    <p:sldId id="2358" r:id="rId25"/>
    <p:sldId id="2415" r:id="rId26"/>
    <p:sldId id="2416" r:id="rId27"/>
    <p:sldId id="2355" r:id="rId28"/>
    <p:sldId id="2356" r:id="rId29"/>
    <p:sldId id="399" r:id="rId30"/>
    <p:sldId id="2359" r:id="rId31"/>
    <p:sldId id="2372" r:id="rId32"/>
    <p:sldId id="2381" r:id="rId33"/>
    <p:sldId id="2379" r:id="rId34"/>
    <p:sldId id="469" r:id="rId35"/>
    <p:sldId id="328" r:id="rId36"/>
    <p:sldId id="324" r:id="rId37"/>
    <p:sldId id="2389" r:id="rId38"/>
    <p:sldId id="351" r:id="rId39"/>
    <p:sldId id="2390" r:id="rId40"/>
    <p:sldId id="345" r:id="rId41"/>
    <p:sldId id="347" r:id="rId42"/>
    <p:sldId id="349" r:id="rId43"/>
    <p:sldId id="384" r:id="rId44"/>
    <p:sldId id="466" r:id="rId45"/>
    <p:sldId id="2383" r:id="rId46"/>
    <p:sldId id="2378" r:id="rId47"/>
    <p:sldId id="372" r:id="rId48"/>
    <p:sldId id="2367" r:id="rId49"/>
    <p:sldId id="2366" r:id="rId50"/>
    <p:sldId id="2391" r:id="rId51"/>
    <p:sldId id="2373" r:id="rId52"/>
    <p:sldId id="2375" r:id="rId53"/>
    <p:sldId id="2376" r:id="rId54"/>
    <p:sldId id="2403" r:id="rId55"/>
  </p:sldIdLst>
  <p:sldSz cx="12192000" cy="6858000"/>
  <p:notesSz cx="68119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D83B335A-8F87-2DD6-0574-5D123DC21E21}" name="Chastonay, Jonas Frédéric (CDE)" initials="JC" userId="S::jonas.chastonay@unibe.ch::cb5d6b0e-aa53-44c2-adb2-0fec1b40c879" providerId="AD"/>
  <p188:author id="{6973CE9C-DBF0-4771-9A27-3F04C83413A4}" name="Lewis, Anna Lena (CDE)" initials="AL" userId="S::anna.lewis@unibe.ch::18eda301-d6e9-42ea-b30d-6f079ea4a702" providerId="AD"/>
  <p188:author id="{A994ABEB-32DB-F843-9070-24218D33C856}" name="Providoli, Isabelle (CDE)" initials="IP" userId="S::isabelle.providoli@unibe.ch::5e086de7-d523-4e56-a6b7-e0395ec77b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DF"/>
    <a:srgbClr val="FFFFFF"/>
    <a:srgbClr val="FBD3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510" autoAdjust="0"/>
  </p:normalViewPr>
  <p:slideViewPr>
    <p:cSldViewPr snapToGrid="0">
      <p:cViewPr varScale="1">
        <p:scale>
          <a:sx n="67" d="100"/>
          <a:sy n="67" d="100"/>
        </p:scale>
        <p:origin x="210" y="66"/>
      </p:cViewPr>
      <p:guideLst>
        <p:guide pos="360"/>
        <p:guide pos="7392"/>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_rels/data1.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image" Target="../media/image56.svg"/></Relationships>
</file>

<file path=ppt/diagrams/_rels/data2.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9.svg"/></Relationships>
</file>

<file path=ppt/diagrams/_rels/drawing1.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image" Target="../media/image56.svg"/></Relationships>
</file>

<file path=ppt/diagrams/_rels/drawing2.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FEEB62D-6D91-44E9-9B8A-94774358C8C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25AFF15-E0DE-4B6D-ACE1-EDEFCA21B154}">
      <dgm:prSet/>
      <dgm:spPr/>
      <dgm:t>
        <a:bodyPr/>
        <a:lstStyle/>
        <a:p>
          <a:pPr>
            <a:lnSpc>
              <a:spcPct val="100000"/>
            </a:lnSpc>
          </a:pPr>
          <a:r>
            <a:rPr lang="en-US"/>
            <a:t>Participants individually note their key takeaways from the session.</a:t>
          </a:r>
        </a:p>
      </dgm:t>
    </dgm:pt>
    <dgm:pt modelId="{B8F3DA38-81FB-440F-A57E-CBCF651BA513}" type="parTrans" cxnId="{3336C3B1-1618-4593-975B-62274004B5AA}">
      <dgm:prSet/>
      <dgm:spPr/>
      <dgm:t>
        <a:bodyPr/>
        <a:lstStyle/>
        <a:p>
          <a:endParaRPr lang="en-US"/>
        </a:p>
      </dgm:t>
    </dgm:pt>
    <dgm:pt modelId="{BC3362E7-4A23-4CCE-AB34-8E9F3859B6F5}" type="sibTrans" cxnId="{3336C3B1-1618-4593-975B-62274004B5AA}">
      <dgm:prSet/>
      <dgm:spPr/>
      <dgm:t>
        <a:bodyPr/>
        <a:lstStyle/>
        <a:p>
          <a:endParaRPr lang="en-US"/>
        </a:p>
      </dgm:t>
    </dgm:pt>
    <dgm:pt modelId="{5C31B671-D931-4C31-86DE-5D47926EBC49}">
      <dgm:prSet/>
      <dgm:spPr/>
      <dgm:t>
        <a:bodyPr/>
        <a:lstStyle/>
        <a:p>
          <a:pPr>
            <a:lnSpc>
              <a:spcPct val="100000"/>
            </a:lnSpc>
          </a:pPr>
          <a:r>
            <a:rPr lang="en-US"/>
            <a:t>Invitation to share their reflections with the group.</a:t>
          </a:r>
        </a:p>
      </dgm:t>
    </dgm:pt>
    <dgm:pt modelId="{60FDEEF1-FAC7-4F4E-A78F-BD7A2B33A586}" type="parTrans" cxnId="{2AA2164F-05EA-48F7-847D-28EC8305A492}">
      <dgm:prSet/>
      <dgm:spPr/>
      <dgm:t>
        <a:bodyPr/>
        <a:lstStyle/>
        <a:p>
          <a:endParaRPr lang="en-US"/>
        </a:p>
      </dgm:t>
    </dgm:pt>
    <dgm:pt modelId="{67DAAF1F-6CCB-4DF8-BC06-939AE2128B9B}" type="sibTrans" cxnId="{2AA2164F-05EA-48F7-847D-28EC8305A492}">
      <dgm:prSet/>
      <dgm:spPr/>
      <dgm:t>
        <a:bodyPr/>
        <a:lstStyle/>
        <a:p>
          <a:endParaRPr lang="en-US"/>
        </a:p>
      </dgm:t>
    </dgm:pt>
    <dgm:pt modelId="{840CA35E-1CC7-4025-984E-B475CDC6DD94}" type="pres">
      <dgm:prSet presAssocID="{5FEEB62D-6D91-44E9-9B8A-94774358C8CF}" presName="root" presStyleCnt="0">
        <dgm:presLayoutVars>
          <dgm:dir/>
          <dgm:resizeHandles val="exact"/>
        </dgm:presLayoutVars>
      </dgm:prSet>
      <dgm:spPr/>
    </dgm:pt>
    <dgm:pt modelId="{21F0E482-E862-41E8-AD9F-6A622111D7F7}" type="pres">
      <dgm:prSet presAssocID="{B25AFF15-E0DE-4B6D-ACE1-EDEFCA21B154}" presName="compNode" presStyleCnt="0"/>
      <dgm:spPr/>
    </dgm:pt>
    <dgm:pt modelId="{300A7658-CA37-44B7-AE9C-915A1631EA82}" type="pres">
      <dgm:prSet presAssocID="{B25AFF15-E0DE-4B6D-ACE1-EDEFCA21B154}" presName="bgRect" presStyleLbl="bgShp" presStyleIdx="0" presStyleCnt="2"/>
      <dgm:spPr/>
    </dgm:pt>
    <dgm:pt modelId="{17C2BC9E-0801-4CA9-8A88-6FA0925FD514}" type="pres">
      <dgm:prSet presAssocID="{B25AFF15-E0DE-4B6D-ACE1-EDEFCA21B15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ipboard"/>
        </a:ext>
      </dgm:extLst>
    </dgm:pt>
    <dgm:pt modelId="{FC264C96-90A3-4F26-8E57-AD3ECE93FA94}" type="pres">
      <dgm:prSet presAssocID="{B25AFF15-E0DE-4B6D-ACE1-EDEFCA21B154}" presName="spaceRect" presStyleCnt="0"/>
      <dgm:spPr/>
    </dgm:pt>
    <dgm:pt modelId="{8B81D624-30FC-47A8-9F72-6B03E873EB1A}" type="pres">
      <dgm:prSet presAssocID="{B25AFF15-E0DE-4B6D-ACE1-EDEFCA21B154}" presName="parTx" presStyleLbl="revTx" presStyleIdx="0" presStyleCnt="2">
        <dgm:presLayoutVars>
          <dgm:chMax val="0"/>
          <dgm:chPref val="0"/>
        </dgm:presLayoutVars>
      </dgm:prSet>
      <dgm:spPr/>
    </dgm:pt>
    <dgm:pt modelId="{285850AD-3249-4E93-B82C-4BFE63920249}" type="pres">
      <dgm:prSet presAssocID="{BC3362E7-4A23-4CCE-AB34-8E9F3859B6F5}" presName="sibTrans" presStyleCnt="0"/>
      <dgm:spPr/>
    </dgm:pt>
    <dgm:pt modelId="{82D1E55A-AEA4-4FCE-AED4-EC6730D320B6}" type="pres">
      <dgm:prSet presAssocID="{5C31B671-D931-4C31-86DE-5D47926EBC49}" presName="compNode" presStyleCnt="0"/>
      <dgm:spPr/>
    </dgm:pt>
    <dgm:pt modelId="{E8985D29-7864-4A01-B844-F762D7B0B00C}" type="pres">
      <dgm:prSet presAssocID="{5C31B671-D931-4C31-86DE-5D47926EBC49}" presName="bgRect" presStyleLbl="bgShp" presStyleIdx="1" presStyleCnt="2"/>
      <dgm:spPr/>
    </dgm:pt>
    <dgm:pt modelId="{199785A6-CA9C-4E28-8E9A-E8718F5B510F}" type="pres">
      <dgm:prSet presAssocID="{5C31B671-D931-4C31-86DE-5D47926EBC4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ign Language"/>
        </a:ext>
      </dgm:extLst>
    </dgm:pt>
    <dgm:pt modelId="{523AF37D-3357-4365-A098-E55715705A5D}" type="pres">
      <dgm:prSet presAssocID="{5C31B671-D931-4C31-86DE-5D47926EBC49}" presName="spaceRect" presStyleCnt="0"/>
      <dgm:spPr/>
    </dgm:pt>
    <dgm:pt modelId="{3D9E7C63-7BED-4DC4-8412-BE6E2F7B287F}" type="pres">
      <dgm:prSet presAssocID="{5C31B671-D931-4C31-86DE-5D47926EBC49}" presName="parTx" presStyleLbl="revTx" presStyleIdx="1" presStyleCnt="2">
        <dgm:presLayoutVars>
          <dgm:chMax val="0"/>
          <dgm:chPref val="0"/>
        </dgm:presLayoutVars>
      </dgm:prSet>
      <dgm:spPr/>
    </dgm:pt>
  </dgm:ptLst>
  <dgm:cxnLst>
    <dgm:cxn modelId="{42F1B429-19EC-4B8E-9D0A-8B1C44ED8BBF}" type="presOf" srcId="{5FEEB62D-6D91-44E9-9B8A-94774358C8CF}" destId="{840CA35E-1CC7-4025-984E-B475CDC6DD94}" srcOrd="0" destOrd="0" presId="urn:microsoft.com/office/officeart/2018/2/layout/IconVerticalSolidList"/>
    <dgm:cxn modelId="{2AA2164F-05EA-48F7-847D-28EC8305A492}" srcId="{5FEEB62D-6D91-44E9-9B8A-94774358C8CF}" destId="{5C31B671-D931-4C31-86DE-5D47926EBC49}" srcOrd="1" destOrd="0" parTransId="{60FDEEF1-FAC7-4F4E-A78F-BD7A2B33A586}" sibTransId="{67DAAF1F-6CCB-4DF8-BC06-939AE2128B9B}"/>
    <dgm:cxn modelId="{146C9D7B-C173-4F2A-97C6-8B72097638B4}" type="presOf" srcId="{5C31B671-D931-4C31-86DE-5D47926EBC49}" destId="{3D9E7C63-7BED-4DC4-8412-BE6E2F7B287F}" srcOrd="0" destOrd="0" presId="urn:microsoft.com/office/officeart/2018/2/layout/IconVerticalSolidList"/>
    <dgm:cxn modelId="{C120FF82-38E5-49F0-9060-4352A0BF11B5}" type="presOf" srcId="{B25AFF15-E0DE-4B6D-ACE1-EDEFCA21B154}" destId="{8B81D624-30FC-47A8-9F72-6B03E873EB1A}" srcOrd="0" destOrd="0" presId="urn:microsoft.com/office/officeart/2018/2/layout/IconVerticalSolidList"/>
    <dgm:cxn modelId="{3336C3B1-1618-4593-975B-62274004B5AA}" srcId="{5FEEB62D-6D91-44E9-9B8A-94774358C8CF}" destId="{B25AFF15-E0DE-4B6D-ACE1-EDEFCA21B154}" srcOrd="0" destOrd="0" parTransId="{B8F3DA38-81FB-440F-A57E-CBCF651BA513}" sibTransId="{BC3362E7-4A23-4CCE-AB34-8E9F3859B6F5}"/>
    <dgm:cxn modelId="{CAE0AF5D-ADFC-4BC8-BE98-7945911FD1FD}" type="presParOf" srcId="{840CA35E-1CC7-4025-984E-B475CDC6DD94}" destId="{21F0E482-E862-41E8-AD9F-6A622111D7F7}" srcOrd="0" destOrd="0" presId="urn:microsoft.com/office/officeart/2018/2/layout/IconVerticalSolidList"/>
    <dgm:cxn modelId="{1DC38F9F-D303-4044-B101-9486A7989FCF}" type="presParOf" srcId="{21F0E482-E862-41E8-AD9F-6A622111D7F7}" destId="{300A7658-CA37-44B7-AE9C-915A1631EA82}" srcOrd="0" destOrd="0" presId="urn:microsoft.com/office/officeart/2018/2/layout/IconVerticalSolidList"/>
    <dgm:cxn modelId="{04403337-5640-4628-88E7-54E46FCFDCFB}" type="presParOf" srcId="{21F0E482-E862-41E8-AD9F-6A622111D7F7}" destId="{17C2BC9E-0801-4CA9-8A88-6FA0925FD514}" srcOrd="1" destOrd="0" presId="urn:microsoft.com/office/officeart/2018/2/layout/IconVerticalSolidList"/>
    <dgm:cxn modelId="{25C46E9E-ED0B-4AD1-ACD8-D0180CFF8032}" type="presParOf" srcId="{21F0E482-E862-41E8-AD9F-6A622111D7F7}" destId="{FC264C96-90A3-4F26-8E57-AD3ECE93FA94}" srcOrd="2" destOrd="0" presId="urn:microsoft.com/office/officeart/2018/2/layout/IconVerticalSolidList"/>
    <dgm:cxn modelId="{7E418D31-5DF6-4002-BD49-50FAC7AE0176}" type="presParOf" srcId="{21F0E482-E862-41E8-AD9F-6A622111D7F7}" destId="{8B81D624-30FC-47A8-9F72-6B03E873EB1A}" srcOrd="3" destOrd="0" presId="urn:microsoft.com/office/officeart/2018/2/layout/IconVerticalSolidList"/>
    <dgm:cxn modelId="{85C99450-0BBD-450B-B0A6-455C73D95D32}" type="presParOf" srcId="{840CA35E-1CC7-4025-984E-B475CDC6DD94}" destId="{285850AD-3249-4E93-B82C-4BFE63920249}" srcOrd="1" destOrd="0" presId="urn:microsoft.com/office/officeart/2018/2/layout/IconVerticalSolidList"/>
    <dgm:cxn modelId="{065F2A0B-8ED8-4E2E-9049-97AE66D2B9D4}" type="presParOf" srcId="{840CA35E-1CC7-4025-984E-B475CDC6DD94}" destId="{82D1E55A-AEA4-4FCE-AED4-EC6730D320B6}" srcOrd="2" destOrd="0" presId="urn:microsoft.com/office/officeart/2018/2/layout/IconVerticalSolidList"/>
    <dgm:cxn modelId="{B6569ABA-865E-4447-8532-FFE8B3555591}" type="presParOf" srcId="{82D1E55A-AEA4-4FCE-AED4-EC6730D320B6}" destId="{E8985D29-7864-4A01-B844-F762D7B0B00C}" srcOrd="0" destOrd="0" presId="urn:microsoft.com/office/officeart/2018/2/layout/IconVerticalSolidList"/>
    <dgm:cxn modelId="{9D4281DC-6A3F-4EE4-8D56-E8E302A8EE99}" type="presParOf" srcId="{82D1E55A-AEA4-4FCE-AED4-EC6730D320B6}" destId="{199785A6-CA9C-4E28-8E9A-E8718F5B510F}" srcOrd="1" destOrd="0" presId="urn:microsoft.com/office/officeart/2018/2/layout/IconVerticalSolidList"/>
    <dgm:cxn modelId="{507419BF-D681-4857-8A24-FCC4449C8984}" type="presParOf" srcId="{82D1E55A-AEA4-4FCE-AED4-EC6730D320B6}" destId="{523AF37D-3357-4365-A098-E55715705A5D}" srcOrd="2" destOrd="0" presId="urn:microsoft.com/office/officeart/2018/2/layout/IconVerticalSolidList"/>
    <dgm:cxn modelId="{B4D52D91-B247-4747-8D26-FD1FA2BE7B61}" type="presParOf" srcId="{82D1E55A-AEA4-4FCE-AED4-EC6730D320B6}" destId="{3D9E7C63-7BED-4DC4-8412-BE6E2F7B28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4EF0E9-6D79-4F9D-A4BE-CAC57F1F11F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1A529A8-7521-471F-A6F3-F9F9E4F700CA}">
      <dgm:prSet/>
      <dgm:spPr/>
      <dgm:t>
        <a:bodyPr/>
        <a:lstStyle/>
        <a:p>
          <a:r>
            <a:rPr lang="en-GB"/>
            <a:t>Reflect on how </a:t>
          </a:r>
          <a:r>
            <a:rPr lang="en-GB" b="1"/>
            <a:t>Sustainable Development (SD) concepts and topics </a:t>
          </a:r>
          <a:r>
            <a:rPr lang="en-GB"/>
            <a:t>are currently integrated into your teaching practices. Evaluate your existing course content and syllabi. Identify </a:t>
          </a:r>
          <a:r>
            <a:rPr lang="en-GB" b="1"/>
            <a:t>areas for strengthening the integration of SD </a:t>
          </a:r>
          <a:r>
            <a:rPr lang="en-GB"/>
            <a:t>into your teaching practices.</a:t>
          </a:r>
          <a:endParaRPr lang="en-US"/>
        </a:p>
      </dgm:t>
    </dgm:pt>
    <dgm:pt modelId="{F735AFD1-C440-4E38-BA54-78F5F2D4FAA2}" type="parTrans" cxnId="{C056C837-18CE-4769-8912-99F75EB22A80}">
      <dgm:prSet/>
      <dgm:spPr/>
      <dgm:t>
        <a:bodyPr/>
        <a:lstStyle/>
        <a:p>
          <a:endParaRPr lang="en-US"/>
        </a:p>
      </dgm:t>
    </dgm:pt>
    <dgm:pt modelId="{009C820E-762E-4145-89C6-694CF7063118}" type="sibTrans" cxnId="{C056C837-18CE-4769-8912-99F75EB22A80}">
      <dgm:prSet/>
      <dgm:spPr/>
      <dgm:t>
        <a:bodyPr/>
        <a:lstStyle/>
        <a:p>
          <a:endParaRPr lang="en-US"/>
        </a:p>
      </dgm:t>
    </dgm:pt>
    <dgm:pt modelId="{F7C0BD3D-5703-471C-BB10-AF4231006F2E}">
      <dgm:prSet/>
      <dgm:spPr/>
      <dgm:t>
        <a:bodyPr/>
        <a:lstStyle/>
        <a:p>
          <a:pPr rtl="0"/>
          <a:r>
            <a:rPr lang="en-GB"/>
            <a:t>Be prepared to present and discuss your review</a:t>
          </a:r>
          <a:r>
            <a:rPr lang="en-GB">
              <a:latin typeface="Avenir Next LT Pro"/>
            </a:rPr>
            <a:t> of content</a:t>
          </a:r>
          <a:r>
            <a:rPr lang="en-GB"/>
            <a:t> in Session 2.</a:t>
          </a:r>
          <a:endParaRPr lang="en-US"/>
        </a:p>
      </dgm:t>
    </dgm:pt>
    <dgm:pt modelId="{CED3DBF0-D196-4D21-90E3-3CA44DF28B93}" type="parTrans" cxnId="{BD8AE978-A34F-4FB8-805B-F8C4595FCA93}">
      <dgm:prSet/>
      <dgm:spPr/>
      <dgm:t>
        <a:bodyPr/>
        <a:lstStyle/>
        <a:p>
          <a:endParaRPr lang="en-US"/>
        </a:p>
      </dgm:t>
    </dgm:pt>
    <dgm:pt modelId="{557488DF-5565-4F35-B708-9AF66628F3B0}" type="sibTrans" cxnId="{BD8AE978-A34F-4FB8-805B-F8C4595FCA93}">
      <dgm:prSet/>
      <dgm:spPr/>
      <dgm:t>
        <a:bodyPr/>
        <a:lstStyle/>
        <a:p>
          <a:endParaRPr lang="en-US"/>
        </a:p>
      </dgm:t>
    </dgm:pt>
    <dgm:pt modelId="{450B8A62-2D32-431D-BEAF-CBA43D3C82F7}" type="pres">
      <dgm:prSet presAssocID="{7E4EF0E9-6D79-4F9D-A4BE-CAC57F1F11F5}" presName="root" presStyleCnt="0">
        <dgm:presLayoutVars>
          <dgm:dir/>
          <dgm:resizeHandles val="exact"/>
        </dgm:presLayoutVars>
      </dgm:prSet>
      <dgm:spPr/>
    </dgm:pt>
    <dgm:pt modelId="{BE1310CC-FF54-4C7A-8140-61686FA00F13}" type="pres">
      <dgm:prSet presAssocID="{71A529A8-7521-471F-A6F3-F9F9E4F700CA}" presName="compNode" presStyleCnt="0"/>
      <dgm:spPr/>
    </dgm:pt>
    <dgm:pt modelId="{117561BB-C063-454A-8961-47E380446FCD}" type="pres">
      <dgm:prSet presAssocID="{71A529A8-7521-471F-A6F3-F9F9E4F700CA}" presName="bgRect" presStyleLbl="bgShp" presStyleIdx="0" presStyleCnt="2"/>
      <dgm:spPr/>
    </dgm:pt>
    <dgm:pt modelId="{DEDC603E-BEA1-4463-A7CE-436A544FB91E}" type="pres">
      <dgm:prSet presAssocID="{71A529A8-7521-471F-A6F3-F9F9E4F700C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936D9B85-AD16-4F51-A196-E34EB5DCF1C5}" type="pres">
      <dgm:prSet presAssocID="{71A529A8-7521-471F-A6F3-F9F9E4F700CA}" presName="spaceRect" presStyleCnt="0"/>
      <dgm:spPr/>
    </dgm:pt>
    <dgm:pt modelId="{A041FE1A-FB96-4FAF-98AC-F952948EB6C1}" type="pres">
      <dgm:prSet presAssocID="{71A529A8-7521-471F-A6F3-F9F9E4F700CA}" presName="parTx" presStyleLbl="revTx" presStyleIdx="0" presStyleCnt="2">
        <dgm:presLayoutVars>
          <dgm:chMax val="0"/>
          <dgm:chPref val="0"/>
        </dgm:presLayoutVars>
      </dgm:prSet>
      <dgm:spPr/>
    </dgm:pt>
    <dgm:pt modelId="{C32E24DC-2E88-47F3-A948-8E9CEA58E680}" type="pres">
      <dgm:prSet presAssocID="{009C820E-762E-4145-89C6-694CF7063118}" presName="sibTrans" presStyleCnt="0"/>
      <dgm:spPr/>
    </dgm:pt>
    <dgm:pt modelId="{920A2B44-F668-4091-9903-3E2CF60D566A}" type="pres">
      <dgm:prSet presAssocID="{F7C0BD3D-5703-471C-BB10-AF4231006F2E}" presName="compNode" presStyleCnt="0"/>
      <dgm:spPr/>
    </dgm:pt>
    <dgm:pt modelId="{D11B8DE9-2748-4F3E-B571-385DD68FC556}" type="pres">
      <dgm:prSet presAssocID="{F7C0BD3D-5703-471C-BB10-AF4231006F2E}" presName="bgRect" presStyleLbl="bgShp" presStyleIdx="1" presStyleCnt="2"/>
      <dgm:spPr/>
    </dgm:pt>
    <dgm:pt modelId="{27DBE5DF-0642-4221-A2FA-A721719ECFDC}" type="pres">
      <dgm:prSet presAssocID="{F7C0BD3D-5703-471C-BB10-AF4231006F2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FD77FC02-D637-4575-A8C6-43F01D7646D5}" type="pres">
      <dgm:prSet presAssocID="{F7C0BD3D-5703-471C-BB10-AF4231006F2E}" presName="spaceRect" presStyleCnt="0"/>
      <dgm:spPr/>
    </dgm:pt>
    <dgm:pt modelId="{B0F2BA25-197C-4678-8872-61BCB07FD70F}" type="pres">
      <dgm:prSet presAssocID="{F7C0BD3D-5703-471C-BB10-AF4231006F2E}" presName="parTx" presStyleLbl="revTx" presStyleIdx="1" presStyleCnt="2">
        <dgm:presLayoutVars>
          <dgm:chMax val="0"/>
          <dgm:chPref val="0"/>
        </dgm:presLayoutVars>
      </dgm:prSet>
      <dgm:spPr/>
    </dgm:pt>
  </dgm:ptLst>
  <dgm:cxnLst>
    <dgm:cxn modelId="{C056C837-18CE-4769-8912-99F75EB22A80}" srcId="{7E4EF0E9-6D79-4F9D-A4BE-CAC57F1F11F5}" destId="{71A529A8-7521-471F-A6F3-F9F9E4F700CA}" srcOrd="0" destOrd="0" parTransId="{F735AFD1-C440-4E38-BA54-78F5F2D4FAA2}" sibTransId="{009C820E-762E-4145-89C6-694CF7063118}"/>
    <dgm:cxn modelId="{4AFF105B-469D-4311-B17E-15626DF32046}" type="presOf" srcId="{F7C0BD3D-5703-471C-BB10-AF4231006F2E}" destId="{B0F2BA25-197C-4678-8872-61BCB07FD70F}" srcOrd="0" destOrd="0" presId="urn:microsoft.com/office/officeart/2018/2/layout/IconVerticalSolidList"/>
    <dgm:cxn modelId="{BD8AE978-A34F-4FB8-805B-F8C4595FCA93}" srcId="{7E4EF0E9-6D79-4F9D-A4BE-CAC57F1F11F5}" destId="{F7C0BD3D-5703-471C-BB10-AF4231006F2E}" srcOrd="1" destOrd="0" parTransId="{CED3DBF0-D196-4D21-90E3-3CA44DF28B93}" sibTransId="{557488DF-5565-4F35-B708-9AF66628F3B0}"/>
    <dgm:cxn modelId="{DA7530A9-A189-4318-B199-C1294BFD092D}" type="presOf" srcId="{71A529A8-7521-471F-A6F3-F9F9E4F700CA}" destId="{A041FE1A-FB96-4FAF-98AC-F952948EB6C1}" srcOrd="0" destOrd="0" presId="urn:microsoft.com/office/officeart/2018/2/layout/IconVerticalSolidList"/>
    <dgm:cxn modelId="{4FFC09CB-2969-41D7-B78E-60842D8E8F7B}" type="presOf" srcId="{7E4EF0E9-6D79-4F9D-A4BE-CAC57F1F11F5}" destId="{450B8A62-2D32-431D-BEAF-CBA43D3C82F7}" srcOrd="0" destOrd="0" presId="urn:microsoft.com/office/officeart/2018/2/layout/IconVerticalSolidList"/>
    <dgm:cxn modelId="{6AB87212-F8AB-401A-9B29-33887E11A432}" type="presParOf" srcId="{450B8A62-2D32-431D-BEAF-CBA43D3C82F7}" destId="{BE1310CC-FF54-4C7A-8140-61686FA00F13}" srcOrd="0" destOrd="0" presId="urn:microsoft.com/office/officeart/2018/2/layout/IconVerticalSolidList"/>
    <dgm:cxn modelId="{FA0E29E8-0B8B-422B-8865-ACBBBC5600F0}" type="presParOf" srcId="{BE1310CC-FF54-4C7A-8140-61686FA00F13}" destId="{117561BB-C063-454A-8961-47E380446FCD}" srcOrd="0" destOrd="0" presId="urn:microsoft.com/office/officeart/2018/2/layout/IconVerticalSolidList"/>
    <dgm:cxn modelId="{20700D44-875F-48CF-A7DA-E3D92252729C}" type="presParOf" srcId="{BE1310CC-FF54-4C7A-8140-61686FA00F13}" destId="{DEDC603E-BEA1-4463-A7CE-436A544FB91E}" srcOrd="1" destOrd="0" presId="urn:microsoft.com/office/officeart/2018/2/layout/IconVerticalSolidList"/>
    <dgm:cxn modelId="{3EB4718B-90C2-4D63-BB47-F5EC8CFAB7A3}" type="presParOf" srcId="{BE1310CC-FF54-4C7A-8140-61686FA00F13}" destId="{936D9B85-AD16-4F51-A196-E34EB5DCF1C5}" srcOrd="2" destOrd="0" presId="urn:microsoft.com/office/officeart/2018/2/layout/IconVerticalSolidList"/>
    <dgm:cxn modelId="{E5DF2A85-2948-4431-8E9B-501E717898EE}" type="presParOf" srcId="{BE1310CC-FF54-4C7A-8140-61686FA00F13}" destId="{A041FE1A-FB96-4FAF-98AC-F952948EB6C1}" srcOrd="3" destOrd="0" presId="urn:microsoft.com/office/officeart/2018/2/layout/IconVerticalSolidList"/>
    <dgm:cxn modelId="{7ABD0F2D-BDAA-42A9-8FB6-28AEEEFB8F38}" type="presParOf" srcId="{450B8A62-2D32-431D-BEAF-CBA43D3C82F7}" destId="{C32E24DC-2E88-47F3-A948-8E9CEA58E680}" srcOrd="1" destOrd="0" presId="urn:microsoft.com/office/officeart/2018/2/layout/IconVerticalSolidList"/>
    <dgm:cxn modelId="{A26FF2E2-99E7-4F4B-A2B6-E421FFB9AA34}" type="presParOf" srcId="{450B8A62-2D32-431D-BEAF-CBA43D3C82F7}" destId="{920A2B44-F668-4091-9903-3E2CF60D566A}" srcOrd="2" destOrd="0" presId="urn:microsoft.com/office/officeart/2018/2/layout/IconVerticalSolidList"/>
    <dgm:cxn modelId="{2BD3FF5E-4FA7-4850-9D9A-707FC87AC67F}" type="presParOf" srcId="{920A2B44-F668-4091-9903-3E2CF60D566A}" destId="{D11B8DE9-2748-4F3E-B571-385DD68FC556}" srcOrd="0" destOrd="0" presId="urn:microsoft.com/office/officeart/2018/2/layout/IconVerticalSolidList"/>
    <dgm:cxn modelId="{C99ED5C6-1E41-4526-9FC4-462858BCAC29}" type="presParOf" srcId="{920A2B44-F668-4091-9903-3E2CF60D566A}" destId="{27DBE5DF-0642-4221-A2FA-A721719ECFDC}" srcOrd="1" destOrd="0" presId="urn:microsoft.com/office/officeart/2018/2/layout/IconVerticalSolidList"/>
    <dgm:cxn modelId="{B3E6E961-1AA7-4F05-ADAA-FD72904AFC55}" type="presParOf" srcId="{920A2B44-F668-4091-9903-3E2CF60D566A}" destId="{FD77FC02-D637-4575-A8C6-43F01D7646D5}" srcOrd="2" destOrd="0" presId="urn:microsoft.com/office/officeart/2018/2/layout/IconVerticalSolidList"/>
    <dgm:cxn modelId="{D2856824-A932-4BEF-8C98-FC83324DF1C6}" type="presParOf" srcId="{920A2B44-F668-4091-9903-3E2CF60D566A}" destId="{B0F2BA25-197C-4678-8872-61BCB07FD7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A7658-CA37-44B7-AE9C-915A1631EA82}">
      <dsp:nvSpPr>
        <dsp:cNvPr id="0" name=""/>
        <dsp:cNvSpPr/>
      </dsp:nvSpPr>
      <dsp:spPr>
        <a:xfrm>
          <a:off x="0" y="737006"/>
          <a:ext cx="10506456" cy="1360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C2BC9E-0801-4CA9-8A88-6FA0925FD514}">
      <dsp:nvSpPr>
        <dsp:cNvPr id="0" name=""/>
        <dsp:cNvSpPr/>
      </dsp:nvSpPr>
      <dsp:spPr>
        <a:xfrm>
          <a:off x="411589" y="1043147"/>
          <a:ext cx="748344" cy="7483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81D624-30FC-47A8-9F72-6B03E873EB1A}">
      <dsp:nvSpPr>
        <dsp:cNvPr id="0" name=""/>
        <dsp:cNvSpPr/>
      </dsp:nvSpPr>
      <dsp:spPr>
        <a:xfrm>
          <a:off x="1571524" y="737006"/>
          <a:ext cx="8934931"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1111250">
            <a:lnSpc>
              <a:spcPct val="100000"/>
            </a:lnSpc>
            <a:spcBef>
              <a:spcPct val="0"/>
            </a:spcBef>
            <a:spcAft>
              <a:spcPct val="35000"/>
            </a:spcAft>
            <a:buNone/>
          </a:pPr>
          <a:r>
            <a:rPr lang="en-US" sz="2500" kern="1200"/>
            <a:t>Participants individually note their key takeaways from the session.</a:t>
          </a:r>
        </a:p>
      </dsp:txBody>
      <dsp:txXfrm>
        <a:off x="1571524" y="737006"/>
        <a:ext cx="8934931" cy="1360627"/>
      </dsp:txXfrm>
    </dsp:sp>
    <dsp:sp modelId="{E8985D29-7864-4A01-B844-F762D7B0B00C}">
      <dsp:nvSpPr>
        <dsp:cNvPr id="0" name=""/>
        <dsp:cNvSpPr/>
      </dsp:nvSpPr>
      <dsp:spPr>
        <a:xfrm>
          <a:off x="0" y="2437790"/>
          <a:ext cx="10506456" cy="1360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785A6-CA9C-4E28-8E9A-E8718F5B510F}">
      <dsp:nvSpPr>
        <dsp:cNvPr id="0" name=""/>
        <dsp:cNvSpPr/>
      </dsp:nvSpPr>
      <dsp:spPr>
        <a:xfrm>
          <a:off x="411589" y="2743931"/>
          <a:ext cx="748344" cy="7483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9E7C63-7BED-4DC4-8412-BE6E2F7B287F}">
      <dsp:nvSpPr>
        <dsp:cNvPr id="0" name=""/>
        <dsp:cNvSpPr/>
      </dsp:nvSpPr>
      <dsp:spPr>
        <a:xfrm>
          <a:off x="1571524" y="2437790"/>
          <a:ext cx="8934931"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1111250">
            <a:lnSpc>
              <a:spcPct val="100000"/>
            </a:lnSpc>
            <a:spcBef>
              <a:spcPct val="0"/>
            </a:spcBef>
            <a:spcAft>
              <a:spcPct val="35000"/>
            </a:spcAft>
            <a:buNone/>
          </a:pPr>
          <a:r>
            <a:rPr lang="en-US" sz="2500" kern="1200"/>
            <a:t>Invitation to share their reflections with the group.</a:t>
          </a:r>
        </a:p>
      </dsp:txBody>
      <dsp:txXfrm>
        <a:off x="1571524" y="2437790"/>
        <a:ext cx="8934931" cy="1360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561BB-C063-454A-8961-47E380446FCD}">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DC603E-BEA1-4463-A7CE-436A544FB91E}">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41FE1A-FB96-4FAF-98AC-F952948EB6C1}">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GB" sz="1800" kern="1200"/>
            <a:t>Reflect on how </a:t>
          </a:r>
          <a:r>
            <a:rPr lang="en-GB" sz="1800" b="1" kern="1200"/>
            <a:t>Sustainable Development (SD) concepts and topics </a:t>
          </a:r>
          <a:r>
            <a:rPr lang="en-GB" sz="1800" kern="1200"/>
            <a:t>are currently integrated into your teaching practices. Evaluate your existing course content and syllabi. Identify </a:t>
          </a:r>
          <a:r>
            <a:rPr lang="en-GB" sz="1800" b="1" kern="1200"/>
            <a:t>areas for strengthening the integration of SD </a:t>
          </a:r>
          <a:r>
            <a:rPr lang="en-GB" sz="1800" kern="1200"/>
            <a:t>into your teaching practices.</a:t>
          </a:r>
          <a:endParaRPr lang="en-US" sz="1800" kern="1200"/>
        </a:p>
      </dsp:txBody>
      <dsp:txXfrm>
        <a:off x="1509882" y="708097"/>
        <a:ext cx="9005717" cy="1307257"/>
      </dsp:txXfrm>
    </dsp:sp>
    <dsp:sp modelId="{D11B8DE9-2748-4F3E-B571-385DD68FC556}">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DBE5DF-0642-4221-A2FA-A721719ECFDC}">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2BA25-197C-4678-8872-61BCB07FD70F}">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rtl="0">
            <a:lnSpc>
              <a:spcPct val="90000"/>
            </a:lnSpc>
            <a:spcBef>
              <a:spcPct val="0"/>
            </a:spcBef>
            <a:spcAft>
              <a:spcPct val="35000"/>
            </a:spcAft>
            <a:buNone/>
          </a:pPr>
          <a:r>
            <a:rPr lang="en-GB" sz="1800" kern="1200"/>
            <a:t>Be prepared to present and discuss your review</a:t>
          </a:r>
          <a:r>
            <a:rPr lang="en-GB" sz="1800" kern="1200">
              <a:latin typeface="Avenir Next LT Pro"/>
            </a:rPr>
            <a:t> of content</a:t>
          </a:r>
          <a:r>
            <a:rPr lang="en-GB" sz="1800" kern="1200"/>
            <a:t> in Session 2.</a:t>
          </a:r>
          <a:endParaRPr lang="en-US" sz="1800" kern="1200"/>
        </a:p>
      </dsp:txBody>
      <dsp:txXfrm>
        <a:off x="1509882" y="2342169"/>
        <a:ext cx="9005717" cy="13072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51851" cy="49885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58536" y="0"/>
            <a:ext cx="2951851" cy="498852"/>
          </a:xfrm>
          <a:prstGeom prst="rect">
            <a:avLst/>
          </a:prstGeom>
        </p:spPr>
        <p:txBody>
          <a:bodyPr vert="horz" lIns="91440" tIns="45720" rIns="91440" bIns="45720" rtlCol="0"/>
          <a:lstStyle>
            <a:lvl1pPr algn="r">
              <a:defRPr sz="1200"/>
            </a:lvl1pPr>
          </a:lstStyle>
          <a:p>
            <a:fld id="{28647F05-0506-494A-8060-3F395B947DF9}" type="datetimeFigureOut">
              <a:rPr lang="en-US" smtClean="0"/>
              <a:t>8/27/2026</a:t>
            </a:fld>
            <a:endParaRPr lang="en-US"/>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9443662"/>
            <a:ext cx="2951851"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58536" y="9443662"/>
            <a:ext cx="2951851" cy="498851"/>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1851" cy="49885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8536" y="0"/>
            <a:ext cx="2951851" cy="498852"/>
          </a:xfrm>
          <a:prstGeom prst="rect">
            <a:avLst/>
          </a:prstGeom>
        </p:spPr>
        <p:txBody>
          <a:bodyPr vert="horz" lIns="91440" tIns="45720" rIns="91440" bIns="45720" rtlCol="0"/>
          <a:lstStyle>
            <a:lvl1pPr algn="r">
              <a:defRPr sz="1200"/>
            </a:lvl1pPr>
          </a:lstStyle>
          <a:p>
            <a:fld id="{08BC0A13-3F3D-45D4-B17C-1E0ACF36A6FB}" type="datetimeFigureOut">
              <a:rPr lang="en-US" smtClean="0"/>
              <a:t>8/27/2026</a:t>
            </a:fld>
            <a:endParaRPr lang="en-US"/>
          </a:p>
        </p:txBody>
      </p:sp>
      <p:sp>
        <p:nvSpPr>
          <p:cNvPr id="4" name="Slide Image Placeholder 3"/>
          <p:cNvSpPr>
            <a:spLocks noGrp="1" noRot="1" noChangeAspect="1"/>
          </p:cNvSpPr>
          <p:nvPr>
            <p:ph type="sldImg" idx="2"/>
          </p:nvPr>
        </p:nvSpPr>
        <p:spPr>
          <a:xfrm>
            <a:off x="423863" y="1243013"/>
            <a:ext cx="5964237"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1197" y="4784835"/>
            <a:ext cx="544957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2"/>
            <a:ext cx="2951851" cy="49885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8536" y="9443662"/>
            <a:ext cx="2951851" cy="498851"/>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hermes.admin.ch/en/project-management/understanding/user-information/sustainability.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knowledge4policy.ec.europa.eu/publication/agenda-2063-africa-we-want_en" TargetMode="External"/><Relationship Id="rId3" Type="http://schemas.openxmlformats.org/officeDocument/2006/relationships/hyperlink" Target="https://au.int/en/agenda2063/overview" TargetMode="External"/><Relationship Id="rId7" Type="http://schemas.openxmlformats.org/officeDocument/2006/relationships/hyperlink" Target="https://au.int/agenda2063/outcomes"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au.int/en/agenda2063/ftyip" TargetMode="External"/><Relationship Id="rId5" Type="http://schemas.openxmlformats.org/officeDocument/2006/relationships/hyperlink" Target="https://au.int/en/agenda2063/flagship-projects" TargetMode="External"/><Relationship Id="rId10" Type="http://schemas.openxmlformats.org/officeDocument/2006/relationships/hyperlink" Target="https://doi.org/10.1007/978-3-319-53703-0_8" TargetMode="External"/><Relationship Id="rId4" Type="http://schemas.openxmlformats.org/officeDocument/2006/relationships/hyperlink" Target="https://dev.au.int/en/agenda2063/aspirations" TargetMode="External"/><Relationship Id="rId9" Type="http://schemas.openxmlformats.org/officeDocument/2006/relationships/hyperlink" Target="https://doi.org/10.5897/AJPSIR2018.1114"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i.org/10.1016/j.wds.2022.100010"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3.weforum.org/docs/WEF_Global_Risks_Report_2023.pdf"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3.weforum.org/docs/WEF_Global_Risks_Report_2023.pdf"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iisd.org/system/files/publications/sd_timeline_2012.pdf"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en.wikipedia.org/wiki/World_population" TargetMode="External"/><Relationship Id="rId7" Type="http://schemas.openxmlformats.org/officeDocument/2006/relationships/hyperlink" Target="https://en.wikipedia.org/wiki/Resource_depletion"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en.wikipedia.org/wiki/Pollution" TargetMode="External"/><Relationship Id="rId5" Type="http://schemas.openxmlformats.org/officeDocument/2006/relationships/hyperlink" Target="https://en.wikipedia.org/wiki/Industrialisation" TargetMode="External"/><Relationship Id="rId4" Type="http://schemas.openxmlformats.org/officeDocument/2006/relationships/hyperlink" Target="https://en.wikipedia.org/wiki/Food_industry"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en.wikipedia.org/wiki/Sustainable_Development_Goals" TargetMode="External"/><Relationship Id="rId13" Type="http://schemas.openxmlformats.org/officeDocument/2006/relationships/hyperlink" Target="https://en.wikipedia.org/wiki/Universal_primary_education" TargetMode="External"/><Relationship Id="rId18" Type="http://schemas.openxmlformats.org/officeDocument/2006/relationships/hyperlink" Target="https://en.wikipedia.org/wiki/Malaria" TargetMode="External"/><Relationship Id="rId26" Type="http://schemas.openxmlformats.org/officeDocument/2006/relationships/hyperlink" Target="https://en.wikipedia.org/wiki/Heavily_indebted_poor_countries" TargetMode="External"/><Relationship Id="rId3" Type="http://schemas.openxmlformats.org/officeDocument/2006/relationships/hyperlink" Target="https://en.wikipedia.org/wiki/International_development" TargetMode="External"/><Relationship Id="rId21" Type="http://schemas.openxmlformats.org/officeDocument/2006/relationships/hyperlink" Target="https://en.wikipedia.org/wiki/Millennium_Development_Goals#cite_note-2" TargetMode="External"/><Relationship Id="rId7" Type="http://schemas.openxmlformats.org/officeDocument/2006/relationships/hyperlink" Target="https://en.wikipedia.org/wiki/United_Nations_Millennium_Declaration" TargetMode="External"/><Relationship Id="rId12" Type="http://schemas.openxmlformats.org/officeDocument/2006/relationships/hyperlink" Target="https://en.wikipedia.org/wiki/Hunger" TargetMode="External"/><Relationship Id="rId17" Type="http://schemas.openxmlformats.org/officeDocument/2006/relationships/hyperlink" Target="https://en.wikipedia.org/wiki/HIV/AIDS" TargetMode="External"/><Relationship Id="rId25" Type="http://schemas.openxmlformats.org/officeDocument/2006/relationships/hyperlink" Target="https://en.wikipedia.org/wiki/African_Development_Bank" TargetMode="External"/><Relationship Id="rId2" Type="http://schemas.openxmlformats.org/officeDocument/2006/relationships/slide" Target="../slides/slide37.xml"/><Relationship Id="rId16" Type="http://schemas.openxmlformats.org/officeDocument/2006/relationships/hyperlink" Target="https://en.wikipedia.org/wiki/Maternal_health" TargetMode="External"/><Relationship Id="rId20" Type="http://schemas.openxmlformats.org/officeDocument/2006/relationships/hyperlink" Target="https://en.wikipedia.org/wiki/Millennium_Development_Goals#cite_note-1" TargetMode="External"/><Relationship Id="rId1" Type="http://schemas.openxmlformats.org/officeDocument/2006/relationships/notesMaster" Target="../notesMasters/notesMaster1.xml"/><Relationship Id="rId6" Type="http://schemas.openxmlformats.org/officeDocument/2006/relationships/hyperlink" Target="https://en.wikipedia.org/wiki/United_Nations" TargetMode="External"/><Relationship Id="rId11" Type="http://schemas.openxmlformats.org/officeDocument/2006/relationships/hyperlink" Target="https://en.wikipedia.org/wiki/Extreme_poverty" TargetMode="External"/><Relationship Id="rId24" Type="http://schemas.openxmlformats.org/officeDocument/2006/relationships/hyperlink" Target="https://en.wikipedia.org/wiki/International_Monetary_Fund" TargetMode="External"/><Relationship Id="rId5" Type="http://schemas.openxmlformats.org/officeDocument/2006/relationships/hyperlink" Target="https://en.wikipedia.org/wiki/Millennium_Summit" TargetMode="External"/><Relationship Id="rId15" Type="http://schemas.openxmlformats.org/officeDocument/2006/relationships/hyperlink" Target="https://en.wikipedia.org/wiki/Child_mortality" TargetMode="External"/><Relationship Id="rId23" Type="http://schemas.openxmlformats.org/officeDocument/2006/relationships/hyperlink" Target="https://en.wikipedia.org/wiki/World_Bank" TargetMode="External"/><Relationship Id="rId28" Type="http://schemas.openxmlformats.org/officeDocument/2006/relationships/hyperlink" Target="https://en.wikipedia.org/wiki/Wikipedia:Citation_needed" TargetMode="External"/><Relationship Id="rId10" Type="http://schemas.openxmlformats.org/officeDocument/2006/relationships/hyperlink" Target="https://en.wikipedia.org/wiki/International_organizations" TargetMode="External"/><Relationship Id="rId19" Type="http://schemas.openxmlformats.org/officeDocument/2006/relationships/hyperlink" Target="https://en.wikipedia.org/wiki/Environmental_sustainability" TargetMode="External"/><Relationship Id="rId4" Type="http://schemas.openxmlformats.org/officeDocument/2006/relationships/hyperlink" Target="https://en.wikipedia.org/wiki/Goal" TargetMode="External"/><Relationship Id="rId9" Type="http://schemas.openxmlformats.org/officeDocument/2006/relationships/hyperlink" Target="https://en.wikipedia.org/wiki/United_Nations_member_states" TargetMode="External"/><Relationship Id="rId14" Type="http://schemas.openxmlformats.org/officeDocument/2006/relationships/hyperlink" Target="https://en.wikipedia.org/wiki/Gender_equality" TargetMode="External"/><Relationship Id="rId22" Type="http://schemas.openxmlformats.org/officeDocument/2006/relationships/hyperlink" Target="https://en.wikipedia.org/wiki/G8" TargetMode="External"/><Relationship Id="rId27" Type="http://schemas.openxmlformats.org/officeDocument/2006/relationships/hyperlink" Target="https://en.wikipedia.org/wiki/Natural_disaster"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stockholmresilience.org/research/planetary-boundaries.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sdgs.un.org/sites/default/files/publications/733FutureWeWant.pdf" TargetMode="External"/><Relationship Id="rId3" Type="http://schemas.openxmlformats.org/officeDocument/2006/relationships/hyperlink" Target="https://sustainabledevelopment.un.org/index.php?menu=1298" TargetMode="External"/><Relationship Id="rId7" Type="http://schemas.openxmlformats.org/officeDocument/2006/relationships/hyperlink" Target="http://www.unep.org/"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sustainabledevelopment.un.org/index.php?menu=1225" TargetMode="External"/><Relationship Id="rId5" Type="http://schemas.openxmlformats.org/officeDocument/2006/relationships/hyperlink" Target="http://www.un.org/millenniumgoals/" TargetMode="External"/><Relationship Id="rId4" Type="http://schemas.openxmlformats.org/officeDocument/2006/relationships/hyperlink" Target="https://sustainabledevelopment.un.org/index.php?menu=1300" TargetMode="External"/><Relationship Id="rId9" Type="http://schemas.openxmlformats.org/officeDocument/2006/relationships/hyperlink" Target="https://doi.org/10.1017/S2047102512000179"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en.wikipedia.org/wiki/Planetary_boundaries"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s://doughnuteconomics.org/about-doughnut-economics" TargetMode="External"/><Relationship Id="rId4" Type="http://schemas.openxmlformats.org/officeDocument/2006/relationships/hyperlink" Target="https://www.stockholmresilience.org/research/planetary-boundaries/the-nine-planetary-boundaries.html" TargetMode="Externa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iisd.org/system/files/publications/sd_timeline_2012.pdf"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effectLst/>
              <a:latin typeface="Segoe UI" panose="020B0502040204020203" pitchFamily="34" charset="0"/>
            </a:endParaRPr>
          </a:p>
          <a:p>
            <a:r>
              <a:rPr lang="en-US"/>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2</a:t>
            </a:fld>
            <a:endParaRPr lang="en-US"/>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4</a:t>
            </a:fld>
            <a:endParaRPr lang="en-US"/>
          </a:p>
        </p:txBody>
      </p:sp>
    </p:spTree>
    <p:extLst>
      <p:ext uri="{BB962C8B-B14F-4D97-AF65-F5344CB8AC3E}">
        <p14:creationId xmlns:p14="http://schemas.microsoft.com/office/powerpoint/2010/main" val="327192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lienbildplatzhalter 1">
            <a:extLst>
              <a:ext uri="{FF2B5EF4-FFF2-40B4-BE49-F238E27FC236}">
                <a16:creationId xmlns:a16="http://schemas.microsoft.com/office/drawing/2014/main" id="{D8433416-D218-D776-7AFC-1AAAFC17B5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izenplatzhalter 2">
            <a:extLst>
              <a:ext uri="{FF2B5EF4-FFF2-40B4-BE49-F238E27FC236}">
                <a16:creationId xmlns:a16="http://schemas.microsoft.com/office/drawing/2014/main" id="{E18FD142-ABA2-5073-6B29-2012D4A866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a:t>https://www.nationalgeographic.com/science/article/earthrise-apollo-8-photo-at-50-how-it-changed-the-world, min 14:08 -16:45</a:t>
            </a:r>
          </a:p>
          <a:p>
            <a:r>
              <a:rPr lang="en-GB" altLang="en-US"/>
              <a:t>This is not the first image, there are a number of images, it’s just world famous, next to the blue marble image from the apollo 17 mission in 1972 (</a:t>
            </a:r>
            <a:r>
              <a:rPr lang="en-GB" altLang="en-US" err="1"/>
              <a:t>Dempesy</a:t>
            </a:r>
            <a:r>
              <a:rPr lang="en-GB" altLang="en-US"/>
              <a:t>: 2019)</a:t>
            </a:r>
          </a:p>
          <a:p>
            <a:r>
              <a:rPr lang="en-GB"/>
              <a:t>The beauty of the earth, A sense of how the earth was special, delicate, vulnerable, worthy of care.</a:t>
            </a:r>
          </a:p>
          <a:p>
            <a:endParaRPr lang="en-GB" altLang="en-US">
              <a:cs typeface="Calibri" panose="020F0502020204030204"/>
            </a:endParaRPr>
          </a:p>
        </p:txBody>
      </p:sp>
      <p:sp>
        <p:nvSpPr>
          <p:cNvPr id="32772" name="Foliennummernplatzhalter 3">
            <a:extLst>
              <a:ext uri="{FF2B5EF4-FFF2-40B4-BE49-F238E27FC236}">
                <a16:creationId xmlns:a16="http://schemas.microsoft.com/office/drawing/2014/main" id="{9C2FE25C-B319-2A51-80FA-CBA4CC620A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AD4DE85-6B99-4D75-B0A6-757E09EFCCE3}" type="slidenum">
              <a:rPr lang="de-CH" altLang="aa-ET" smtClean="0"/>
              <a:pPr/>
              <a:t>6</a:t>
            </a:fld>
            <a:endParaRPr lang="de-CH" altLang="aa-ET"/>
          </a:p>
        </p:txBody>
      </p:sp>
    </p:spTree>
    <p:extLst>
      <p:ext uri="{BB962C8B-B14F-4D97-AF65-F5344CB8AC3E}">
        <p14:creationId xmlns:p14="http://schemas.microsoft.com/office/powerpoint/2010/main" val="2308878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beauty of the earth, A sense of how the earth was special, delicate, vulnerable, worthy of care.</a:t>
            </a:r>
            <a:endParaRPr lang="en-US"/>
          </a:p>
          <a:p>
            <a:endParaRPr lang="en-US">
              <a:cs typeface="Calibri"/>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7</a:t>
            </a:fld>
            <a:endParaRPr lang="en-US"/>
          </a:p>
        </p:txBody>
      </p:sp>
    </p:spTree>
    <p:extLst>
      <p:ext uri="{BB962C8B-B14F-4D97-AF65-F5344CB8AC3E}">
        <p14:creationId xmlns:p14="http://schemas.microsoft.com/office/powerpoint/2010/main" val="223555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Calibri" panose="020F0502020204030204" pitchFamily="34" charset="0"/>
                <a:ea typeface="Calibri" panose="020F0502020204030204" pitchFamily="34" charset="0"/>
              </a:rPr>
              <a:t>20 mins: Reminder of the definition and core principles of sustainable development (using visuals and examples to illustrate the concepts).</a:t>
            </a:r>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8</a:t>
            </a:fld>
            <a:endParaRPr lang="en-US"/>
          </a:p>
        </p:txBody>
      </p:sp>
    </p:spTree>
    <p:extLst>
      <p:ext uri="{BB962C8B-B14F-4D97-AF65-F5344CB8AC3E}">
        <p14:creationId xmlns:p14="http://schemas.microsoft.com/office/powerpoint/2010/main" val="2408187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itchFamily="39" charset="0"/>
                <a:ea typeface="+mn-ea"/>
                <a:cs typeface="+mn-cs"/>
              </a:rPr>
              <a:t>Since publication of the Brundtland Report in 1987, the term “Sustainable Development” (SD) has been used as a general guide for global social development. The report, </a:t>
            </a:r>
            <a:r>
              <a:rPr lang="en-US" sz="1200" i="1" kern="1200" dirty="0">
                <a:solidFill>
                  <a:schemeClr val="tx1"/>
                </a:solidFill>
                <a:effectLst/>
                <a:latin typeface="Arial" pitchFamily="39" charset="0"/>
                <a:ea typeface="+mn-ea"/>
                <a:cs typeface="+mn-cs"/>
              </a:rPr>
              <a:t>Our Common Future, </a:t>
            </a:r>
            <a:r>
              <a:rPr lang="en-US" sz="1200" kern="1200" dirty="0">
                <a:solidFill>
                  <a:schemeClr val="tx1"/>
                </a:solidFill>
                <a:effectLst/>
                <a:latin typeface="Arial" pitchFamily="39" charset="0"/>
                <a:ea typeface="+mn-ea"/>
                <a:cs typeface="+mn-cs"/>
              </a:rPr>
              <a:t>defines SD as “development that meets the needs of the present without compromising the ability of future generations to meet their own needs.” This understanding of SD was adopted in 1992 by the United Nations Conference on Environment and Development (UNCED </a:t>
            </a:r>
            <a:r>
              <a:rPr lang="en-GB" sz="1200" kern="1200" dirty="0">
                <a:solidFill>
                  <a:schemeClr val="tx1"/>
                </a:solidFill>
                <a:effectLst/>
                <a:latin typeface="Arial" pitchFamily="39" charset="0"/>
                <a:ea typeface="+mn-ea"/>
                <a:cs typeface="+mn-cs"/>
              </a:rPr>
              <a:t>– </a:t>
            </a:r>
            <a:r>
              <a:rPr lang="en-US" sz="1200" kern="1200" dirty="0">
                <a:solidFill>
                  <a:schemeClr val="tx1"/>
                </a:solidFill>
                <a:effectLst/>
                <a:latin typeface="Arial" pitchFamily="39" charset="0"/>
                <a:ea typeface="+mn-ea"/>
                <a:cs typeface="+mn-cs"/>
              </a:rPr>
              <a:t>also known as Rio Conference or Earth Summit), and later by numerous organizations and governments </a:t>
            </a:r>
            <a:r>
              <a:rPr lang="en-GB" sz="1200" kern="1200" dirty="0">
                <a:solidFill>
                  <a:schemeClr val="tx1"/>
                </a:solidFill>
                <a:effectLst/>
                <a:latin typeface="Arial" pitchFamily="39" charset="0"/>
                <a:ea typeface="+mn-ea"/>
                <a:cs typeface="+mn-cs"/>
              </a:rPr>
              <a:t>–</a:t>
            </a:r>
            <a:r>
              <a:rPr lang="en-US" sz="1200" kern="1200" dirty="0">
                <a:solidFill>
                  <a:schemeClr val="tx1"/>
                </a:solidFill>
                <a:effectLst/>
                <a:latin typeface="Arial" pitchFamily="39" charset="0"/>
                <a:ea typeface="+mn-ea"/>
                <a:cs typeface="+mn-cs"/>
              </a:rPr>
              <a:t> and has since become the most widely used global reference. In addition to the environmental, sociocultural, and economic aspects of SD, the UN understanding also includes a spatial and a temporal sustainability dimension. </a:t>
            </a:r>
            <a:endParaRPr lang="de-CH" dirty="0"/>
          </a:p>
          <a:p>
            <a:endParaRPr lang="aa-ET" dirty="0"/>
          </a:p>
        </p:txBody>
      </p:sp>
      <p:sp>
        <p:nvSpPr>
          <p:cNvPr id="4" name="Slide Number Placeholder 3"/>
          <p:cNvSpPr>
            <a:spLocks noGrp="1"/>
          </p:cNvSpPr>
          <p:nvPr>
            <p:ph type="sldNum" sz="quarter" idx="5"/>
          </p:nvPr>
        </p:nvSpPr>
        <p:spPr/>
        <p:txBody>
          <a:bodyPr/>
          <a:lstStyle/>
          <a:p>
            <a:fld id="{BCFAAAB6-A2C6-4A85-A3A1-98EFBA61C967}" type="slidenum">
              <a:rPr lang="en-US" smtClean="0"/>
              <a:t>9</a:t>
            </a:fld>
            <a:endParaRPr lang="en-US"/>
          </a:p>
        </p:txBody>
      </p:sp>
    </p:spTree>
    <p:extLst>
      <p:ext uri="{BB962C8B-B14F-4D97-AF65-F5344CB8AC3E}">
        <p14:creationId xmlns:p14="http://schemas.microsoft.com/office/powerpoint/2010/main" val="681813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noProof="0">
                <a:solidFill>
                  <a:schemeClr val="tx1"/>
                </a:solidFill>
                <a:effectLst/>
                <a:latin typeface="Arial"/>
                <a:cs typeface="Arial"/>
              </a:rPr>
              <a:t>Three dimensions of Sustainable Development (SD): the UN understanding, as it is used in Switzerland for the «Monitoring of Sustainable Development (MONET)» (left), </a:t>
            </a:r>
            <a:r>
              <a:rPr lang="en-GB">
                <a:latin typeface="Arial"/>
                <a:cs typeface="Arial"/>
              </a:rPr>
              <a:t>.</a:t>
            </a:r>
            <a:r>
              <a:rPr lang="en-GB" sz="1200" kern="1200" noProof="0">
                <a:solidFill>
                  <a:schemeClr val="tx1"/>
                </a:solidFill>
                <a:effectLst/>
                <a:latin typeface="Arial"/>
                <a:cs typeface="Arial"/>
              </a:rPr>
              <a:t> Efforts towards a transparent negotiation of trade-offs means that the sustainability dimensions are not always given</a:t>
            </a:r>
            <a:r>
              <a:rPr lang="en-GB" sz="1200" kern="1200" baseline="0" noProof="0">
                <a:solidFill>
                  <a:schemeClr val="tx1"/>
                </a:solidFill>
                <a:effectLst/>
                <a:latin typeface="Arial"/>
                <a:cs typeface="Arial"/>
              </a:rPr>
              <a:t> equal weighting</a:t>
            </a:r>
            <a:r>
              <a:rPr lang="en-GB" sz="1200" kern="1200" noProof="0">
                <a:solidFill>
                  <a:schemeClr val="tx1"/>
                </a:solidFill>
                <a:effectLst/>
                <a:latin typeface="Arial"/>
                <a:cs typeface="Arial"/>
              </a:rPr>
              <a:t>. SD models with three dimensions are easy to understand and therefore widespread. In a university environment, however, they could give the impression of having neglected aspects such as culture, technology, health, etc. It is therefore important that these not-mentioned but implicit components be made explicit in further work with the models.</a:t>
            </a:r>
          </a:p>
          <a:p>
            <a:endParaRPr lang="en-GB">
              <a:latin typeface="Arial"/>
              <a:cs typeface="Arial"/>
            </a:endParaRPr>
          </a:p>
          <a:p>
            <a:r>
              <a:rPr lang="en-GB">
                <a:hlinkClick r:id="rId3"/>
              </a:rPr>
              <a:t>Sustainability (admin.ch)</a:t>
            </a:r>
            <a:r>
              <a:rPr lang="en-GB"/>
              <a:t> </a:t>
            </a:r>
            <a:endParaRPr lang="en-GB">
              <a:ea typeface="Calibri"/>
              <a:cs typeface="Calibri"/>
            </a:endParaRPr>
          </a:p>
        </p:txBody>
      </p:sp>
      <p:sp>
        <p:nvSpPr>
          <p:cNvPr id="4" name="Slide Number Placeholder 3"/>
          <p:cNvSpPr>
            <a:spLocks noGrp="1"/>
          </p:cNvSpPr>
          <p:nvPr>
            <p:ph type="sldNum" sz="quarter" idx="10"/>
          </p:nvPr>
        </p:nvSpPr>
        <p:spPr/>
        <p:txBody>
          <a:bodyPr/>
          <a:lstStyle/>
          <a:p>
            <a:fld id="{E5700854-19FB-4351-BFDC-90AAE5F621F4}" type="slidenum">
              <a:rPr lang="de-CH" smtClean="0"/>
              <a:pPr/>
              <a:t>10</a:t>
            </a:fld>
            <a:endParaRPr lang="de-CH"/>
          </a:p>
        </p:txBody>
      </p:sp>
    </p:spTree>
    <p:extLst>
      <p:ext uri="{BB962C8B-B14F-4D97-AF65-F5344CB8AC3E}">
        <p14:creationId xmlns:p14="http://schemas.microsoft.com/office/powerpoint/2010/main" val="1397670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4a5ddacc3_0_0:notes"/>
          <p:cNvSpPr>
            <a:spLocks noGrp="1" noRot="1" noChangeAspect="1"/>
          </p:cNvSpPr>
          <p:nvPr>
            <p:ph type="sldImg" idx="2"/>
          </p:nvPr>
        </p:nvSpPr>
        <p:spPr>
          <a:xfrm>
            <a:off x="936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04a5ddacc3_0_0:notes"/>
          <p:cNvSpPr txBox="1">
            <a:spLocks noGrp="1"/>
          </p:cNvSpPr>
          <p:nvPr>
            <p:ph type="body" idx="1"/>
          </p:nvPr>
        </p:nvSpPr>
        <p:spPr>
          <a:xfrm>
            <a:off x="681197" y="4722694"/>
            <a:ext cx="5449570" cy="4474131"/>
          </a:xfrm>
          <a:prstGeom prst="rect">
            <a:avLst/>
          </a:prstGeom>
        </p:spPr>
        <p:txBody>
          <a:bodyPr spcFirstLastPara="1" wrap="square" lIns="91425" tIns="91425" rIns="91425" bIns="91425" anchor="t" anchorCtr="0">
            <a:noAutofit/>
          </a:bodyPr>
          <a:lstStyle/>
          <a:p>
            <a:r>
              <a:rPr lang="en-US" dirty="0">
                <a:hlinkClick r:id="rId3"/>
              </a:rPr>
              <a:t>Agenda 2063: The Africa We Want. | African Union (au.int)</a:t>
            </a:r>
            <a:endParaRPr lang="en-US" dirty="0">
              <a:ea typeface="Calibri"/>
              <a:cs typeface="Calibri"/>
            </a:endParaRPr>
          </a:p>
          <a:p>
            <a:endParaRPr lang="en-US" dirty="0">
              <a:ea typeface="Calibri"/>
              <a:cs typeface="Calibri"/>
            </a:endParaRPr>
          </a:p>
          <a:p>
            <a:r>
              <a:rPr lang="en-US" dirty="0"/>
              <a:t>Agenda 2063 encapsulates not only Africa’s </a:t>
            </a:r>
            <a:r>
              <a:rPr lang="en-US" u="sng" dirty="0">
                <a:hlinkClick r:id="rId4"/>
              </a:rPr>
              <a:t>Aspirations</a:t>
            </a:r>
            <a:r>
              <a:rPr lang="en-US" dirty="0"/>
              <a:t> for the Future but also identifies key </a:t>
            </a:r>
            <a:r>
              <a:rPr lang="en-US" u="sng" dirty="0">
                <a:hlinkClick r:id="rId5"/>
              </a:rPr>
              <a:t>Flagship </a:t>
            </a:r>
            <a:r>
              <a:rPr lang="en-US" u="sng" dirty="0" err="1">
                <a:hlinkClick r:id="rId5"/>
              </a:rPr>
              <a:t>Programmes</a:t>
            </a:r>
            <a:r>
              <a:rPr lang="en-US" dirty="0"/>
              <a:t> which can boost Africa’s economic growth and development and lead to the rapid transformation of the continent.</a:t>
            </a:r>
            <a:endParaRPr lang="en-US" dirty="0">
              <a:ea typeface="Calibri"/>
              <a:cs typeface="Calibri"/>
            </a:endParaRPr>
          </a:p>
          <a:p>
            <a:endParaRPr lang="en-US" dirty="0"/>
          </a:p>
          <a:p>
            <a:r>
              <a:rPr lang="en-US" dirty="0"/>
              <a:t>Agenda 2063 also identifies key activities to be undertaken in its </a:t>
            </a:r>
            <a:r>
              <a:rPr lang="en-US" u="sng" dirty="0">
                <a:hlinkClick r:id="rId6"/>
              </a:rPr>
              <a:t>10 year Implementation Plans</a:t>
            </a:r>
            <a:r>
              <a:rPr lang="en-US" dirty="0"/>
              <a:t> which will ensure that Agenda 2063 delivers both quantitative and qualitative </a:t>
            </a:r>
            <a:r>
              <a:rPr lang="en-US" u="sng" dirty="0">
                <a:hlinkClick r:id="rId7"/>
              </a:rPr>
              <a:t>Transformational Outcomes</a:t>
            </a:r>
            <a:r>
              <a:rPr lang="en-US" dirty="0"/>
              <a:t> for Africa’s people</a:t>
            </a:r>
          </a:p>
          <a:p>
            <a:r>
              <a:rPr lang="en-US" dirty="0">
                <a:hlinkClick r:id="rId8"/>
              </a:rPr>
              <a:t>Agenda 2063: The Africa We Want | Knowledge for policy (europa.eu)</a:t>
            </a:r>
            <a:endParaRPr lang="en-US" dirty="0"/>
          </a:p>
          <a:p>
            <a:endParaRPr lang="en-US" dirty="0">
              <a:ea typeface="Calibri"/>
              <a:cs typeface="Calibri"/>
            </a:endParaRPr>
          </a:p>
          <a:p>
            <a:r>
              <a:rPr lang="en-US" dirty="0">
                <a:ea typeface="Calibri"/>
                <a:cs typeface="Calibri"/>
              </a:rPr>
              <a:t>Further reading: </a:t>
            </a:r>
          </a:p>
          <a:p>
            <a:r>
              <a:rPr lang="en-US" dirty="0" err="1">
                <a:ea typeface="Calibri"/>
                <a:cs typeface="Calibri"/>
              </a:rPr>
              <a:t>Ndizera</a:t>
            </a:r>
            <a:r>
              <a:rPr lang="en-US" dirty="0">
                <a:ea typeface="Calibri"/>
                <a:cs typeface="Calibri"/>
              </a:rPr>
              <a:t>, V and H </a:t>
            </a:r>
            <a:r>
              <a:rPr lang="en-US" dirty="0" err="1">
                <a:ea typeface="Calibri"/>
                <a:cs typeface="Calibri"/>
              </a:rPr>
              <a:t>Muzee</a:t>
            </a:r>
            <a:r>
              <a:rPr lang="en-US" dirty="0">
                <a:ea typeface="Calibri"/>
                <a:cs typeface="Calibri"/>
              </a:rPr>
              <a:t>. 2018. A critical review of Agenda 2063: Business as usual. African Journal of Political Science and International Relations 12(8): 142-154. </a:t>
            </a:r>
            <a:r>
              <a:rPr lang="en-US" dirty="0">
                <a:hlinkClick r:id="rId9"/>
              </a:rPr>
              <a:t>https://doi.org/10.5897/AJPSIR2018.1114</a:t>
            </a:r>
            <a:r>
              <a:rPr lang="en-US" dirty="0"/>
              <a:t> </a:t>
            </a:r>
          </a:p>
          <a:p>
            <a:endParaRPr lang="en-US" dirty="0">
              <a:ea typeface="Calibri"/>
              <a:cs typeface="Calibri"/>
            </a:endParaRPr>
          </a:p>
          <a:p>
            <a:r>
              <a:rPr lang="en-US" dirty="0" err="1">
                <a:ea typeface="Calibri"/>
                <a:cs typeface="Calibri"/>
              </a:rPr>
              <a:t>Addaney</a:t>
            </a:r>
            <a:r>
              <a:rPr lang="en-US" dirty="0">
                <a:ea typeface="Calibri"/>
                <a:cs typeface="Calibri"/>
              </a:rPr>
              <a:t>, M. 2017. The African Union's Agenda 2063: Education and Its Realization. In: </a:t>
            </a:r>
            <a:r>
              <a:rPr lang="en-US" dirty="0" err="1"/>
              <a:t>Onuora-Oguno</a:t>
            </a:r>
            <a:r>
              <a:rPr lang="en-US" dirty="0"/>
              <a:t>, A., </a:t>
            </a:r>
            <a:r>
              <a:rPr lang="en-US" dirty="0" err="1"/>
              <a:t>Egbewole</a:t>
            </a:r>
            <a:r>
              <a:rPr lang="en-US" dirty="0"/>
              <a:t>, W., Kleven, T. (eds) </a:t>
            </a:r>
            <a:r>
              <a:rPr lang="en-US" dirty="0" err="1">
                <a:ea typeface="Calibri"/>
                <a:cs typeface="Calibri"/>
              </a:rPr>
              <a:t>Eduation</a:t>
            </a:r>
            <a:r>
              <a:rPr lang="en-US" dirty="0">
                <a:ea typeface="Calibri"/>
                <a:cs typeface="Calibri"/>
              </a:rPr>
              <a:t> Law, Strategic Policy and Sustainable Development in Africa. </a:t>
            </a:r>
            <a:r>
              <a:rPr lang="en-US" dirty="0"/>
              <a:t>Palgrave Macmillan, Cham. </a:t>
            </a:r>
            <a:r>
              <a:rPr lang="en-US" dirty="0">
                <a:hlinkClick r:id="rId10"/>
              </a:rPr>
              <a:t>https://doi.org/10.1007/978-3-319-53703-0_8</a:t>
            </a:r>
            <a:r>
              <a:rPr lang="en-US" dirty="0"/>
              <a:t> </a:t>
            </a:r>
            <a:endParaRPr lang="en-US" dirty="0">
              <a:ea typeface="Calibri"/>
              <a:cs typeface="Calibri"/>
            </a:endParaRPr>
          </a:p>
        </p:txBody>
      </p:sp>
    </p:spTree>
    <p:extLst>
      <p:ext uri="{BB962C8B-B14F-4D97-AF65-F5344CB8AC3E}">
        <p14:creationId xmlns:p14="http://schemas.microsoft.com/office/powerpoint/2010/main" val="698331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04a5ddacc3_0_17:notes"/>
          <p:cNvSpPr>
            <a:spLocks noGrp="1" noRot="1" noChangeAspect="1"/>
          </p:cNvSpPr>
          <p:nvPr>
            <p:ph type="sldImg" idx="2"/>
          </p:nvPr>
        </p:nvSpPr>
        <p:spPr>
          <a:xfrm>
            <a:off x="936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04a5ddacc3_0_17:notes"/>
          <p:cNvSpPr txBox="1">
            <a:spLocks noGrp="1"/>
          </p:cNvSpPr>
          <p:nvPr>
            <p:ph type="body" idx="1"/>
          </p:nvPr>
        </p:nvSpPr>
        <p:spPr>
          <a:xfrm>
            <a:off x="681197" y="4722694"/>
            <a:ext cx="5449570" cy="44741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8193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ct val="25000"/>
              <a:buFont typeface="Arial"/>
              <a:buNone/>
            </a:pPr>
            <a:r>
              <a:rPr lang="en-GB" sz="1200" b="1" i="0" u="none" strike="noStrike" cap="none">
                <a:solidFill>
                  <a:schemeClr val="dk1"/>
                </a:solidFill>
                <a:latin typeface="Arial"/>
                <a:ea typeface="Arial"/>
                <a:cs typeface="Arial"/>
                <a:sym typeface="Arial"/>
              </a:rPr>
              <a:t>The UN Sustainable Development Goals</a:t>
            </a:r>
          </a:p>
          <a:p>
            <a:pPr marL="0" marR="0" lvl="0" indent="0" algn="l" rtl="0">
              <a:spcBef>
                <a:spcPts val="360"/>
              </a:spcBef>
              <a:spcAft>
                <a:spcPts val="0"/>
              </a:spcAft>
              <a:buSzPct val="25000"/>
              <a:buNone/>
            </a:pPr>
            <a:r>
              <a:rPr lang="en-GB" sz="1200" b="0" i="0" u="none" strike="noStrike" cap="none">
                <a:solidFill>
                  <a:schemeClr val="dk1"/>
                </a:solidFill>
                <a:latin typeface="Arial"/>
                <a:ea typeface="Arial"/>
                <a:cs typeface="Arial"/>
                <a:sym typeface="Arial"/>
              </a:rPr>
              <a:t>In 2000, the UN, World Bank, International Monetary Fund (IMF), and Organization for Economic Cooperation and Development (OECD) formulated eight </a:t>
            </a:r>
            <a:r>
              <a:rPr lang="en-GB" sz="1200" b="0" i="1" u="none" strike="noStrike" cap="none">
                <a:solidFill>
                  <a:schemeClr val="dk1"/>
                </a:solidFill>
                <a:latin typeface="Arial"/>
                <a:ea typeface="Arial"/>
                <a:cs typeface="Arial"/>
                <a:sym typeface="Arial"/>
              </a:rPr>
              <a:t>Millennium Development Goals</a:t>
            </a:r>
            <a:r>
              <a:rPr lang="en-GB" sz="1200" b="0" i="0" u="none" strike="noStrike" cap="none">
                <a:solidFill>
                  <a:schemeClr val="dk1"/>
                </a:solidFill>
                <a:latin typeface="Arial"/>
                <a:ea typeface="Arial"/>
                <a:cs typeface="Arial"/>
                <a:sym typeface="Arial"/>
              </a:rPr>
              <a:t> (MDGs). Both the goals and the way they were set were controversial. The selection was criticized as being incomplete, defined by industrialized countries, lacking binding commitments and coordination of the individual targets, and characterized by unrealistic indicators and target sizes. </a:t>
            </a:r>
          </a:p>
          <a:p>
            <a:pPr marL="0" marR="0" lvl="0" indent="0" algn="l" rtl="0">
              <a:spcBef>
                <a:spcPts val="360"/>
              </a:spcBef>
              <a:spcAft>
                <a:spcPts val="0"/>
              </a:spcAft>
              <a:buSzPct val="25000"/>
              <a:buNone/>
            </a:pPr>
            <a:endParaRPr lang="en-GB" sz="1200" b="0" i="0" u="none" strike="noStrike" cap="none">
              <a:solidFill>
                <a:schemeClr val="dk1"/>
              </a:solidFill>
              <a:latin typeface="Arial"/>
              <a:ea typeface="Arial"/>
              <a:cs typeface="Arial"/>
              <a:sym typeface="Arial"/>
            </a:endParaRPr>
          </a:p>
          <a:p>
            <a:pPr marL="0" marR="0" lvl="0" indent="0" algn="l" rtl="0">
              <a:spcBef>
                <a:spcPts val="360"/>
              </a:spcBef>
              <a:spcAft>
                <a:spcPts val="0"/>
              </a:spcAft>
              <a:buSzPct val="25000"/>
              <a:buNone/>
            </a:pPr>
            <a:r>
              <a:rPr lang="en-GB" sz="1200" b="0" i="0" u="none" strike="noStrike" cap="none">
                <a:solidFill>
                  <a:schemeClr val="dk1"/>
                </a:solidFill>
                <a:latin typeface="Arial"/>
                <a:ea typeface="Arial"/>
                <a:cs typeface="Arial"/>
                <a:sym typeface="Arial"/>
              </a:rPr>
              <a:t>Based on this criticism as well as on the intention to unite global environmental policy and poverty reduction in a single initiative, the UN </a:t>
            </a:r>
            <a:r>
              <a:rPr lang="en-GB" sz="1200" b="0" i="1" u="none" strike="noStrike" cap="none">
                <a:solidFill>
                  <a:schemeClr val="dk1"/>
                </a:solidFill>
                <a:latin typeface="Arial"/>
                <a:ea typeface="Arial"/>
                <a:cs typeface="Arial"/>
                <a:sym typeface="Arial"/>
              </a:rPr>
              <a:t>Sustainable Development Goals</a:t>
            </a:r>
            <a:r>
              <a:rPr lang="en-GB" sz="1200" b="0" i="0" u="none" strike="noStrike" cap="none">
                <a:solidFill>
                  <a:schemeClr val="dk1"/>
                </a:solidFill>
                <a:latin typeface="Arial"/>
                <a:ea typeface="Arial"/>
                <a:cs typeface="Arial"/>
                <a:sym typeface="Arial"/>
              </a:rPr>
              <a:t> (SDGs) were formulated – and approved on 25 September 2015 as the «2030 Agenda for Sustainable Development», by the 193 member states of the UN. The SDGs are broad-based and form the global political basis for SD efforts in the coming years. </a:t>
            </a:r>
          </a:p>
          <a:p>
            <a:pPr marL="0" marR="0" lvl="0" indent="0" algn="l" rtl="0">
              <a:spcBef>
                <a:spcPts val="360"/>
              </a:spcBef>
              <a:spcAft>
                <a:spcPts val="0"/>
              </a:spcAft>
              <a:buSzPct val="25000"/>
              <a:buNone/>
            </a:pPr>
            <a:r>
              <a:rPr lang="en-GB" sz="1200" b="0" i="0" u="none" strike="noStrike" cap="none">
                <a:solidFill>
                  <a:schemeClr val="dk1"/>
                </a:solidFill>
                <a:latin typeface="Arial"/>
                <a:ea typeface="Arial"/>
                <a:cs typeface="Arial"/>
                <a:sym typeface="Arial"/>
              </a:rPr>
              <a:t>  </a:t>
            </a:r>
          </a:p>
          <a:p>
            <a:r>
              <a:rPr lang="en-GB" sz="1200" kern="1200" baseline="0">
                <a:solidFill>
                  <a:schemeClr val="tx1"/>
                </a:solidFill>
                <a:effectLst/>
                <a:latin typeface="Arial" panose="020B0604020202020204" pitchFamily="34" charset="0"/>
                <a:ea typeface="+mn-ea"/>
                <a:cs typeface="Arial" panose="020B0604020202020204" pitchFamily="34" charset="0"/>
              </a:rPr>
              <a:t> </a:t>
            </a:r>
            <a:r>
              <a:rPr lang="de-CH" sz="1200" kern="1200" baseline="0">
                <a:solidFill>
                  <a:schemeClr val="tx1"/>
                </a:solidFill>
                <a:effectLst/>
                <a:latin typeface="Arial" panose="020B0604020202020204" pitchFamily="34" charset="0"/>
                <a:ea typeface="+mn-ea"/>
                <a:cs typeface="Arial" panose="020B0604020202020204" pitchFamily="34" charset="0"/>
              </a:rPr>
              <a:t> </a:t>
            </a:r>
          </a:p>
        </p:txBody>
      </p:sp>
      <p:sp>
        <p:nvSpPr>
          <p:cNvPr id="4" name="Slide Number Placeholder 3"/>
          <p:cNvSpPr>
            <a:spLocks noGrp="1"/>
          </p:cNvSpPr>
          <p:nvPr>
            <p:ph type="sldNum" sz="quarter" idx="10"/>
          </p:nvPr>
        </p:nvSpPr>
        <p:spPr/>
        <p:txBody>
          <a:bodyPr/>
          <a:lstStyle/>
          <a:p>
            <a:fld id="{E5700854-19FB-4351-BFDC-90AAE5F621F4}" type="slidenum">
              <a:rPr lang="de-CH" smtClean="0"/>
              <a:pPr/>
              <a:t>13</a:t>
            </a:fld>
            <a:endParaRPr lang="de-CH"/>
          </a:p>
        </p:txBody>
      </p:sp>
    </p:spTree>
    <p:extLst>
      <p:ext uri="{BB962C8B-B14F-4D97-AF65-F5344CB8AC3E}">
        <p14:creationId xmlns:p14="http://schemas.microsoft.com/office/powerpoint/2010/main" val="169654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https://doi.org/10.1016/j.wds.2022.100010</a:t>
            </a:r>
            <a:r>
              <a:rPr lang="en-US"/>
              <a:t> </a:t>
            </a:r>
          </a:p>
        </p:txBody>
      </p:sp>
      <p:sp>
        <p:nvSpPr>
          <p:cNvPr id="4" name="Slide Number Placeholder 3"/>
          <p:cNvSpPr>
            <a:spLocks noGrp="1"/>
          </p:cNvSpPr>
          <p:nvPr>
            <p:ph type="sldNum" sz="quarter" idx="5"/>
          </p:nvPr>
        </p:nvSpPr>
        <p:spPr/>
        <p:txBody>
          <a:bodyPr/>
          <a:lstStyle/>
          <a:p>
            <a:fld id="{BCFAAAB6-A2C6-4A85-A3A1-98EFBA61C967}" type="slidenum">
              <a:rPr lang="en-US" smtClean="0"/>
              <a:t>15</a:t>
            </a:fld>
            <a:endParaRPr lang="en-US"/>
          </a:p>
        </p:txBody>
      </p:sp>
    </p:spTree>
    <p:extLst>
      <p:ext uri="{BB962C8B-B14F-4D97-AF65-F5344CB8AC3E}">
        <p14:creationId xmlns:p14="http://schemas.microsoft.com/office/powerpoint/2010/main" val="2880350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17</a:t>
            </a:fld>
            <a:endParaRPr lang="en-US"/>
          </a:p>
        </p:txBody>
      </p:sp>
    </p:spTree>
    <p:extLst>
      <p:ext uri="{BB962C8B-B14F-4D97-AF65-F5344CB8AC3E}">
        <p14:creationId xmlns:p14="http://schemas.microsoft.com/office/powerpoint/2010/main" val="234524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spcAft>
                <a:spcPts val="800"/>
              </a:spcAft>
              <a:buFont typeface="Symbol" panose="05050102010706020507" pitchFamily="18" charset="2"/>
              <a:buNone/>
            </a:pPr>
            <a:r>
              <a:rPr lang="en-GB"/>
              <a:t>30 mins:  </a:t>
            </a:r>
            <a:r>
              <a:rPr lang="en-US" sz="1800">
                <a:effectLst/>
                <a:latin typeface="Calibri" panose="020F0502020204030204" pitchFamily="34" charset="0"/>
                <a:ea typeface="Calibri" panose="020F0502020204030204" pitchFamily="34" charset="0"/>
                <a:cs typeface="Calibri" panose="020F0502020204030204" pitchFamily="34" charset="0"/>
              </a:rPr>
              <a:t>Collecting and sharing of experiences of key global sustainability challenges (e.g., climate change, poverty, biodiversity loss) with focus on relatability to own personal life/national and local sustainability challenges. </a:t>
            </a:r>
            <a:r>
              <a:rPr lang="en-US" sz="1800">
                <a:effectLst/>
                <a:latin typeface="Calibri" panose="020F0502020204030204" pitchFamily="34" charset="0"/>
                <a:ea typeface="Calibri" panose="020F0502020204030204" pitchFamily="34" charset="0"/>
              </a:rPr>
              <a:t>Dividing participants into small groups, assigning each group a challenge to discuss its implications and possible solutions.</a:t>
            </a:r>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18</a:t>
            </a:fld>
            <a:endParaRPr lang="en-US"/>
          </a:p>
        </p:txBody>
      </p:sp>
    </p:spTree>
    <p:extLst>
      <p:ext uri="{BB962C8B-B14F-4D97-AF65-F5344CB8AC3E}">
        <p14:creationId xmlns:p14="http://schemas.microsoft.com/office/powerpoint/2010/main" val="21061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72CA-AD4B-09E4-3A31-16BF3706C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3B075-44F8-D663-BB44-0512B27C8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44C89-601F-86FC-3BB4-6CA25FEAB6E9}"/>
              </a:ext>
            </a:extLst>
          </p:cNvPr>
          <p:cNvSpPr>
            <a:spLocks noGrp="1"/>
          </p:cNvSpPr>
          <p:nvPr>
            <p:ph type="body" idx="1"/>
          </p:nvPr>
        </p:nvSpPr>
        <p:spPr/>
        <p:txBody>
          <a:bodyPr/>
          <a:lstStyle/>
          <a:p>
            <a:pPr algn="l">
              <a:spcAft>
                <a:spcPts val="1200"/>
              </a:spcAft>
            </a:pPr>
            <a:r>
              <a:rPr lang="en-GB" b="0" i="0" dirty="0">
                <a:solidFill>
                  <a:srgbClr val="23366F"/>
                </a:solidFill>
                <a:effectLst/>
                <a:latin typeface="ZurichSans-Light"/>
              </a:rPr>
              <a:t>Global Risks Perception Survey (GRPS), which captures insights from nearly 1,500 global experts. The report analyses global risks through three-time frames to support decision-makers in balancing current crises and longer-term priorities.</a:t>
            </a:r>
          </a:p>
          <a:p>
            <a:pPr algn="l">
              <a:spcAft>
                <a:spcPts val="1200"/>
              </a:spcAft>
            </a:pPr>
            <a:r>
              <a:rPr lang="en-GB" b="0" i="0" dirty="0">
                <a:solidFill>
                  <a:srgbClr val="23366F"/>
                </a:solidFill>
                <a:effectLst/>
                <a:latin typeface="ZurichSans-Light"/>
              </a:rPr>
              <a:t>As we enter 2024, 2023-2024 GRPS results highlight a predominantly negative outlook for the world over the next two years (84% respondents are concerned) that is expected to worsen over the next decade (92% are pessimistic).</a:t>
            </a:r>
          </a:p>
          <a:p>
            <a:endParaRPr lang="aa-ET" dirty="0"/>
          </a:p>
        </p:txBody>
      </p:sp>
      <p:sp>
        <p:nvSpPr>
          <p:cNvPr id="4" name="Slide Number Placeholder 3">
            <a:extLst>
              <a:ext uri="{FF2B5EF4-FFF2-40B4-BE49-F238E27FC236}">
                <a16:creationId xmlns:a16="http://schemas.microsoft.com/office/drawing/2014/main" id="{A9DE68FD-8D7E-8DC2-EE10-0F618EC1C1F4}"/>
              </a:ext>
            </a:extLst>
          </p:cNvPr>
          <p:cNvSpPr>
            <a:spLocks noGrp="1"/>
          </p:cNvSpPr>
          <p:nvPr>
            <p:ph type="sldNum" sz="quarter" idx="5"/>
          </p:nvPr>
        </p:nvSpPr>
        <p:spPr/>
        <p:txBody>
          <a:bodyPr/>
          <a:lstStyle/>
          <a:p>
            <a:fld id="{8C08F672-13E3-4BCD-A65F-F9D66C29D58F}" type="slidenum">
              <a:rPr lang="nl-NL" smtClean="0"/>
              <a:t>20</a:t>
            </a:fld>
            <a:endParaRPr lang="nl-NL" dirty="0"/>
          </a:p>
        </p:txBody>
      </p:sp>
    </p:spTree>
    <p:extLst>
      <p:ext uri="{BB962C8B-B14F-4D97-AF65-F5344CB8AC3E}">
        <p14:creationId xmlns:p14="http://schemas.microsoft.com/office/powerpoint/2010/main" val="1087751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C7B37-EFE6-9358-FC11-AF21B162D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9E071-4A78-B15F-A54C-4926D48CC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D382D-E3EB-505A-EDF2-A58688A0D951}"/>
              </a:ext>
            </a:extLst>
          </p:cNvPr>
          <p:cNvSpPr>
            <a:spLocks noGrp="1"/>
          </p:cNvSpPr>
          <p:nvPr>
            <p:ph type="body" idx="1"/>
          </p:nvPr>
        </p:nvSpPr>
        <p:spPr/>
        <p:txBody>
          <a:bodyPr/>
          <a:lstStyle/>
          <a:p>
            <a:r>
              <a:rPr lang="en-GB" dirty="0"/>
              <a:t>The Global Risks Perception Survey (GRPS) has underpinned the Global Risks Report for nearly two decades and is the World Economic Forum’s premier source of original global risks data. This year’s GRPS has brought together leading insights on the evolving global risks landscape from over 1,200 experts across academia, business, government, the international community and civil society. Responses for the GRPS 2022-2023 were collected from 7 September to 5 October 2022. </a:t>
            </a:r>
          </a:p>
          <a:p>
            <a:endParaRPr lang="en-GB" dirty="0"/>
          </a:p>
          <a:p>
            <a:r>
              <a:rPr lang="en-GB" dirty="0">
                <a:hlinkClick r:id="rId3"/>
              </a:rPr>
              <a:t>WEF_Global_Risks_Report_2023.pdf (weforum.org)</a:t>
            </a:r>
            <a:endParaRPr lang="en-GB" dirty="0"/>
          </a:p>
          <a:p>
            <a:endParaRPr lang="en-GB" dirty="0"/>
          </a:p>
          <a:p>
            <a:r>
              <a:rPr lang="en-GB" dirty="0"/>
              <a:t>Severity assessed the perceived likely impact of global risks over a one-, two- and 10-year horizon, to illustrate the potential development of individual global risks over time</a:t>
            </a:r>
          </a:p>
          <a:p>
            <a:endParaRPr lang="aa-ET" dirty="0"/>
          </a:p>
        </p:txBody>
      </p:sp>
      <p:sp>
        <p:nvSpPr>
          <p:cNvPr id="4" name="Slide Number Placeholder 3">
            <a:extLst>
              <a:ext uri="{FF2B5EF4-FFF2-40B4-BE49-F238E27FC236}">
                <a16:creationId xmlns:a16="http://schemas.microsoft.com/office/drawing/2014/main" id="{F9B0784D-CFEF-446E-6121-7A8258AA52D4}"/>
              </a:ext>
            </a:extLst>
          </p:cNvPr>
          <p:cNvSpPr>
            <a:spLocks noGrp="1"/>
          </p:cNvSpPr>
          <p:nvPr>
            <p:ph type="sldNum" sz="quarter" idx="5"/>
          </p:nvPr>
        </p:nvSpPr>
        <p:spPr/>
        <p:txBody>
          <a:bodyPr/>
          <a:lstStyle/>
          <a:p>
            <a:fld id="{BCFAAAB6-A2C6-4A85-A3A1-98EFBA61C967}" type="slidenum">
              <a:rPr lang="en-US" smtClean="0"/>
              <a:t>22</a:t>
            </a:fld>
            <a:endParaRPr lang="en-US"/>
          </a:p>
        </p:txBody>
      </p:sp>
    </p:spTree>
    <p:extLst>
      <p:ext uri="{BB962C8B-B14F-4D97-AF65-F5344CB8AC3E}">
        <p14:creationId xmlns:p14="http://schemas.microsoft.com/office/powerpoint/2010/main" val="4258266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0148-1E36-3601-4714-C0CDA6619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AA9F6-E00A-E930-15DD-0167EA5C3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0AF41-75B9-5047-1D5E-2C5D16680F2B}"/>
              </a:ext>
            </a:extLst>
          </p:cNvPr>
          <p:cNvSpPr>
            <a:spLocks noGrp="1"/>
          </p:cNvSpPr>
          <p:nvPr>
            <p:ph type="body" idx="1"/>
          </p:nvPr>
        </p:nvSpPr>
        <p:spPr/>
        <p:txBody>
          <a:bodyPr/>
          <a:lstStyle/>
          <a:p>
            <a:r>
              <a:rPr lang="en-GB" dirty="0"/>
              <a:t>The Global Risks Perception Survey (GRPS) has underpinned the Global Risks Report for nearly two decades and is the World Economic Forum’s premier source of original global risks data. This year’s GRPS has brought together leading insights on the evolving global risks landscape from over 1,200 experts across academia, business, government, the international community and civil society. Responses for the GRPS 2022-2023 were collected from 7 September to 5 October 2022. </a:t>
            </a:r>
          </a:p>
          <a:p>
            <a:endParaRPr lang="en-GB" dirty="0"/>
          </a:p>
          <a:p>
            <a:r>
              <a:rPr lang="en-GB" dirty="0">
                <a:hlinkClick r:id="rId3"/>
              </a:rPr>
              <a:t>WEF_Global_Risks_Report_2023.pdf (weforum.org)</a:t>
            </a:r>
            <a:endParaRPr lang="en-GB" dirty="0"/>
          </a:p>
          <a:p>
            <a:endParaRPr lang="en-GB" dirty="0"/>
          </a:p>
          <a:p>
            <a:r>
              <a:rPr lang="en-GB" dirty="0"/>
              <a:t>Severity assessed the perceived likely impact of global risks over a one-, two- and 10-year horizon, to illustrate the potential development of individual global risks over time</a:t>
            </a:r>
          </a:p>
          <a:p>
            <a:endParaRPr lang="aa-ET" dirty="0"/>
          </a:p>
        </p:txBody>
      </p:sp>
      <p:sp>
        <p:nvSpPr>
          <p:cNvPr id="4" name="Slide Number Placeholder 3">
            <a:extLst>
              <a:ext uri="{FF2B5EF4-FFF2-40B4-BE49-F238E27FC236}">
                <a16:creationId xmlns:a16="http://schemas.microsoft.com/office/drawing/2014/main" id="{3954774A-9597-3CFB-B227-2F34CE5086E2}"/>
              </a:ext>
            </a:extLst>
          </p:cNvPr>
          <p:cNvSpPr>
            <a:spLocks noGrp="1"/>
          </p:cNvSpPr>
          <p:nvPr>
            <p:ph type="sldNum" sz="quarter" idx="5"/>
          </p:nvPr>
        </p:nvSpPr>
        <p:spPr/>
        <p:txBody>
          <a:bodyPr/>
          <a:lstStyle/>
          <a:p>
            <a:fld id="{BCFAAAB6-A2C6-4A85-A3A1-98EFBA61C967}" type="slidenum">
              <a:rPr lang="en-US" smtClean="0"/>
              <a:t>23</a:t>
            </a:fld>
            <a:endParaRPr lang="en-US"/>
          </a:p>
        </p:txBody>
      </p:sp>
    </p:spTree>
    <p:extLst>
      <p:ext uri="{BB962C8B-B14F-4D97-AF65-F5344CB8AC3E}">
        <p14:creationId xmlns:p14="http://schemas.microsoft.com/office/powerpoint/2010/main" val="3137359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p:txBody>
          <a:bodyPr/>
          <a:lstStyle/>
          <a:p>
            <a:pPr marL="171450" indent="-171450">
              <a:buFont typeface="Arial" panose="020B0604020202020204" pitchFamily="34" charset="0"/>
              <a:buChar char="•"/>
              <a:defRPr/>
            </a:pPr>
            <a:r>
              <a:rPr lang="en-US" altLang="en-US" dirty="0"/>
              <a:t>2030 Agenda. Bringing together a social and environmental agenda and gives responsibility to global North and South. </a:t>
            </a:r>
          </a:p>
          <a:p>
            <a:pPr marL="171450" indent="-171450">
              <a:buFont typeface="Arial" panose="020B0604020202020204" pitchFamily="34" charset="0"/>
              <a:buChar char="•"/>
              <a:defRPr/>
            </a:pPr>
            <a:r>
              <a:rPr lang="en-US" altLang="en-US" dirty="0"/>
              <a:t>Graphic shows which physical boundaries (ecological overshoot) are already transgressed respectively how many of the 11 minimal social thresholds (social shortfalls) have been achieved. </a:t>
            </a:r>
            <a:endParaRPr lang="en-US" altLang="en-US" dirty="0">
              <a:ea typeface="Calibri"/>
              <a:cs typeface="Calibri"/>
            </a:endParaRPr>
          </a:p>
          <a:p>
            <a:pPr marL="171450" indent="-171450">
              <a:buFont typeface="Arial" panose="020B0604020202020204" pitchFamily="34" charset="0"/>
              <a:buChar char="•"/>
              <a:defRPr/>
            </a:pPr>
            <a:r>
              <a:rPr lang="en-US" altLang="en-US" dirty="0"/>
              <a:t>Breaking the path dependence of development. Double challenge for developing countries needs transformation</a:t>
            </a:r>
            <a:endParaRPr lang="en-US" altLang="en-US" dirty="0">
              <a:ea typeface="Calibri"/>
              <a:cs typeface="Calibri"/>
            </a:endParaRPr>
          </a:p>
          <a:p>
            <a:pPr marL="171450" indent="-171450">
              <a:buFont typeface="Arial" panose="020B0604020202020204" pitchFamily="34" charset="0"/>
              <a:buChar char="•"/>
              <a:defRPr/>
            </a:pPr>
            <a:r>
              <a:rPr lang="en-GB" altLang="en-US" dirty="0"/>
              <a:t>Given that the Agenda 2030 depends on national progress and since development challenges are context-specific and must be negotiated, knowledge capacities are a prerequisite in all countries.</a:t>
            </a:r>
            <a:endParaRPr lang="en-US" altLang="en-US" dirty="0"/>
          </a:p>
          <a:p>
            <a:pPr marL="171450" indent="-171450">
              <a:buFont typeface="Arial" panose="020B0604020202020204" pitchFamily="34" charset="0"/>
              <a:buChar char="•"/>
              <a:defRPr/>
            </a:pPr>
            <a:endParaRPr lang="en-GB" altLang="en-US" dirty="0">
              <a:ea typeface="Calibri"/>
              <a:cs typeface="Calibri"/>
            </a:endParaRPr>
          </a:p>
          <a:p>
            <a:pPr marL="171450" indent="-171450">
              <a:buFont typeface="Arial" panose="020B0604020202020204" pitchFamily="34" charset="0"/>
              <a:buChar char="•"/>
              <a:defRPr/>
            </a:pPr>
            <a:r>
              <a:rPr lang="en-GB" b="1" dirty="0"/>
              <a:t>Number of biophysical boundaries transgressed versus social thresholds achieved. </a:t>
            </a:r>
            <a:r>
              <a:rPr lang="en-GB" dirty="0"/>
              <a:t>Countries are colour-coded according to the section they were in at the start of the analysis period, and are sized according to population. Ideally, they would be in the Doughnut located in the top-left corner.  Instead they tend to move from left to right along the bottom, and then up to the top.</a:t>
            </a:r>
            <a:endParaRPr lang="en-GB" altLang="en-US" dirty="0">
              <a:ea typeface="Calibri" panose="020F0502020204030204"/>
              <a:cs typeface="Calibri" panose="020F0502020204030204"/>
            </a:endParaRPr>
          </a:p>
          <a:p>
            <a:pPr>
              <a:defRPr/>
            </a:pPr>
            <a:endParaRPr lang="en-US" altLang="en-US" dirty="0">
              <a:ea typeface="Calibri" panose="020F0502020204030204"/>
              <a:cs typeface="Calibri" panose="020F0502020204030204"/>
            </a:endParaRPr>
          </a:p>
        </p:txBody>
      </p:sp>
      <p:sp>
        <p:nvSpPr>
          <p:cNvPr id="17412" name="Slide Number Placeholder 3"/>
          <p:cNvSpPr>
            <a:spLocks noGrp="1"/>
          </p:cNvSpPr>
          <p:nvPr>
            <p:ph type="sldNum" sz="quarter" idx="5"/>
          </p:nvPr>
        </p:nvSpPr>
        <p:spPr>
          <a:noFill/>
        </p:spPr>
        <p:txBody>
          <a:bodyPr/>
          <a:lstStyle>
            <a:lvl1pPr defTabSz="966788">
              <a:defRPr sz="2400">
                <a:solidFill>
                  <a:schemeClr val="tx1"/>
                </a:solidFill>
                <a:latin typeface="Arial" panose="020B0604020202020204" pitchFamily="34" charset="0"/>
              </a:defRPr>
            </a:lvl1pPr>
            <a:lvl2pPr marL="755650" indent="-290513" defTabSz="966788">
              <a:defRPr sz="2400">
                <a:solidFill>
                  <a:schemeClr val="tx1"/>
                </a:solidFill>
                <a:latin typeface="Arial" panose="020B0604020202020204" pitchFamily="34" charset="0"/>
              </a:defRPr>
            </a:lvl2pPr>
            <a:lvl3pPr marL="1163638" indent="-231775" defTabSz="966788">
              <a:defRPr sz="2400">
                <a:solidFill>
                  <a:schemeClr val="tx1"/>
                </a:solidFill>
                <a:latin typeface="Arial" panose="020B0604020202020204" pitchFamily="34" charset="0"/>
              </a:defRPr>
            </a:lvl3pPr>
            <a:lvl4pPr marL="1630363" indent="-231775" defTabSz="966788">
              <a:defRPr sz="2400">
                <a:solidFill>
                  <a:schemeClr val="tx1"/>
                </a:solidFill>
                <a:latin typeface="Arial" panose="020B0604020202020204" pitchFamily="34" charset="0"/>
              </a:defRPr>
            </a:lvl4pPr>
            <a:lvl5pPr marL="2095500" indent="-231775" defTabSz="966788">
              <a:defRPr sz="2400">
                <a:solidFill>
                  <a:schemeClr val="tx1"/>
                </a:solidFill>
                <a:latin typeface="Arial" panose="020B0604020202020204" pitchFamily="34" charset="0"/>
              </a:defRPr>
            </a:lvl5pPr>
            <a:lvl6pPr marL="2552700" indent="-231775" defTabSz="966788" eaLnBrk="0" fontAlgn="base" hangingPunct="0">
              <a:spcBef>
                <a:spcPct val="0"/>
              </a:spcBef>
              <a:spcAft>
                <a:spcPct val="0"/>
              </a:spcAft>
              <a:defRPr sz="2400">
                <a:solidFill>
                  <a:schemeClr val="tx1"/>
                </a:solidFill>
                <a:latin typeface="Arial" panose="020B0604020202020204" pitchFamily="34" charset="0"/>
              </a:defRPr>
            </a:lvl6pPr>
            <a:lvl7pPr marL="3009900" indent="-231775" defTabSz="966788" eaLnBrk="0" fontAlgn="base" hangingPunct="0">
              <a:spcBef>
                <a:spcPct val="0"/>
              </a:spcBef>
              <a:spcAft>
                <a:spcPct val="0"/>
              </a:spcAft>
              <a:defRPr sz="2400">
                <a:solidFill>
                  <a:schemeClr val="tx1"/>
                </a:solidFill>
                <a:latin typeface="Arial" panose="020B0604020202020204" pitchFamily="34" charset="0"/>
              </a:defRPr>
            </a:lvl7pPr>
            <a:lvl8pPr marL="3467100" indent="-231775" defTabSz="966788" eaLnBrk="0" fontAlgn="base" hangingPunct="0">
              <a:spcBef>
                <a:spcPct val="0"/>
              </a:spcBef>
              <a:spcAft>
                <a:spcPct val="0"/>
              </a:spcAft>
              <a:defRPr sz="2400">
                <a:solidFill>
                  <a:schemeClr val="tx1"/>
                </a:solidFill>
                <a:latin typeface="Arial" panose="020B0604020202020204" pitchFamily="34" charset="0"/>
              </a:defRPr>
            </a:lvl8pPr>
            <a:lvl9pPr marL="3924300" indent="-231775" defTabSz="966788" eaLnBrk="0" fontAlgn="base" hangingPunct="0">
              <a:spcBef>
                <a:spcPct val="0"/>
              </a:spcBef>
              <a:spcAft>
                <a:spcPct val="0"/>
              </a:spcAft>
              <a:defRPr sz="2400">
                <a:solidFill>
                  <a:schemeClr val="tx1"/>
                </a:solidFill>
                <a:latin typeface="Arial" panose="020B0604020202020204" pitchFamily="34" charset="0"/>
              </a:defRPr>
            </a:lvl9pPr>
          </a:lstStyle>
          <a:p>
            <a:fld id="{E5DD9029-0460-4152-969E-32C0E3AD7332}" type="slidenum">
              <a:rPr lang="de-CH" altLang="en-US" sz="1200" smtClean="0">
                <a:solidFill>
                  <a:srgbClr val="000000"/>
                </a:solidFill>
              </a:rPr>
              <a:pPr/>
              <a:t>26</a:t>
            </a:fld>
            <a:endParaRPr lang="de-CH" altLang="en-US" sz="1200">
              <a:solidFill>
                <a:srgbClr val="000000"/>
              </a:solidFill>
            </a:endParaRPr>
          </a:p>
        </p:txBody>
      </p:sp>
    </p:spTree>
    <p:extLst>
      <p:ext uri="{BB962C8B-B14F-4D97-AF65-F5344CB8AC3E}">
        <p14:creationId xmlns:p14="http://schemas.microsoft.com/office/powerpoint/2010/main" val="2297941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Discussion on the relevance of sustainable development in the specific contexts of Kenya and Ethiopia. Participants share local sustainability initiatives and challenges. </a:t>
            </a:r>
          </a:p>
          <a:p>
            <a:endParaRPr lang="en-US">
              <a:ea typeface="Calibri"/>
              <a:cs typeface="Calibri"/>
            </a:endParaRPr>
          </a:p>
          <a:p>
            <a:r>
              <a:rPr lang="en-US" b="1">
                <a:ea typeface="Calibri"/>
                <a:cs typeface="Calibri"/>
              </a:rPr>
              <a:t>What kind of education and research is happening, try to get some initiatives there – make link</a:t>
            </a:r>
            <a:endParaRPr lang="en-GB" b="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27</a:t>
            </a:fld>
            <a:endParaRPr lang="en-US"/>
          </a:p>
        </p:txBody>
      </p:sp>
    </p:spTree>
    <p:extLst>
      <p:ext uri="{BB962C8B-B14F-4D97-AF65-F5344CB8AC3E}">
        <p14:creationId xmlns:p14="http://schemas.microsoft.com/office/powerpoint/2010/main" val="2661433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spcAft>
                <a:spcPts val="800"/>
              </a:spcAft>
              <a:buFont typeface="Symbol" panose="05050102010706020507" pitchFamily="18" charset="2"/>
              <a:buNone/>
            </a:pPr>
            <a:r>
              <a:rPr lang="en-US" sz="1800" dirty="0">
                <a:effectLst/>
                <a:latin typeface="Calibri" panose="020F0502020204030204" pitchFamily="34" charset="0"/>
                <a:ea typeface="Calibri" panose="020F0502020204030204" pitchFamily="34" charset="0"/>
                <a:cs typeface="Calibri" panose="020F0502020204030204" pitchFamily="34" charset="0"/>
              </a:rPr>
              <a:t>20 mins Presentation of a variety of sustainability theories and concepts. </a:t>
            </a:r>
            <a:r>
              <a:rPr lang="en-US" sz="1800" dirty="0">
                <a:effectLst/>
                <a:latin typeface="Calibri" panose="020F0502020204030204" pitchFamily="34" charset="0"/>
                <a:ea typeface="Calibri" panose="020F0502020204030204" pitchFamily="34" charset="0"/>
              </a:rPr>
              <a:t>Discussion of the origins, key principles, and implications of each theory.</a:t>
            </a:r>
            <a:endParaRPr lang="aa-ET" dirty="0"/>
          </a:p>
        </p:txBody>
      </p:sp>
      <p:sp>
        <p:nvSpPr>
          <p:cNvPr id="4" name="Slide Number Placeholder 3"/>
          <p:cNvSpPr>
            <a:spLocks noGrp="1"/>
          </p:cNvSpPr>
          <p:nvPr>
            <p:ph type="sldNum" sz="quarter" idx="5"/>
          </p:nvPr>
        </p:nvSpPr>
        <p:spPr/>
        <p:txBody>
          <a:bodyPr/>
          <a:lstStyle/>
          <a:p>
            <a:fld id="{BCFAAAB6-A2C6-4A85-A3A1-98EFBA61C967}" type="slidenum">
              <a:rPr lang="en-US" smtClean="0"/>
              <a:t>28</a:t>
            </a:fld>
            <a:endParaRPr lang="en-US"/>
          </a:p>
        </p:txBody>
      </p:sp>
    </p:spTree>
    <p:extLst>
      <p:ext uri="{BB962C8B-B14F-4D97-AF65-F5344CB8AC3E}">
        <p14:creationId xmlns:p14="http://schemas.microsoft.com/office/powerpoint/2010/main" val="1832971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More detailed Sustainable Development timeline: </a:t>
            </a:r>
            <a:r>
              <a:rPr lang="en-US" dirty="0">
                <a:hlinkClick r:id="rId3"/>
              </a:rPr>
              <a:t>https://www.iisd.org/system/files/publications/sd_timeline_2012.pdf</a:t>
            </a:r>
            <a:r>
              <a:rPr lang="en-US" dirty="0"/>
              <a:t> </a:t>
            </a:r>
          </a:p>
        </p:txBody>
      </p:sp>
      <p:sp>
        <p:nvSpPr>
          <p:cNvPr id="4" name="Slide Number Placeholder 3"/>
          <p:cNvSpPr>
            <a:spLocks noGrp="1"/>
          </p:cNvSpPr>
          <p:nvPr>
            <p:ph type="sldNum" sz="quarter" idx="5"/>
          </p:nvPr>
        </p:nvSpPr>
        <p:spPr/>
        <p:txBody>
          <a:bodyPr/>
          <a:lstStyle/>
          <a:p>
            <a:fld id="{BCFAAAB6-A2C6-4A85-A3A1-98EFBA61C967}" type="slidenum">
              <a:rPr lang="en-US" smtClean="0"/>
              <a:t>29</a:t>
            </a:fld>
            <a:endParaRPr lang="en-US"/>
          </a:p>
        </p:txBody>
      </p:sp>
    </p:spTree>
    <p:extLst>
      <p:ext uri="{BB962C8B-B14F-4D97-AF65-F5344CB8AC3E}">
        <p14:creationId xmlns:p14="http://schemas.microsoft.com/office/powerpoint/2010/main" val="2895837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lienbildplatzhalter 1">
            <a:extLst>
              <a:ext uri="{FF2B5EF4-FFF2-40B4-BE49-F238E27FC236}">
                <a16:creationId xmlns:a16="http://schemas.microsoft.com/office/drawing/2014/main" id="{EDD9B6DF-B9DC-6233-B156-056EC9E4EC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izenplatzhalter 2">
            <a:extLst>
              <a:ext uri="{FF2B5EF4-FFF2-40B4-BE49-F238E27FC236}">
                <a16:creationId xmlns:a16="http://schemas.microsoft.com/office/drawing/2014/main" id="{296A0E25-1395-EDA8-B988-395CF3FFC6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de-CH" altLang="en-US" dirty="0"/>
              <a:t>Image </a:t>
            </a:r>
            <a:r>
              <a:rPr lang="de-CH" altLang="en-US" dirty="0" err="1"/>
              <a:t>shows</a:t>
            </a:r>
            <a:r>
              <a:rPr lang="de-CH" altLang="en-US" dirty="0"/>
              <a:t> </a:t>
            </a:r>
            <a:r>
              <a:rPr lang="de-CH" altLang="en-US" dirty="0" err="1"/>
              <a:t>the</a:t>
            </a:r>
            <a:r>
              <a:rPr lang="de-CH" altLang="en-US" dirty="0"/>
              <a:t> </a:t>
            </a:r>
            <a:r>
              <a:rPr lang="de-CH" altLang="en-US" dirty="0" err="1"/>
              <a:t>scenario</a:t>
            </a:r>
            <a:r>
              <a:rPr lang="de-CH" altLang="en-US" dirty="0"/>
              <a:t> </a:t>
            </a:r>
            <a:r>
              <a:rPr lang="de-CH" altLang="en-US" dirty="0" err="1"/>
              <a:t>if</a:t>
            </a:r>
            <a:r>
              <a:rPr lang="de-CH" altLang="en-US" dirty="0"/>
              <a:t> </a:t>
            </a:r>
            <a:r>
              <a:rPr lang="de-CH" altLang="en-US" dirty="0" err="1"/>
              <a:t>nothing</a:t>
            </a:r>
            <a:r>
              <a:rPr lang="de-CH" altLang="en-US" dirty="0"/>
              <a:t> </a:t>
            </a:r>
            <a:r>
              <a:rPr lang="de-CH" altLang="en-US" dirty="0" err="1"/>
              <a:t>is</a:t>
            </a:r>
            <a:r>
              <a:rPr lang="de-CH" altLang="en-US" dirty="0"/>
              <a:t> </a:t>
            </a:r>
            <a:r>
              <a:rPr lang="de-CH" altLang="en-US" dirty="0" err="1"/>
              <a:t>changed</a:t>
            </a:r>
            <a:r>
              <a:rPr lang="de-CH" altLang="en-US" dirty="0"/>
              <a:t>, </a:t>
            </a:r>
          </a:p>
          <a:p>
            <a:pPr eaLnBrk="1" hangingPunct="1">
              <a:spcBef>
                <a:spcPct val="0"/>
              </a:spcBef>
            </a:pPr>
            <a:endParaRPr lang="de-CH" altLang="en-US" dirty="0"/>
          </a:p>
          <a:p>
            <a:pPr eaLnBrk="1" hangingPunct="1">
              <a:spcBef>
                <a:spcPct val="0"/>
              </a:spcBef>
            </a:pPr>
            <a:r>
              <a:rPr lang="en-GB" altLang="aa-ET" dirty="0">
                <a:hlinkClick r:id="rId3" tooltip="World population"/>
              </a:rPr>
              <a:t>population</a:t>
            </a:r>
            <a:r>
              <a:rPr lang="en-GB" altLang="aa-ET" dirty="0"/>
              <a:t>, </a:t>
            </a:r>
            <a:r>
              <a:rPr lang="en-GB" altLang="aa-ET" dirty="0">
                <a:hlinkClick r:id="rId4" tooltip="Food industry"/>
              </a:rPr>
              <a:t>food production</a:t>
            </a:r>
            <a:r>
              <a:rPr lang="en-GB" altLang="aa-ET" dirty="0"/>
              <a:t>, </a:t>
            </a:r>
            <a:r>
              <a:rPr lang="en-GB" altLang="aa-ET" dirty="0">
                <a:hlinkClick r:id="rId5" tooltip="Industrialisation"/>
              </a:rPr>
              <a:t>industrialization</a:t>
            </a:r>
            <a:r>
              <a:rPr lang="en-GB" altLang="aa-ET" dirty="0"/>
              <a:t>, </a:t>
            </a:r>
            <a:r>
              <a:rPr lang="en-GB" altLang="aa-ET" dirty="0">
                <a:hlinkClick r:id="rId6" tooltip="Pollution"/>
              </a:rPr>
              <a:t>pollution</a:t>
            </a:r>
            <a:r>
              <a:rPr lang="en-GB" altLang="aa-ET" dirty="0"/>
              <a:t>, and </a:t>
            </a:r>
            <a:r>
              <a:rPr lang="en-GB" altLang="aa-ET" dirty="0">
                <a:hlinkClick r:id="rId7" tooltip="Resource depletion"/>
              </a:rPr>
              <a:t>consumption of </a:t>
            </a:r>
            <a:r>
              <a:rPr lang="en-GB" altLang="aa-ET" dirty="0" err="1">
                <a:hlinkClick r:id="rId7" tooltip="Resource depletion"/>
              </a:rPr>
              <a:t>nonrenewable</a:t>
            </a:r>
            <a:r>
              <a:rPr lang="en-GB" altLang="aa-ET" dirty="0">
                <a:hlinkClick r:id="rId7" tooltip="Resource depletion"/>
              </a:rPr>
              <a:t> natural resources</a:t>
            </a:r>
            <a:endParaRPr lang="de-CH" altLang="en-US" dirty="0"/>
          </a:p>
          <a:p>
            <a:pPr eaLnBrk="1" hangingPunct="1">
              <a:spcBef>
                <a:spcPct val="0"/>
              </a:spcBef>
            </a:pPr>
            <a:endParaRPr lang="de-CH" altLang="en-US" dirty="0"/>
          </a:p>
          <a:p>
            <a:pPr eaLnBrk="1" hangingPunct="1">
              <a:spcBef>
                <a:spcPct val="0"/>
              </a:spcBef>
            </a:pPr>
            <a:r>
              <a:rPr lang="de-CH" altLang="en-US" dirty="0"/>
              <a:t>_____________________________________</a:t>
            </a:r>
          </a:p>
          <a:p>
            <a:pPr eaLnBrk="1" hangingPunct="1">
              <a:spcBef>
                <a:spcPct val="0"/>
              </a:spcBef>
            </a:pPr>
            <a:r>
              <a:rPr lang="de-CH" altLang="en-US" dirty="0"/>
              <a:t>Limited </a:t>
            </a:r>
            <a:r>
              <a:rPr lang="de-CH" altLang="en-US" dirty="0" err="1"/>
              <a:t>resources</a:t>
            </a:r>
            <a:r>
              <a:rPr lang="de-CH" altLang="en-US" dirty="0"/>
              <a:t> -&gt; </a:t>
            </a:r>
            <a:r>
              <a:rPr lang="de-CH" altLang="en-US" dirty="0" err="1"/>
              <a:t>industrial</a:t>
            </a:r>
            <a:r>
              <a:rPr lang="de-CH" altLang="en-US" dirty="0"/>
              <a:t> slow down -&gt; </a:t>
            </a:r>
            <a:r>
              <a:rPr lang="de-CH" altLang="en-US" dirty="0" err="1"/>
              <a:t>less</a:t>
            </a:r>
            <a:r>
              <a:rPr lang="de-CH" altLang="en-US" dirty="0"/>
              <a:t> </a:t>
            </a:r>
            <a:r>
              <a:rPr lang="de-CH" altLang="en-US" dirty="0" err="1"/>
              <a:t>food</a:t>
            </a:r>
            <a:r>
              <a:rPr lang="de-CH" altLang="en-US" dirty="0"/>
              <a:t> after a </a:t>
            </a:r>
            <a:r>
              <a:rPr lang="de-CH" altLang="en-US" dirty="0" err="1"/>
              <a:t>while</a:t>
            </a:r>
            <a:r>
              <a:rPr lang="de-CH" altLang="en-US" dirty="0"/>
              <a:t> so </a:t>
            </a:r>
            <a:r>
              <a:rPr lang="de-CH" altLang="en-US" dirty="0" err="1"/>
              <a:t>less</a:t>
            </a:r>
            <a:r>
              <a:rPr lang="de-CH" altLang="en-US" dirty="0"/>
              <a:t> </a:t>
            </a:r>
            <a:r>
              <a:rPr lang="de-CH" altLang="en-US" dirty="0" err="1"/>
              <a:t>population</a:t>
            </a:r>
            <a:r>
              <a:rPr lang="de-CH" altLang="en-US" dirty="0"/>
              <a:t>… </a:t>
            </a:r>
          </a:p>
          <a:p>
            <a:pPr eaLnBrk="1" hangingPunct="1">
              <a:spcBef>
                <a:spcPct val="0"/>
              </a:spcBef>
            </a:pPr>
            <a:endParaRPr lang="de-CH" altLang="en-US" dirty="0"/>
          </a:p>
          <a:p>
            <a:pPr eaLnBrk="1" hangingPunct="1">
              <a:spcBef>
                <a:spcPct val="0"/>
              </a:spcBef>
            </a:pPr>
            <a:r>
              <a:rPr lang="de-CH" altLang="en-US" dirty="0" err="1"/>
              <a:t>Supposedly</a:t>
            </a:r>
            <a:r>
              <a:rPr lang="de-CH" altLang="en-US" dirty="0"/>
              <a:t> </a:t>
            </a:r>
            <a:r>
              <a:rPr lang="de-CH" altLang="en-US" dirty="0" err="1"/>
              <a:t>the</a:t>
            </a:r>
            <a:r>
              <a:rPr lang="de-CH" altLang="en-US" dirty="0"/>
              <a:t> </a:t>
            </a:r>
            <a:r>
              <a:rPr lang="de-CH" altLang="en-US" dirty="0" err="1"/>
              <a:t>first</a:t>
            </a:r>
            <a:r>
              <a:rPr lang="de-CH" altLang="en-US" dirty="0"/>
              <a:t> time </a:t>
            </a:r>
            <a:r>
              <a:rPr lang="de-CH" altLang="en-US" dirty="0" err="1"/>
              <a:t>the</a:t>
            </a:r>
            <a:r>
              <a:rPr lang="de-CH" altLang="en-US" dirty="0"/>
              <a:t> </a:t>
            </a:r>
            <a:r>
              <a:rPr lang="de-CH" altLang="en-US" dirty="0" err="1"/>
              <a:t>word</a:t>
            </a:r>
            <a:r>
              <a:rPr lang="de-CH" altLang="en-US" dirty="0"/>
              <a:t> «</a:t>
            </a:r>
            <a:r>
              <a:rPr lang="de-CH" altLang="en-US" dirty="0" err="1"/>
              <a:t>sustainable</a:t>
            </a:r>
            <a:r>
              <a:rPr lang="de-CH" altLang="en-US" dirty="0"/>
              <a:t>» </a:t>
            </a:r>
            <a:r>
              <a:rPr lang="de-CH" altLang="en-US" dirty="0" err="1"/>
              <a:t>shows</a:t>
            </a:r>
            <a:r>
              <a:rPr lang="de-CH" altLang="en-US" dirty="0"/>
              <a:t> </a:t>
            </a:r>
            <a:r>
              <a:rPr lang="de-CH" altLang="en-US" dirty="0" err="1"/>
              <a:t>up</a:t>
            </a:r>
            <a:r>
              <a:rPr lang="de-CH" altLang="en-US" dirty="0"/>
              <a:t> in </a:t>
            </a:r>
            <a:r>
              <a:rPr lang="de-CH" altLang="en-US" dirty="0" err="1"/>
              <a:t>the</a:t>
            </a:r>
            <a:r>
              <a:rPr lang="de-CH" altLang="en-US" dirty="0"/>
              <a:t>  </a:t>
            </a:r>
            <a:r>
              <a:rPr lang="de-CH" altLang="en-US" dirty="0" err="1"/>
              <a:t>book</a:t>
            </a:r>
            <a:endParaRPr lang="de-CH" altLang="en-US" dirty="0"/>
          </a:p>
          <a:p>
            <a:pPr eaLnBrk="1" hangingPunct="1">
              <a:spcBef>
                <a:spcPct val="0"/>
              </a:spcBef>
            </a:pPr>
            <a:endParaRPr lang="de-CH" altLang="en-US" dirty="0"/>
          </a:p>
          <a:p>
            <a:pPr eaLnBrk="1" hangingPunct="1">
              <a:spcBef>
                <a:spcPct val="0"/>
              </a:spcBef>
            </a:pPr>
            <a:r>
              <a:rPr lang="de-CH" altLang="en-US" dirty="0"/>
              <a:t>First </a:t>
            </a:r>
            <a:r>
              <a:rPr lang="de-CH" altLang="en-US" dirty="0" err="1"/>
              <a:t>kind</a:t>
            </a:r>
            <a:r>
              <a:rPr lang="de-CH" altLang="en-US" dirty="0"/>
              <a:t> </a:t>
            </a:r>
            <a:r>
              <a:rPr lang="de-CH" altLang="en-US" dirty="0" err="1"/>
              <a:t>of</a:t>
            </a:r>
            <a:r>
              <a:rPr lang="de-CH" altLang="en-US" dirty="0"/>
              <a:t> </a:t>
            </a:r>
            <a:r>
              <a:rPr lang="de-CH" altLang="en-US" dirty="0" err="1"/>
              <a:t>co,puter</a:t>
            </a:r>
            <a:r>
              <a:rPr lang="de-CH" altLang="en-US" dirty="0"/>
              <a:t> </a:t>
            </a:r>
            <a:r>
              <a:rPr lang="de-CH" altLang="en-US" dirty="0" err="1"/>
              <a:t>model</a:t>
            </a:r>
            <a:r>
              <a:rPr lang="de-CH" altLang="en-US" dirty="0"/>
              <a:t>, </a:t>
            </a:r>
            <a:r>
              <a:rPr lang="de-CH" altLang="en-US" dirty="0" err="1"/>
              <a:t>taking</a:t>
            </a:r>
            <a:r>
              <a:rPr lang="de-CH" altLang="en-US" dirty="0"/>
              <a:t> </a:t>
            </a:r>
            <a:r>
              <a:rPr lang="de-CH" altLang="en-US" dirty="0" err="1"/>
              <a:t>into</a:t>
            </a:r>
            <a:r>
              <a:rPr lang="de-CH" altLang="en-US" dirty="0"/>
              <a:t> </a:t>
            </a:r>
            <a:r>
              <a:rPr lang="de-CH" altLang="en-US" dirty="0" err="1"/>
              <a:t>account</a:t>
            </a:r>
            <a:r>
              <a:rPr lang="de-CH" altLang="en-US" dirty="0"/>
              <a:t> </a:t>
            </a:r>
            <a:r>
              <a:rPr lang="de-CH" altLang="en-US" dirty="0" err="1"/>
              <a:t>things</a:t>
            </a:r>
            <a:r>
              <a:rPr lang="de-CH" altLang="en-US" dirty="0"/>
              <a:t> like</a:t>
            </a:r>
          </a:p>
          <a:p>
            <a:pPr eaLnBrk="1" hangingPunct="1">
              <a:spcBef>
                <a:spcPct val="0"/>
              </a:spcBef>
            </a:pPr>
            <a:endParaRPr lang="de-CH" altLang="en-US" dirty="0"/>
          </a:p>
          <a:p>
            <a:pPr eaLnBrk="1" hangingPunct="1">
              <a:spcBef>
                <a:spcPct val="0"/>
              </a:spcBef>
            </a:pPr>
            <a:endParaRPr lang="de-CH" altLang="en-US" dirty="0"/>
          </a:p>
          <a:p>
            <a:pPr eaLnBrk="1" hangingPunct="1">
              <a:spcBef>
                <a:spcPct val="0"/>
              </a:spcBef>
            </a:pPr>
            <a:r>
              <a:rPr lang="de-CH" altLang="en-US" dirty="0"/>
              <a:t>«The "</a:t>
            </a:r>
            <a:r>
              <a:rPr lang="de-CH" altLang="en-US" dirty="0" err="1"/>
              <a:t>standard</a:t>
            </a:r>
            <a:r>
              <a:rPr lang="de-CH" altLang="en-US" dirty="0"/>
              <a:t>" </a:t>
            </a:r>
            <a:r>
              <a:rPr lang="de-CH" altLang="en-US" dirty="0" err="1"/>
              <a:t>world</a:t>
            </a:r>
            <a:r>
              <a:rPr lang="de-CH" altLang="en-US" dirty="0"/>
              <a:t> </a:t>
            </a:r>
            <a:r>
              <a:rPr lang="de-CH" altLang="en-US" dirty="0" err="1"/>
              <a:t>model</a:t>
            </a:r>
            <a:r>
              <a:rPr lang="de-CH" altLang="en-US" dirty="0"/>
              <a:t> </a:t>
            </a:r>
            <a:r>
              <a:rPr lang="de-CH" altLang="en-US" dirty="0" err="1"/>
              <a:t>run</a:t>
            </a:r>
            <a:r>
              <a:rPr lang="de-CH" altLang="en-US" dirty="0"/>
              <a:t> </a:t>
            </a:r>
            <a:r>
              <a:rPr lang="de-CH" altLang="en-US" dirty="0" err="1"/>
              <a:t>assumes</a:t>
            </a:r>
            <a:r>
              <a:rPr lang="de-CH" altLang="en-US" dirty="0"/>
              <a:t> </a:t>
            </a:r>
            <a:r>
              <a:rPr lang="de-CH" altLang="en-US" dirty="0" err="1"/>
              <a:t>no</a:t>
            </a:r>
            <a:r>
              <a:rPr lang="de-CH" altLang="en-US" dirty="0"/>
              <a:t> </a:t>
            </a:r>
            <a:r>
              <a:rPr lang="de-CH" altLang="en-US" dirty="0" err="1"/>
              <a:t>major</a:t>
            </a:r>
            <a:r>
              <a:rPr lang="de-CH" altLang="en-US" dirty="0"/>
              <a:t> </a:t>
            </a:r>
            <a:r>
              <a:rPr lang="de-CH" altLang="en-US" dirty="0" err="1"/>
              <a:t>change</a:t>
            </a:r>
            <a:r>
              <a:rPr lang="de-CH" altLang="en-US" dirty="0"/>
              <a:t> in </a:t>
            </a:r>
            <a:r>
              <a:rPr lang="de-CH" altLang="en-US" dirty="0" err="1"/>
              <a:t>the</a:t>
            </a:r>
            <a:r>
              <a:rPr lang="de-CH" altLang="en-US" dirty="0"/>
              <a:t> </a:t>
            </a:r>
            <a:r>
              <a:rPr lang="de-CH" altLang="en-US" dirty="0" err="1"/>
              <a:t>physical</a:t>
            </a:r>
            <a:r>
              <a:rPr lang="de-CH" altLang="en-US" dirty="0"/>
              <a:t>, </a:t>
            </a:r>
            <a:r>
              <a:rPr lang="de-CH" altLang="en-US" dirty="0" err="1"/>
              <a:t>economic</a:t>
            </a:r>
            <a:r>
              <a:rPr lang="de-CH" altLang="en-US" dirty="0"/>
              <a:t>, </a:t>
            </a:r>
            <a:r>
              <a:rPr lang="de-CH" altLang="en-US" dirty="0" err="1"/>
              <a:t>or</a:t>
            </a:r>
            <a:r>
              <a:rPr lang="de-CH" altLang="en-US" dirty="0"/>
              <a:t> social </a:t>
            </a:r>
            <a:r>
              <a:rPr lang="de-CH" altLang="en-US" dirty="0" err="1"/>
              <a:t>relationships</a:t>
            </a:r>
            <a:r>
              <a:rPr lang="de-CH" altLang="en-US" dirty="0"/>
              <a:t> </a:t>
            </a:r>
            <a:r>
              <a:rPr lang="de-CH" altLang="en-US" dirty="0" err="1"/>
              <a:t>that</a:t>
            </a:r>
            <a:r>
              <a:rPr lang="de-CH" altLang="en-US" dirty="0"/>
              <a:t> </a:t>
            </a:r>
            <a:r>
              <a:rPr lang="de-CH" altLang="en-US" dirty="0" err="1"/>
              <a:t>have</a:t>
            </a:r>
            <a:r>
              <a:rPr lang="de-CH" altLang="en-US" dirty="0"/>
              <a:t> </a:t>
            </a:r>
            <a:r>
              <a:rPr lang="de-CH" altLang="en-US" dirty="0" err="1"/>
              <a:t>historically</a:t>
            </a:r>
            <a:r>
              <a:rPr lang="de-CH" altLang="en-US" dirty="0"/>
              <a:t> </a:t>
            </a:r>
            <a:r>
              <a:rPr lang="de-CH" altLang="en-US" dirty="0" err="1"/>
              <a:t>governed</a:t>
            </a:r>
            <a:r>
              <a:rPr lang="de-CH" altLang="en-US" dirty="0"/>
              <a:t> </a:t>
            </a:r>
            <a:r>
              <a:rPr lang="de-CH" altLang="en-US" dirty="0" err="1"/>
              <a:t>the</a:t>
            </a:r>
            <a:r>
              <a:rPr lang="de-CH" altLang="en-US" dirty="0"/>
              <a:t> </a:t>
            </a:r>
            <a:r>
              <a:rPr lang="de-CH" altLang="en-US" dirty="0" err="1"/>
              <a:t>development</a:t>
            </a:r>
            <a:r>
              <a:rPr lang="de-CH" altLang="en-US" dirty="0"/>
              <a:t> </a:t>
            </a:r>
            <a:r>
              <a:rPr lang="de-CH" altLang="en-US" dirty="0" err="1"/>
              <a:t>of</a:t>
            </a:r>
            <a:r>
              <a:rPr lang="de-CH" altLang="en-US" dirty="0"/>
              <a:t> </a:t>
            </a:r>
            <a:r>
              <a:rPr lang="de-CH" altLang="en-US" dirty="0" err="1"/>
              <a:t>the</a:t>
            </a:r>
            <a:r>
              <a:rPr lang="de-CH" altLang="en-US" dirty="0"/>
              <a:t> </a:t>
            </a:r>
            <a:r>
              <a:rPr lang="de-CH" altLang="en-US" dirty="0" err="1"/>
              <a:t>world</a:t>
            </a:r>
            <a:r>
              <a:rPr lang="de-CH" altLang="en-US" dirty="0"/>
              <a:t> </a:t>
            </a:r>
            <a:r>
              <a:rPr lang="de-CH" altLang="en-US" dirty="0" err="1"/>
              <a:t>system</a:t>
            </a:r>
            <a:r>
              <a:rPr lang="de-CH" altLang="en-US" dirty="0"/>
              <a:t>. All variables </a:t>
            </a:r>
            <a:r>
              <a:rPr lang="de-CH" altLang="en-US" dirty="0" err="1"/>
              <a:t>plotted</a:t>
            </a:r>
            <a:r>
              <a:rPr lang="de-CH" altLang="en-US" dirty="0"/>
              <a:t> </a:t>
            </a:r>
            <a:r>
              <a:rPr lang="de-CH" altLang="en-US" dirty="0" err="1"/>
              <a:t>here</a:t>
            </a:r>
            <a:r>
              <a:rPr lang="de-CH" altLang="en-US" dirty="0"/>
              <a:t> follow </a:t>
            </a:r>
            <a:r>
              <a:rPr lang="de-CH" altLang="en-US" dirty="0" err="1"/>
              <a:t>historical</a:t>
            </a:r>
            <a:r>
              <a:rPr lang="de-CH" altLang="en-US" dirty="0"/>
              <a:t> </a:t>
            </a:r>
            <a:r>
              <a:rPr lang="de-CH" altLang="en-US" dirty="0" err="1"/>
              <a:t>values</a:t>
            </a:r>
            <a:r>
              <a:rPr lang="de-CH" altLang="en-US" dirty="0"/>
              <a:t> </a:t>
            </a:r>
            <a:r>
              <a:rPr lang="de-CH" altLang="en-US" dirty="0" err="1"/>
              <a:t>from</a:t>
            </a:r>
            <a:r>
              <a:rPr lang="de-CH" altLang="en-US" dirty="0"/>
              <a:t> 1900 </a:t>
            </a:r>
            <a:r>
              <a:rPr lang="de-CH" altLang="en-US" dirty="0" err="1"/>
              <a:t>to</a:t>
            </a:r>
            <a:r>
              <a:rPr lang="de-CH" altLang="en-US" dirty="0"/>
              <a:t> 1970. </a:t>
            </a:r>
            <a:r>
              <a:rPr lang="de-CH" altLang="en-US" b="1" dirty="0"/>
              <a:t>Food, </a:t>
            </a:r>
            <a:r>
              <a:rPr lang="de-CH" altLang="en-US" b="1" dirty="0" err="1"/>
              <a:t>industrial</a:t>
            </a:r>
            <a:r>
              <a:rPr lang="de-CH" altLang="en-US" b="1" dirty="0"/>
              <a:t> </a:t>
            </a:r>
            <a:r>
              <a:rPr lang="de-CH" altLang="en-US" b="1" dirty="0" err="1"/>
              <a:t>output</a:t>
            </a:r>
            <a:r>
              <a:rPr lang="de-CH" altLang="en-US" b="1" dirty="0"/>
              <a:t>, and </a:t>
            </a:r>
            <a:r>
              <a:rPr lang="de-CH" altLang="en-US" b="1" dirty="0" err="1"/>
              <a:t>population</a:t>
            </a:r>
            <a:r>
              <a:rPr lang="de-CH" altLang="en-US" b="1" dirty="0"/>
              <a:t> </a:t>
            </a:r>
            <a:r>
              <a:rPr lang="de-CH" altLang="en-US" b="1" dirty="0" err="1"/>
              <a:t>grow</a:t>
            </a:r>
            <a:r>
              <a:rPr lang="de-CH" altLang="en-US" b="1" dirty="0"/>
              <a:t> </a:t>
            </a:r>
            <a:r>
              <a:rPr lang="de-CH" altLang="en-US" b="1" dirty="0" err="1"/>
              <a:t>exponentially</a:t>
            </a:r>
            <a:r>
              <a:rPr lang="de-CH" altLang="en-US" b="1" dirty="0"/>
              <a:t> </a:t>
            </a:r>
            <a:r>
              <a:rPr lang="de-CH" altLang="en-US" b="1" dirty="0" err="1"/>
              <a:t>until</a:t>
            </a:r>
            <a:r>
              <a:rPr lang="de-CH" altLang="en-US" b="1" dirty="0"/>
              <a:t> </a:t>
            </a:r>
            <a:r>
              <a:rPr lang="de-CH" altLang="en-US" b="1" dirty="0" err="1"/>
              <a:t>the</a:t>
            </a:r>
            <a:r>
              <a:rPr lang="de-CH" altLang="en-US" b="1" dirty="0"/>
              <a:t> </a:t>
            </a:r>
            <a:r>
              <a:rPr lang="de-CH" altLang="en-US" b="1" dirty="0" err="1"/>
              <a:t>rapidly</a:t>
            </a:r>
            <a:r>
              <a:rPr lang="de-CH" altLang="en-US" b="1" dirty="0"/>
              <a:t> </a:t>
            </a:r>
            <a:r>
              <a:rPr lang="de-CH" altLang="en-US" b="1" dirty="0" err="1"/>
              <a:t>diminishing</a:t>
            </a:r>
            <a:r>
              <a:rPr lang="de-CH" altLang="en-US" b="1" dirty="0"/>
              <a:t> </a:t>
            </a:r>
            <a:r>
              <a:rPr lang="de-CH" altLang="en-US" b="1" dirty="0" err="1"/>
              <a:t>resource</a:t>
            </a:r>
            <a:r>
              <a:rPr lang="de-CH" altLang="en-US" b="1" dirty="0"/>
              <a:t> </a:t>
            </a:r>
            <a:r>
              <a:rPr lang="de-CH" altLang="en-US" b="1" dirty="0" err="1"/>
              <a:t>base</a:t>
            </a:r>
            <a:r>
              <a:rPr lang="de-CH" altLang="en-US" b="1" dirty="0"/>
              <a:t> </a:t>
            </a:r>
            <a:r>
              <a:rPr lang="de-CH" altLang="en-US" b="1" dirty="0" err="1"/>
              <a:t>forces</a:t>
            </a:r>
            <a:r>
              <a:rPr lang="de-CH" altLang="en-US" b="1" dirty="0"/>
              <a:t> a </a:t>
            </a:r>
            <a:r>
              <a:rPr lang="de-CH" altLang="en-US" b="1" dirty="0" err="1"/>
              <a:t>slowdown</a:t>
            </a:r>
            <a:r>
              <a:rPr lang="de-CH" altLang="en-US" b="1" dirty="0"/>
              <a:t> </a:t>
            </a:r>
            <a:br>
              <a:rPr lang="de-CH" altLang="en-US" b="1" dirty="0"/>
            </a:br>
            <a:r>
              <a:rPr lang="de-CH" altLang="en-US" b="1" dirty="0"/>
              <a:t>in </a:t>
            </a:r>
            <a:r>
              <a:rPr lang="de-CH" altLang="en-US" b="1" dirty="0" err="1"/>
              <a:t>industrial</a:t>
            </a:r>
            <a:r>
              <a:rPr lang="de-CH" altLang="en-US" b="1" dirty="0"/>
              <a:t> </a:t>
            </a:r>
            <a:r>
              <a:rPr lang="de-CH" altLang="en-US" b="1" dirty="0" err="1"/>
              <a:t>growth</a:t>
            </a:r>
            <a:r>
              <a:rPr lang="de-CH" altLang="en-US" b="1" dirty="0"/>
              <a:t>. </a:t>
            </a:r>
            <a:r>
              <a:rPr lang="de-CH" altLang="en-US" b="1" dirty="0" err="1"/>
              <a:t>Because</a:t>
            </a:r>
            <a:r>
              <a:rPr lang="de-CH" altLang="en-US" b="1" dirty="0"/>
              <a:t> </a:t>
            </a:r>
            <a:r>
              <a:rPr lang="de-CH" altLang="en-US" b="1" dirty="0" err="1"/>
              <a:t>of</a:t>
            </a:r>
            <a:r>
              <a:rPr lang="de-CH" altLang="en-US" b="1" dirty="0"/>
              <a:t> </a:t>
            </a:r>
            <a:r>
              <a:rPr lang="de-CH" altLang="en-US" b="1" dirty="0" err="1"/>
              <a:t>natural</a:t>
            </a:r>
            <a:r>
              <a:rPr lang="de-CH" altLang="en-US" b="1" dirty="0"/>
              <a:t> </a:t>
            </a:r>
            <a:r>
              <a:rPr lang="de-CH" altLang="en-US" b="1" dirty="0" err="1"/>
              <a:t>delays</a:t>
            </a:r>
            <a:r>
              <a:rPr lang="de-CH" altLang="en-US" b="1" dirty="0"/>
              <a:t> in </a:t>
            </a:r>
            <a:r>
              <a:rPr lang="de-CH" altLang="en-US" b="1" dirty="0" err="1"/>
              <a:t>the</a:t>
            </a:r>
            <a:r>
              <a:rPr lang="de-CH" altLang="en-US" b="1" dirty="0"/>
              <a:t> </a:t>
            </a:r>
            <a:r>
              <a:rPr lang="de-CH" altLang="en-US" b="1" dirty="0" err="1"/>
              <a:t>system</a:t>
            </a:r>
            <a:r>
              <a:rPr lang="de-CH" altLang="en-US" b="1" dirty="0"/>
              <a:t>, </a:t>
            </a:r>
            <a:r>
              <a:rPr lang="de-CH" altLang="en-US" b="1" dirty="0" err="1"/>
              <a:t>both</a:t>
            </a:r>
            <a:r>
              <a:rPr lang="de-CH" altLang="en-US" b="1" dirty="0"/>
              <a:t> </a:t>
            </a:r>
            <a:r>
              <a:rPr lang="de-CH" altLang="en-US" b="1" dirty="0" err="1"/>
              <a:t>population</a:t>
            </a:r>
            <a:r>
              <a:rPr lang="de-CH" altLang="en-US" b="1" dirty="0"/>
              <a:t> and </a:t>
            </a:r>
            <a:r>
              <a:rPr lang="de-CH" altLang="en-US" b="1" dirty="0" err="1"/>
              <a:t>pollution</a:t>
            </a:r>
            <a:r>
              <a:rPr lang="de-CH" altLang="en-US" b="1" dirty="0"/>
              <a:t> </a:t>
            </a:r>
            <a:r>
              <a:rPr lang="de-CH" altLang="en-US" b="1" dirty="0" err="1"/>
              <a:t>continue</a:t>
            </a:r>
            <a:r>
              <a:rPr lang="de-CH" altLang="en-US" b="1" dirty="0"/>
              <a:t> </a:t>
            </a:r>
            <a:r>
              <a:rPr lang="de-CH" altLang="en-US" b="1" dirty="0" err="1"/>
              <a:t>to</a:t>
            </a:r>
            <a:r>
              <a:rPr lang="de-CH" altLang="en-US" b="1" dirty="0"/>
              <a:t> </a:t>
            </a:r>
            <a:r>
              <a:rPr lang="de-CH" altLang="en-US" b="1" dirty="0" err="1"/>
              <a:t>increase</a:t>
            </a:r>
            <a:r>
              <a:rPr lang="de-CH" altLang="en-US" b="1" dirty="0"/>
              <a:t> </a:t>
            </a:r>
            <a:r>
              <a:rPr lang="de-CH" altLang="en-US" b="1" dirty="0" err="1"/>
              <a:t>for</a:t>
            </a:r>
            <a:r>
              <a:rPr lang="de-CH" altLang="en-US" b="1" dirty="0"/>
              <a:t> </a:t>
            </a:r>
            <a:r>
              <a:rPr lang="de-CH" altLang="en-US" b="1" dirty="0" err="1"/>
              <a:t>some</a:t>
            </a:r>
            <a:r>
              <a:rPr lang="de-CH" altLang="en-US" b="1" dirty="0"/>
              <a:t> time after </a:t>
            </a:r>
            <a:r>
              <a:rPr lang="de-CH" altLang="en-US" b="1" dirty="0" err="1"/>
              <a:t>the</a:t>
            </a:r>
            <a:r>
              <a:rPr lang="de-CH" altLang="en-US" b="1" dirty="0"/>
              <a:t> </a:t>
            </a:r>
            <a:r>
              <a:rPr lang="de-CH" altLang="en-US" b="1" dirty="0" err="1"/>
              <a:t>peak</a:t>
            </a:r>
            <a:r>
              <a:rPr lang="de-CH" altLang="en-US" b="1" dirty="0"/>
              <a:t> </a:t>
            </a:r>
            <a:r>
              <a:rPr lang="de-CH" altLang="en-US" b="1" dirty="0" err="1"/>
              <a:t>of</a:t>
            </a:r>
            <a:r>
              <a:rPr lang="de-CH" altLang="en-US" b="1" dirty="0"/>
              <a:t> </a:t>
            </a:r>
            <a:r>
              <a:rPr lang="de-CH" altLang="en-US" b="1" dirty="0" err="1"/>
              <a:t>industrialization</a:t>
            </a:r>
            <a:r>
              <a:rPr lang="de-CH" altLang="en-US" b="1" dirty="0"/>
              <a:t>. Population </a:t>
            </a:r>
            <a:r>
              <a:rPr lang="de-CH" altLang="en-US" b="1" dirty="0" err="1"/>
              <a:t>growth</a:t>
            </a:r>
            <a:r>
              <a:rPr lang="de-CH" altLang="en-US" b="1" dirty="0"/>
              <a:t> </a:t>
            </a:r>
            <a:r>
              <a:rPr lang="de-CH" altLang="en-US" b="1" dirty="0" err="1"/>
              <a:t>is</a:t>
            </a:r>
            <a:r>
              <a:rPr lang="de-CH" altLang="en-US" b="1" dirty="0"/>
              <a:t> </a:t>
            </a:r>
            <a:r>
              <a:rPr lang="de-CH" altLang="en-US" b="1" dirty="0" err="1"/>
              <a:t>finally</a:t>
            </a:r>
            <a:r>
              <a:rPr lang="de-CH" altLang="en-US" b="1" dirty="0"/>
              <a:t> </a:t>
            </a:r>
            <a:r>
              <a:rPr lang="de-CH" altLang="en-US" b="1" dirty="0" err="1"/>
              <a:t>halted</a:t>
            </a:r>
            <a:r>
              <a:rPr lang="de-CH" altLang="en-US" b="1" dirty="0"/>
              <a:t> </a:t>
            </a:r>
            <a:r>
              <a:rPr lang="de-CH" altLang="en-US" b="1" dirty="0" err="1"/>
              <a:t>by</a:t>
            </a:r>
            <a:r>
              <a:rPr lang="de-CH" altLang="en-US" b="1" dirty="0"/>
              <a:t> a </a:t>
            </a:r>
            <a:r>
              <a:rPr lang="de-CH" altLang="en-US" b="1" dirty="0" err="1"/>
              <a:t>rise</a:t>
            </a:r>
            <a:r>
              <a:rPr lang="de-CH" altLang="en-US" b="1" dirty="0"/>
              <a:t> in </a:t>
            </a:r>
            <a:r>
              <a:rPr lang="de-CH" altLang="en-US" b="1" dirty="0" err="1"/>
              <a:t>the</a:t>
            </a:r>
            <a:r>
              <a:rPr lang="de-CH" altLang="en-US" b="1" dirty="0"/>
              <a:t> </a:t>
            </a:r>
            <a:r>
              <a:rPr lang="de-CH" altLang="en-US" b="1" dirty="0" err="1"/>
              <a:t>death</a:t>
            </a:r>
            <a:r>
              <a:rPr lang="de-CH" altLang="en-US" b="1" dirty="0"/>
              <a:t> rate due </a:t>
            </a:r>
            <a:r>
              <a:rPr lang="de-CH" altLang="en-US" b="1" dirty="0" err="1"/>
              <a:t>to</a:t>
            </a:r>
            <a:r>
              <a:rPr lang="de-CH" altLang="en-US" b="1" dirty="0"/>
              <a:t> </a:t>
            </a:r>
            <a:r>
              <a:rPr lang="de-CH" altLang="en-US" b="1" dirty="0" err="1"/>
              <a:t>decreased</a:t>
            </a:r>
            <a:r>
              <a:rPr lang="de-CH" altLang="en-US" b="1" dirty="0"/>
              <a:t> </a:t>
            </a:r>
            <a:r>
              <a:rPr lang="de-CH" altLang="en-US" b="1" dirty="0" err="1"/>
              <a:t>food</a:t>
            </a:r>
            <a:r>
              <a:rPr lang="de-CH" altLang="en-US" b="1" dirty="0"/>
              <a:t> and </a:t>
            </a:r>
            <a:r>
              <a:rPr lang="de-CH" altLang="en-US" b="1" dirty="0" err="1"/>
              <a:t>medical</a:t>
            </a:r>
            <a:r>
              <a:rPr lang="de-CH" altLang="en-US" b="1" dirty="0"/>
              <a:t> </a:t>
            </a:r>
            <a:r>
              <a:rPr lang="de-CH" altLang="en-US" b="1" dirty="0" err="1"/>
              <a:t>services</a:t>
            </a:r>
            <a:r>
              <a:rPr lang="de-CH" altLang="en-US" b="1" dirty="0"/>
              <a:t>.» </a:t>
            </a:r>
            <a:r>
              <a:rPr lang="de-CH" altLang="en-US" b="1" dirty="0">
                <a:ea typeface="Calibri" panose="020F0502020204030204" pitchFamily="34" charset="0"/>
                <a:cs typeface="Times New Roman" panose="02020603050405020304" pitchFamily="18" charset="0"/>
              </a:rPr>
              <a:t>(Meadows et al. 1972:124) </a:t>
            </a:r>
            <a:endParaRPr lang="en-GB" altLang="en-US" b="1" dirty="0"/>
          </a:p>
          <a:p>
            <a:endParaRPr lang="en-GB" altLang="en-US" dirty="0"/>
          </a:p>
          <a:p>
            <a:r>
              <a:rPr lang="en-GB" altLang="en-US" dirty="0"/>
              <a:t>The earth is limited, probably </a:t>
            </a:r>
            <a:r>
              <a:rPr lang="en-GB" altLang="en-US" dirty="0" err="1"/>
              <a:t>un^limited</a:t>
            </a:r>
            <a:r>
              <a:rPr lang="en-GB" altLang="en-US" dirty="0"/>
              <a:t> growth is not possible</a:t>
            </a:r>
            <a:r>
              <a:rPr lang="aa-ET" altLang="en-US" dirty="0"/>
              <a:t>…</a:t>
            </a:r>
            <a:r>
              <a:rPr lang="en-GB" altLang="en-US" dirty="0"/>
              <a:t> </a:t>
            </a:r>
          </a:p>
          <a:p>
            <a:r>
              <a:rPr lang="en-GB" altLang="en-US" dirty="0"/>
              <a:t>Book is very much in its time, but also was a very important influencer</a:t>
            </a:r>
            <a:r>
              <a:rPr lang="aa-ET" altLang="en-US" dirty="0"/>
              <a:t>…</a:t>
            </a:r>
            <a:endParaRPr lang="en-GB" altLang="en-US" dirty="0"/>
          </a:p>
          <a:p>
            <a:r>
              <a:rPr lang="en-GB" altLang="en-US" dirty="0"/>
              <a:t>Comparatively critical discourse</a:t>
            </a:r>
          </a:p>
          <a:p>
            <a:endParaRPr lang="en-GB" altLang="en-US" dirty="0"/>
          </a:p>
          <a:p>
            <a:r>
              <a:rPr lang="en-GB" altLang="en-US" dirty="0"/>
              <a:t>Criticism: Does not account for technological change, for the change in the notion of resources and the use of those</a:t>
            </a:r>
          </a:p>
          <a:p>
            <a:endParaRPr lang="en-GB" altLang="en-US" dirty="0"/>
          </a:p>
        </p:txBody>
      </p:sp>
      <p:sp>
        <p:nvSpPr>
          <p:cNvPr id="40964" name="Foliennummernplatzhalter 3">
            <a:extLst>
              <a:ext uri="{FF2B5EF4-FFF2-40B4-BE49-F238E27FC236}">
                <a16:creationId xmlns:a16="http://schemas.microsoft.com/office/drawing/2014/main" id="{BE72A18E-891D-7D45-AAFB-0346A387E8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47B5EBC-D518-4932-9D53-6B1E04ECB32A}" type="slidenum">
              <a:rPr lang="de-CH" altLang="aa-ET" smtClean="0"/>
              <a:pPr/>
              <a:t>32</a:t>
            </a:fld>
            <a:endParaRPr lang="de-CH" altLang="aa-ET"/>
          </a:p>
        </p:txBody>
      </p:sp>
    </p:spTree>
    <p:extLst>
      <p:ext uri="{BB962C8B-B14F-4D97-AF65-F5344CB8AC3E}">
        <p14:creationId xmlns:p14="http://schemas.microsoft.com/office/powerpoint/2010/main" val="3654071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2CFD0A33-B39A-3592-D97F-E50B3D634E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B61C4422-76B4-5E90-52A9-A97D2CBD85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cs typeface="Calibri"/>
            </a:endParaRPr>
          </a:p>
        </p:txBody>
      </p:sp>
      <p:sp>
        <p:nvSpPr>
          <p:cNvPr id="4" name="Footer Placeholder 3">
            <a:extLst>
              <a:ext uri="{FF2B5EF4-FFF2-40B4-BE49-F238E27FC236}">
                <a16:creationId xmlns:a16="http://schemas.microsoft.com/office/drawing/2014/main" id="{BE2B5D10-0322-1A9C-F6A8-B9B7161576A8}"/>
              </a:ext>
            </a:extLst>
          </p:cNvPr>
          <p:cNvSpPr>
            <a:spLocks noGrp="1"/>
          </p:cNvSpPr>
          <p:nvPr>
            <p:ph type="ftr" sz="quarter" idx="4"/>
          </p:nvPr>
        </p:nvSpPr>
        <p:spPr/>
        <p:txBody>
          <a:bodyPr/>
          <a:lstStyle/>
          <a:p>
            <a:pPr>
              <a:defRPr/>
            </a:pPr>
            <a:endParaRPr lang="de-CH"/>
          </a:p>
        </p:txBody>
      </p:sp>
      <p:sp>
        <p:nvSpPr>
          <p:cNvPr id="43013" name="Slide Number Placeholder 4">
            <a:extLst>
              <a:ext uri="{FF2B5EF4-FFF2-40B4-BE49-F238E27FC236}">
                <a16:creationId xmlns:a16="http://schemas.microsoft.com/office/drawing/2014/main" id="{95ED22EC-4186-B3EB-AB90-F2434D24FC6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42E0B31-2A64-4A32-BBB6-56BC9A2CDE5D}" type="slidenum">
              <a:rPr lang="de-CH" altLang="aa-ET" smtClean="0"/>
              <a:pPr/>
              <a:t>33</a:t>
            </a:fld>
            <a:endParaRPr lang="de-CH" altLang="aa-ET"/>
          </a:p>
        </p:txBody>
      </p:sp>
    </p:spTree>
    <p:extLst>
      <p:ext uri="{BB962C8B-B14F-4D97-AF65-F5344CB8AC3E}">
        <p14:creationId xmlns:p14="http://schemas.microsoft.com/office/powerpoint/2010/main" val="1027530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D6CA9C9-EDDC-63E1-7E88-62769AC9F8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84F44044-60A4-635E-5A75-9CBE2F8C67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cs typeface="Calibri"/>
            </a:endParaRPr>
          </a:p>
          <a:p>
            <a:endParaRPr lang="en-GB" altLang="en-US"/>
          </a:p>
          <a:p>
            <a:endParaRPr lang="en-GB" altLang="en-US"/>
          </a:p>
          <a:p>
            <a:endParaRPr lang="en-GB" altLang="en-US"/>
          </a:p>
        </p:txBody>
      </p:sp>
      <p:sp>
        <p:nvSpPr>
          <p:cNvPr id="4" name="Footer Placeholder 3">
            <a:extLst>
              <a:ext uri="{FF2B5EF4-FFF2-40B4-BE49-F238E27FC236}">
                <a16:creationId xmlns:a16="http://schemas.microsoft.com/office/drawing/2014/main" id="{9AEBC67B-C471-C97E-562A-02199339EC7A}"/>
              </a:ext>
            </a:extLst>
          </p:cNvPr>
          <p:cNvSpPr>
            <a:spLocks noGrp="1"/>
          </p:cNvSpPr>
          <p:nvPr>
            <p:ph type="ftr" sz="quarter" idx="4"/>
          </p:nvPr>
        </p:nvSpPr>
        <p:spPr/>
        <p:txBody>
          <a:bodyPr/>
          <a:lstStyle/>
          <a:p>
            <a:pPr>
              <a:defRPr/>
            </a:pPr>
            <a:endParaRPr lang="de-CH"/>
          </a:p>
        </p:txBody>
      </p:sp>
      <p:sp>
        <p:nvSpPr>
          <p:cNvPr id="54277" name="Slide Number Placeholder 4">
            <a:extLst>
              <a:ext uri="{FF2B5EF4-FFF2-40B4-BE49-F238E27FC236}">
                <a16:creationId xmlns:a16="http://schemas.microsoft.com/office/drawing/2014/main" id="{7AD669E1-7994-EDE3-6A70-4FDBF4C942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9C3DFAE-0437-476D-B83F-881A98A0F805}" type="slidenum">
              <a:rPr lang="de-CH" altLang="aa-ET" smtClean="0"/>
              <a:pPr/>
              <a:t>35</a:t>
            </a:fld>
            <a:endParaRPr lang="de-CH" altLang="aa-ET"/>
          </a:p>
        </p:txBody>
      </p:sp>
    </p:spTree>
    <p:extLst>
      <p:ext uri="{BB962C8B-B14F-4D97-AF65-F5344CB8AC3E}">
        <p14:creationId xmlns:p14="http://schemas.microsoft.com/office/powerpoint/2010/main" val="33668595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lienbildplatzhalter 1">
            <a:extLst>
              <a:ext uri="{FF2B5EF4-FFF2-40B4-BE49-F238E27FC236}">
                <a16:creationId xmlns:a16="http://schemas.microsoft.com/office/drawing/2014/main" id="{6CFED6B0-CF88-C7AB-57B2-EE6BB2649C2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izenplatzhalter 2">
            <a:extLst>
              <a:ext uri="{FF2B5EF4-FFF2-40B4-BE49-F238E27FC236}">
                <a16:creationId xmlns:a16="http://schemas.microsoft.com/office/drawing/2014/main" id="{FEECBC26-A546-4FDD-BCE4-A311F6918B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t>The </a:t>
            </a:r>
            <a:r>
              <a:rPr lang="en-GB" b="1"/>
              <a:t>Millennium Development Goals</a:t>
            </a:r>
            <a:r>
              <a:rPr lang="en-GB"/>
              <a:t> (</a:t>
            </a:r>
            <a:r>
              <a:rPr lang="en-GB" b="1"/>
              <a:t>MDGs</a:t>
            </a:r>
            <a:r>
              <a:rPr lang="en-GB"/>
              <a:t>) were eight </a:t>
            </a:r>
            <a:r>
              <a:rPr lang="en-GB">
                <a:hlinkClick r:id="rId3"/>
              </a:rPr>
              <a:t>international development</a:t>
            </a:r>
            <a:r>
              <a:rPr lang="en-GB"/>
              <a:t> </a:t>
            </a:r>
            <a:r>
              <a:rPr lang="en-GB">
                <a:hlinkClick r:id="rId4"/>
              </a:rPr>
              <a:t>goals</a:t>
            </a:r>
            <a:r>
              <a:rPr lang="en-GB"/>
              <a:t> for the year 2015 that had been established following the </a:t>
            </a:r>
            <a:r>
              <a:rPr lang="en-GB">
                <a:hlinkClick r:id="rId5"/>
              </a:rPr>
              <a:t>Millennium Summit</a:t>
            </a:r>
            <a:r>
              <a:rPr lang="en-GB"/>
              <a:t> of the </a:t>
            </a:r>
            <a:r>
              <a:rPr lang="en-GB">
                <a:hlinkClick r:id="rId6"/>
              </a:rPr>
              <a:t>United Nations</a:t>
            </a:r>
            <a:r>
              <a:rPr lang="en-GB"/>
              <a:t> in 2000, following the adoption of the </a:t>
            </a:r>
            <a:r>
              <a:rPr lang="en-GB">
                <a:hlinkClick r:id="rId7"/>
              </a:rPr>
              <a:t>United Nations Millennium Declaration</a:t>
            </a:r>
            <a:r>
              <a:rPr lang="en-GB"/>
              <a:t>. These were based on the OECD DAC International Development Goals agreed by Development Ministers in the "Shaping the 21st Century Strategy". The </a:t>
            </a:r>
            <a:r>
              <a:rPr lang="en-GB">
                <a:hlinkClick r:id="rId8"/>
              </a:rPr>
              <a:t>Sustainable Development Goals</a:t>
            </a:r>
            <a:r>
              <a:rPr lang="en-GB"/>
              <a:t> (SDGs) succeeded the MDGs in 2016.</a:t>
            </a:r>
            <a:endParaRPr lang="en-US"/>
          </a:p>
          <a:p>
            <a:r>
              <a:rPr lang="en-GB"/>
              <a:t>All 191 </a:t>
            </a:r>
            <a:r>
              <a:rPr lang="en-GB">
                <a:hlinkClick r:id="rId9"/>
              </a:rPr>
              <a:t>United Nations member states</a:t>
            </a:r>
            <a:r>
              <a:rPr lang="en-GB"/>
              <a:t>, and at least 22 </a:t>
            </a:r>
            <a:r>
              <a:rPr lang="en-GB">
                <a:hlinkClick r:id="rId10"/>
              </a:rPr>
              <a:t>international organizations</a:t>
            </a:r>
            <a:r>
              <a:rPr lang="en-GB"/>
              <a:t>, committed to help achieve the following Millennium Development Goals by 2015:</a:t>
            </a:r>
            <a:endParaRPr lang="en-GB">
              <a:ea typeface="Calibri"/>
              <a:cs typeface="Calibri"/>
            </a:endParaRPr>
          </a:p>
          <a:p>
            <a:pPr marL="171450" indent="-171450">
              <a:buFont typeface="Arial"/>
              <a:buChar char="•"/>
            </a:pPr>
            <a:r>
              <a:rPr lang="en-GB"/>
              <a:t>To eradicate </a:t>
            </a:r>
            <a:r>
              <a:rPr lang="en-GB">
                <a:hlinkClick r:id="rId11"/>
              </a:rPr>
              <a:t>extreme poverty</a:t>
            </a:r>
            <a:r>
              <a:rPr lang="en-GB"/>
              <a:t> and </a:t>
            </a:r>
            <a:r>
              <a:rPr lang="en-GB">
                <a:hlinkClick r:id="rId12"/>
              </a:rPr>
              <a:t>hunger</a:t>
            </a:r>
            <a:endParaRPr lang="en-GB"/>
          </a:p>
          <a:p>
            <a:pPr marL="171450" indent="-171450">
              <a:buFont typeface="Arial"/>
              <a:buChar char="•"/>
            </a:pPr>
            <a:r>
              <a:rPr lang="en-GB"/>
              <a:t>To achieve </a:t>
            </a:r>
            <a:r>
              <a:rPr lang="en-GB">
                <a:hlinkClick r:id="rId13"/>
              </a:rPr>
              <a:t>universal primary education</a:t>
            </a:r>
            <a:endParaRPr lang="en-GB"/>
          </a:p>
          <a:p>
            <a:pPr marL="171450" indent="-171450">
              <a:buFont typeface="Arial"/>
              <a:buChar char="•"/>
            </a:pPr>
            <a:r>
              <a:rPr lang="en-GB"/>
              <a:t>To promote </a:t>
            </a:r>
            <a:r>
              <a:rPr lang="en-GB">
                <a:hlinkClick r:id="rId14"/>
              </a:rPr>
              <a:t>gender equality</a:t>
            </a:r>
            <a:r>
              <a:rPr lang="en-GB"/>
              <a:t> and empower women</a:t>
            </a:r>
            <a:endParaRPr lang="en-GB">
              <a:ea typeface="Calibri"/>
              <a:cs typeface="Calibri"/>
            </a:endParaRPr>
          </a:p>
          <a:p>
            <a:pPr marL="171450" indent="-171450">
              <a:buFont typeface="Arial"/>
              <a:buChar char="•"/>
            </a:pPr>
            <a:r>
              <a:rPr lang="en-GB"/>
              <a:t>To reduce </a:t>
            </a:r>
            <a:r>
              <a:rPr lang="en-GB">
                <a:hlinkClick r:id="rId15"/>
              </a:rPr>
              <a:t>child mortality</a:t>
            </a:r>
            <a:endParaRPr lang="en-GB"/>
          </a:p>
          <a:p>
            <a:pPr marL="171450" indent="-171450">
              <a:buFont typeface="Arial"/>
              <a:buChar char="•"/>
            </a:pPr>
            <a:r>
              <a:rPr lang="en-GB"/>
              <a:t>To improve </a:t>
            </a:r>
            <a:r>
              <a:rPr lang="en-GB">
                <a:hlinkClick r:id="rId16"/>
              </a:rPr>
              <a:t>maternal health</a:t>
            </a:r>
            <a:endParaRPr lang="en-GB"/>
          </a:p>
          <a:p>
            <a:pPr marL="171450" indent="-171450">
              <a:buFont typeface="Arial"/>
              <a:buChar char="•"/>
            </a:pPr>
            <a:r>
              <a:rPr lang="en-GB"/>
              <a:t>To combat </a:t>
            </a:r>
            <a:r>
              <a:rPr lang="en-GB">
                <a:hlinkClick r:id="rId17"/>
              </a:rPr>
              <a:t>HIV/AIDS</a:t>
            </a:r>
            <a:r>
              <a:rPr lang="en-GB"/>
              <a:t>, </a:t>
            </a:r>
            <a:r>
              <a:rPr lang="en-GB">
                <a:hlinkClick r:id="rId18"/>
              </a:rPr>
              <a:t>malaria</a:t>
            </a:r>
            <a:r>
              <a:rPr lang="en-GB"/>
              <a:t>, and other diseases</a:t>
            </a:r>
            <a:endParaRPr lang="en-GB">
              <a:ea typeface="Calibri"/>
              <a:cs typeface="Calibri"/>
            </a:endParaRPr>
          </a:p>
          <a:p>
            <a:pPr marL="171450" indent="-171450">
              <a:buFont typeface="Arial"/>
              <a:buChar char="•"/>
            </a:pPr>
            <a:r>
              <a:rPr lang="en-GB"/>
              <a:t>To ensure </a:t>
            </a:r>
            <a:r>
              <a:rPr lang="en-GB">
                <a:hlinkClick r:id="rId19"/>
              </a:rPr>
              <a:t>environmental sustainability</a:t>
            </a:r>
            <a:r>
              <a:rPr lang="en-GB">
                <a:hlinkClick r:id="rId20"/>
              </a:rPr>
              <a:t>[1]</a:t>
            </a:r>
            <a:endParaRPr lang="en-GB"/>
          </a:p>
          <a:p>
            <a:pPr marL="171450" indent="-171450">
              <a:buFont typeface="Arial"/>
              <a:buChar char="•"/>
            </a:pPr>
            <a:r>
              <a:rPr lang="en-GB"/>
              <a:t>To develop a global partnership for development</a:t>
            </a:r>
            <a:r>
              <a:rPr lang="en-GB">
                <a:hlinkClick r:id="rId21"/>
              </a:rPr>
              <a:t>[2]</a:t>
            </a:r>
            <a:endParaRPr lang="en-GB"/>
          </a:p>
          <a:p>
            <a:r>
              <a:rPr lang="en-GB"/>
              <a:t>Each goal had specific targets, and dates for achieving those targets. The eight goals were measured by 21 targets. To accelerate progress, the </a:t>
            </a:r>
            <a:r>
              <a:rPr lang="en-GB">
                <a:hlinkClick r:id="rId22"/>
              </a:rPr>
              <a:t>G8</a:t>
            </a:r>
            <a:r>
              <a:rPr lang="en-GB"/>
              <a:t> finance ministers agreed in June 2005 to provide enough funds to the </a:t>
            </a:r>
            <a:r>
              <a:rPr lang="en-GB">
                <a:hlinkClick r:id="rId23"/>
              </a:rPr>
              <a:t>World Bank</a:t>
            </a:r>
            <a:r>
              <a:rPr lang="en-GB"/>
              <a:t>, the </a:t>
            </a:r>
            <a:r>
              <a:rPr lang="en-GB">
                <a:hlinkClick r:id="rId24"/>
              </a:rPr>
              <a:t>International Monetary Fund</a:t>
            </a:r>
            <a:r>
              <a:rPr lang="en-GB"/>
              <a:t> (IMF) and the </a:t>
            </a:r>
            <a:r>
              <a:rPr lang="en-GB">
                <a:hlinkClick r:id="rId25"/>
              </a:rPr>
              <a:t>African Development Bank</a:t>
            </a:r>
            <a:r>
              <a:rPr lang="en-GB"/>
              <a:t> (AfDB) to cancel $40 to $55 billion in debt owed by members of the </a:t>
            </a:r>
            <a:r>
              <a:rPr lang="en-GB">
                <a:hlinkClick r:id="rId26"/>
              </a:rPr>
              <a:t>heavily indebted poor countries</a:t>
            </a:r>
            <a:r>
              <a:rPr lang="en-GB"/>
              <a:t> (HIPC) to allow them to redirect resources to programs for improving health and education and for alleviating poverty.</a:t>
            </a:r>
            <a:endParaRPr lang="en-GB">
              <a:ea typeface="Calibri"/>
              <a:cs typeface="Calibri"/>
            </a:endParaRPr>
          </a:p>
          <a:p>
            <a:r>
              <a:rPr lang="en-GB"/>
              <a:t>Interventions evaluated include (1) improvements required to meet the millennium development goals (MDG) for water supply (by halving by 2015 the proportion of those without access to safe drinking water), (2) meet the water MDG plus halving by 2015 the proportion of those without access to adequate sanitation, (3) increasing access to improved water and sanitation for everyone, (4) providing disinfection at point-of-use over and above increasing access to improved water supply and sanitation (5) providing regulated piped water supply in house and sewage connection with partial sewerage for everyone (Hutton, G. Evaluation of the Cost and Benefits of Water and Sanitation Improvements at the Global Level, 2004 WHO-Geneva)</a:t>
            </a:r>
            <a:endParaRPr lang="en-GB">
              <a:ea typeface="Calibri"/>
              <a:cs typeface="Calibri"/>
            </a:endParaRPr>
          </a:p>
          <a:p>
            <a:r>
              <a:rPr lang="en-GB"/>
              <a:t>Critics of the MDGs complained of a lack of analysis and justification behind the chosen objectives, and the difficulty or lack of measurements for some goals and uneven progress, among others. Although developed countries' aid for achieving the MDGs rose during the challenge period, more than half went for debt relief and much of the remainder going towards </a:t>
            </a:r>
            <a:r>
              <a:rPr lang="en-GB">
                <a:hlinkClick r:id="rId27"/>
              </a:rPr>
              <a:t>natural disaster</a:t>
            </a:r>
            <a:r>
              <a:rPr lang="en-GB"/>
              <a:t> relief and military aid, rather than further development.[</a:t>
            </a:r>
            <a:r>
              <a:rPr lang="en-GB" i="1">
                <a:hlinkClick r:id="rId28"/>
              </a:rPr>
              <a:t>citation needed</a:t>
            </a:r>
            <a:r>
              <a:rPr lang="en-GB"/>
              <a:t>]</a:t>
            </a:r>
            <a:endParaRPr lang="en-GB">
              <a:ea typeface="Calibri"/>
              <a:cs typeface="Calibri"/>
            </a:endParaRPr>
          </a:p>
          <a:p>
            <a:r>
              <a:rPr lang="en-GB"/>
              <a:t>As of 2013, progress towards the goals was uneven. Some countries achieved many goals, while others were not on track to realize any. A UN conference in September 2010 reviewed progress to date and adopted a global plan to achieve the eight goals by their target date. New commitments targeted women's and children's health, and new initiatives in the worldwide battle against poverty, hunger and disease.</a:t>
            </a:r>
            <a:endParaRPr lang="en-GB">
              <a:ea typeface="Calibri"/>
              <a:cs typeface="Calibri"/>
            </a:endParaRPr>
          </a:p>
          <a:p>
            <a:endParaRPr lang="en-GB" altLang="en-US">
              <a:ea typeface="Calibri"/>
              <a:cs typeface="Calibri"/>
            </a:endParaRPr>
          </a:p>
        </p:txBody>
      </p:sp>
      <p:sp>
        <p:nvSpPr>
          <p:cNvPr id="59396" name="Foliennummernplatzhalter 3">
            <a:extLst>
              <a:ext uri="{FF2B5EF4-FFF2-40B4-BE49-F238E27FC236}">
                <a16:creationId xmlns:a16="http://schemas.microsoft.com/office/drawing/2014/main" id="{12BD73B3-9CB1-31F2-EB1B-C886C5FD05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0462D73-86F6-4389-B211-A1865E725201}" type="slidenum">
              <a:rPr lang="de-CH" altLang="aa-ET" smtClean="0"/>
              <a:pPr/>
              <a:t>37</a:t>
            </a:fld>
            <a:endParaRPr lang="de-CH" altLang="aa-ET"/>
          </a:p>
        </p:txBody>
      </p:sp>
    </p:spTree>
    <p:extLst>
      <p:ext uri="{BB962C8B-B14F-4D97-AF65-F5344CB8AC3E}">
        <p14:creationId xmlns:p14="http://schemas.microsoft.com/office/powerpoint/2010/main" val="4236385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D3F618EB-2325-CCD8-7192-65E0AB19E0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8B3598D6-8B09-2078-911C-6B35DE2CA4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dirty="0"/>
              <a:t>These nine planetary boundaries were first proposed by former centre director Johan </a:t>
            </a:r>
            <a:r>
              <a:rPr lang="en-GB" dirty="0" err="1"/>
              <a:t>Rockström</a:t>
            </a:r>
            <a:r>
              <a:rPr lang="en-GB" dirty="0"/>
              <a:t> and a group of 28 internationally renowned scientists in 2009.</a:t>
            </a:r>
            <a:endParaRPr lang="en-US" dirty="0"/>
          </a:p>
          <a:p>
            <a:r>
              <a:rPr lang="en-GB" dirty="0"/>
              <a:t>Since then, their framework has been revised several times. Now the latest update not only quantified all boundaries, it also concludes that six of the nine boundaries have been transgressed.</a:t>
            </a:r>
            <a:endParaRPr lang="en-GB" dirty="0">
              <a:ea typeface="Calibri"/>
              <a:cs typeface="Calibri"/>
            </a:endParaRPr>
          </a:p>
          <a:p>
            <a:endParaRPr lang="en-GB" dirty="0"/>
          </a:p>
          <a:p>
            <a:r>
              <a:rPr lang="en-GB" dirty="0"/>
              <a:t>Crossing boundaries increases the risk of generating large-scale abrupt or irreversible environmental changes. Drastic changes will not necessarily happen overnight, but together the boundaries mark a critical threshold for increasing risks to people and the ecosystems we are part of.</a:t>
            </a:r>
            <a:endParaRPr lang="en-US" dirty="0"/>
          </a:p>
          <a:p>
            <a:endParaRPr lang="en-GB" dirty="0"/>
          </a:p>
          <a:p>
            <a:r>
              <a:rPr lang="en-GB" dirty="0"/>
              <a:t>Boundaries are interrelated processes within the complex biophysical Earth system. This means that a global focus on climate change alone is not sufficient for increased sustainability. Instead, understanding the interplay of boundaries, especially climate, and loss of biodiversity, is key in science and practice.</a:t>
            </a:r>
            <a:endParaRPr lang="en-US" dirty="0"/>
          </a:p>
          <a:p>
            <a:endParaRPr lang="en-GB" dirty="0"/>
          </a:p>
          <a:p>
            <a:r>
              <a:rPr lang="en-GB" dirty="0"/>
              <a:t>Since its first conceptualization, the planetary boundaries framework has generated enormous interest within science, policy, and practice.</a:t>
            </a:r>
            <a:endParaRPr lang="en-GB" dirty="0">
              <a:ea typeface="Calibri"/>
              <a:cs typeface="Calibri"/>
            </a:endParaRPr>
          </a:p>
          <a:p>
            <a:r>
              <a:rPr lang="en-GB" dirty="0">
                <a:hlinkClick r:id="rId3"/>
              </a:rPr>
              <a:t>https://www.stockholmresilience.org/research/planetary-boundaries.html</a:t>
            </a:r>
            <a:r>
              <a:rPr lang="en-GB" dirty="0"/>
              <a:t> </a:t>
            </a:r>
          </a:p>
          <a:p>
            <a:pPr>
              <a:lnSpc>
                <a:spcPct val="120000"/>
              </a:lnSpc>
              <a:spcBef>
                <a:spcPts val="1000"/>
              </a:spcBef>
            </a:pPr>
            <a:endParaRPr lang="en-GB" dirty="0">
              <a:ea typeface="Calibri"/>
              <a:cs typeface="Calibri"/>
            </a:endParaRPr>
          </a:p>
        </p:txBody>
      </p:sp>
      <p:sp>
        <p:nvSpPr>
          <p:cNvPr id="4" name="Footer Placeholder 3">
            <a:extLst>
              <a:ext uri="{FF2B5EF4-FFF2-40B4-BE49-F238E27FC236}">
                <a16:creationId xmlns:a16="http://schemas.microsoft.com/office/drawing/2014/main" id="{035E3249-2836-BCEE-7F0D-EC161E9C96B6}"/>
              </a:ext>
            </a:extLst>
          </p:cNvPr>
          <p:cNvSpPr>
            <a:spLocks noGrp="1"/>
          </p:cNvSpPr>
          <p:nvPr>
            <p:ph type="ftr" sz="quarter" idx="4"/>
          </p:nvPr>
        </p:nvSpPr>
        <p:spPr/>
        <p:txBody>
          <a:bodyPr/>
          <a:lstStyle/>
          <a:p>
            <a:pPr>
              <a:defRPr/>
            </a:pPr>
            <a:endParaRPr lang="de-CH"/>
          </a:p>
        </p:txBody>
      </p:sp>
      <p:sp>
        <p:nvSpPr>
          <p:cNvPr id="63493" name="Slide Number Placeholder 4">
            <a:extLst>
              <a:ext uri="{FF2B5EF4-FFF2-40B4-BE49-F238E27FC236}">
                <a16:creationId xmlns:a16="http://schemas.microsoft.com/office/drawing/2014/main" id="{1F0EE2D0-03CD-E2B5-25E3-6A32F1D0CE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E4323AC-F9E5-4281-A08B-D1CCE267D522}" type="slidenum">
              <a:rPr lang="de-CH" altLang="aa-ET" smtClean="0"/>
              <a:pPr/>
              <a:t>38</a:t>
            </a:fld>
            <a:endParaRPr lang="de-CH" altLang="aa-ET"/>
          </a:p>
        </p:txBody>
      </p:sp>
    </p:spTree>
    <p:extLst>
      <p:ext uri="{BB962C8B-B14F-4D97-AF65-F5344CB8AC3E}">
        <p14:creationId xmlns:p14="http://schemas.microsoft.com/office/powerpoint/2010/main" val="15315687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970553EB-0A2B-D71C-2936-DD0AD7F1BF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5C63B3F3-7254-4CF5-391C-E80F608883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dirty="0"/>
              <a:t>The United Nations Conference on Sustainable Development - or Rio+20 - took place in Rio de Janeiro, Brazil on 20-22 June 2012. It resulted in a focused </a:t>
            </a:r>
            <a:r>
              <a:rPr lang="en-GB" dirty="0">
                <a:hlinkClick r:id="rId3"/>
              </a:rPr>
              <a:t>political outcome document</a:t>
            </a:r>
            <a:r>
              <a:rPr lang="en-GB" dirty="0"/>
              <a:t> which contains clear and practical measures for implementing sustainable development.</a:t>
            </a:r>
            <a:endParaRPr lang="en-US" dirty="0"/>
          </a:p>
          <a:p>
            <a:endParaRPr lang="en-GB" dirty="0">
              <a:ea typeface="Calibri"/>
              <a:cs typeface="Calibri"/>
            </a:endParaRPr>
          </a:p>
          <a:p>
            <a:r>
              <a:rPr lang="en-GB" dirty="0"/>
              <a:t>"Beyond the Resolution document, and beyond the conference halls, civil society took things a step further, exploring the legal dimensions of the problems, engaging in meaningful discourse, building partnerships and communities for transnational governance." Power 2023 (see pictures by Daniel </a:t>
            </a:r>
            <a:r>
              <a:rPr lang="en-GB" dirty="0" err="1"/>
              <a:t>Leite</a:t>
            </a:r>
            <a:endParaRPr lang="en-GB" dirty="0">
              <a:ea typeface="Calibri"/>
              <a:cs typeface="Calibri"/>
            </a:endParaRPr>
          </a:p>
          <a:p>
            <a:endParaRPr lang="en-GB" dirty="0"/>
          </a:p>
          <a:p>
            <a:r>
              <a:rPr lang="en-GB" dirty="0"/>
              <a:t>In Rio, Member States decided to launch a process to develop a set of </a:t>
            </a:r>
            <a:r>
              <a:rPr lang="en-GB" dirty="0">
                <a:hlinkClick r:id="rId4"/>
              </a:rPr>
              <a:t>Sustainable Development Goals (SDGs)</a:t>
            </a:r>
            <a:r>
              <a:rPr lang="en-GB" dirty="0"/>
              <a:t>, which will build upon the </a:t>
            </a:r>
            <a:r>
              <a:rPr lang="en-GB" dirty="0">
                <a:hlinkClick r:id="rId5"/>
              </a:rPr>
              <a:t>Millennium Development Goals</a:t>
            </a:r>
            <a:r>
              <a:rPr lang="en-GB" dirty="0"/>
              <a:t> and converge with the post 2015 development agenda.</a:t>
            </a:r>
            <a:endParaRPr lang="en-GB" dirty="0">
              <a:ea typeface="Calibri"/>
              <a:cs typeface="Calibri"/>
            </a:endParaRPr>
          </a:p>
          <a:p>
            <a:endParaRPr lang="en-GB" dirty="0"/>
          </a:p>
          <a:p>
            <a:r>
              <a:rPr lang="en-GB" dirty="0"/>
              <a:t>The Conference also adopted ground-breaking guidelines on </a:t>
            </a:r>
            <a:r>
              <a:rPr lang="en-GB" dirty="0">
                <a:hlinkClick r:id="rId6"/>
              </a:rPr>
              <a:t>green economy policies</a:t>
            </a:r>
            <a:r>
              <a:rPr lang="en-GB" dirty="0"/>
              <a:t>. Governments also decided to establish an intergovernmental process under the General Assembly to prepare options on a strategy for sustainable development financing. Governments also agreed to strengthen the </a:t>
            </a:r>
            <a:r>
              <a:rPr lang="en-GB" dirty="0">
                <a:hlinkClick r:id="rId7"/>
              </a:rPr>
              <a:t>United Nations Environment Programme (UNEP)</a:t>
            </a:r>
            <a:r>
              <a:rPr lang="en-GB" dirty="0"/>
              <a:t> on several fronts with action to be taken during the 67th session of the General Assembly.</a:t>
            </a:r>
          </a:p>
          <a:p>
            <a:endParaRPr lang="en-GB" dirty="0"/>
          </a:p>
          <a:p>
            <a:endParaRPr lang="en-GB" dirty="0">
              <a:ea typeface="Calibri"/>
              <a:cs typeface="Calibri"/>
            </a:endParaRPr>
          </a:p>
          <a:p>
            <a:r>
              <a:rPr lang="en-GB" dirty="0">
                <a:ea typeface="Calibri"/>
                <a:cs typeface="Calibri"/>
              </a:rPr>
              <a:t>The Future We Want: </a:t>
            </a:r>
            <a:r>
              <a:rPr lang="en-GB" dirty="0">
                <a:hlinkClick r:id="rId8"/>
              </a:rPr>
              <a:t>733FutureWeWant.pdf (un.org)</a:t>
            </a:r>
            <a:endParaRPr lang="en-GB" dirty="0">
              <a:ea typeface="Calibri"/>
              <a:cs typeface="Calibri"/>
            </a:endParaRPr>
          </a:p>
          <a:p>
            <a:endParaRPr lang="en-GB" dirty="0">
              <a:ea typeface="Calibri"/>
              <a:cs typeface="Calibri"/>
            </a:endParaRPr>
          </a:p>
          <a:p>
            <a:endParaRPr lang="en-GB" dirty="0">
              <a:ea typeface="Calibri"/>
              <a:cs typeface="Calibri"/>
            </a:endParaRPr>
          </a:p>
          <a:p>
            <a:r>
              <a:rPr lang="en-GB" dirty="0">
                <a:ea typeface="Calibri"/>
                <a:cs typeface="Calibri"/>
              </a:rPr>
              <a:t>See Powers 2012 for a commentary on Rio+20 and the increasingly important role of civil society action, commitments and partnerships, and of transnational governance. "</a:t>
            </a:r>
            <a:r>
              <a:rPr lang="en-GB" dirty="0"/>
              <a:t>In the final analysis, the official Rio+20 UN Conference on Sustainable Development was anything but a runaway success. Still, it may have succeeded in providing a document that will reinforce and undergird subsequent efforts to achieve a sustainable future. While unexciting, it provides a baseline and a floor, establishing or reinforcing international norms on a host of issues. Beyond the Resolution document, and beyond the conference halls, civil society took things a step further, exploring the legal dimensions of the problems, engaging in meaningful discourse, building partnerships and communities for transnational governance. That, rather than the document itself, may outline </a:t>
            </a:r>
            <a:r>
              <a:rPr lang="en-GB" i="1" dirty="0"/>
              <a:t>the future we want</a:t>
            </a:r>
            <a:r>
              <a:rPr lang="en-GB" dirty="0"/>
              <a:t>." Powers, Ann. 2012. The Rio+20 Process: Forward Movement for the Environment? Transnational Environmental Las 1(2): 403-412. </a:t>
            </a:r>
            <a:r>
              <a:rPr lang="en-GB" dirty="0">
                <a:hlinkClick r:id="rId9"/>
              </a:rPr>
              <a:t>https://doi.org/10.1017/S2047102512000179</a:t>
            </a:r>
            <a:r>
              <a:rPr lang="en-GB" dirty="0"/>
              <a:t> </a:t>
            </a:r>
          </a:p>
        </p:txBody>
      </p:sp>
      <p:sp>
        <p:nvSpPr>
          <p:cNvPr id="4" name="Footer Placeholder 3">
            <a:extLst>
              <a:ext uri="{FF2B5EF4-FFF2-40B4-BE49-F238E27FC236}">
                <a16:creationId xmlns:a16="http://schemas.microsoft.com/office/drawing/2014/main" id="{0A343B2D-86FB-DDCE-A1E6-CD0245FF72D6}"/>
              </a:ext>
            </a:extLst>
          </p:cNvPr>
          <p:cNvSpPr>
            <a:spLocks noGrp="1"/>
          </p:cNvSpPr>
          <p:nvPr>
            <p:ph type="ftr" sz="quarter" idx="4"/>
          </p:nvPr>
        </p:nvSpPr>
        <p:spPr/>
        <p:txBody>
          <a:bodyPr/>
          <a:lstStyle/>
          <a:p>
            <a:pPr>
              <a:defRPr/>
            </a:pPr>
            <a:endParaRPr lang="de-CH"/>
          </a:p>
        </p:txBody>
      </p:sp>
      <p:sp>
        <p:nvSpPr>
          <p:cNvPr id="65541" name="Slide Number Placeholder 4">
            <a:extLst>
              <a:ext uri="{FF2B5EF4-FFF2-40B4-BE49-F238E27FC236}">
                <a16:creationId xmlns:a16="http://schemas.microsoft.com/office/drawing/2014/main" id="{EDBBC3BF-3D3E-474F-C54C-F358753DB7A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8F35D4D-4EC1-45C4-85E2-4F8682E56A5A}" type="slidenum">
              <a:rPr lang="de-CH" altLang="aa-ET" smtClean="0"/>
              <a:pPr/>
              <a:t>39</a:t>
            </a:fld>
            <a:endParaRPr lang="de-CH" altLang="aa-ET"/>
          </a:p>
        </p:txBody>
      </p:sp>
    </p:spTree>
    <p:extLst>
      <p:ext uri="{BB962C8B-B14F-4D97-AF65-F5344CB8AC3E}">
        <p14:creationId xmlns:p14="http://schemas.microsoft.com/office/powerpoint/2010/main" val="18405022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30000"/>
              </a:spcBef>
              <a:spcAft>
                <a:spcPct val="0"/>
              </a:spcAft>
              <a:defRPr/>
            </a:pPr>
            <a:r>
              <a:rPr lang="en-GB" noProof="0" dirty="0"/>
              <a:t>The Doughnut </a:t>
            </a:r>
            <a:r>
              <a:rPr lang="en-GB"/>
              <a:t>combines </a:t>
            </a:r>
            <a:r>
              <a:rPr lang="en-GB" dirty="0"/>
              <a:t>the concept of </a:t>
            </a:r>
            <a:r>
              <a:rPr lang="en-GB" dirty="0">
                <a:hlinkClick r:id="rId3"/>
              </a:rPr>
              <a:t>planetary boundaries</a:t>
            </a:r>
            <a:r>
              <a:rPr lang="en-GB" dirty="0"/>
              <a:t> with the complementary concept of social boundaries. It consists of two concentric rings: a social foundation, to ensure that no one is left falling short on life’s essentials, and an ecological ceiling, to ensure that humanity does not collectively overshoot the </a:t>
            </a:r>
            <a:r>
              <a:rPr lang="en-GB" u="sng" dirty="0">
                <a:hlinkClick r:id="rId4">
                  <a:extLst>
                    <a:ext uri="{A12FA001-AC4F-418D-AE19-62706E023703}">
                      <ahyp:hlinkClr xmlns:ahyp="http://schemas.microsoft.com/office/drawing/2018/hyperlinkcolor" val="tx"/>
                    </a:ext>
                  </a:extLst>
                </a:hlinkClick>
              </a:rPr>
              <a:t>planetary boundaries</a:t>
            </a:r>
            <a:r>
              <a:rPr lang="en-GB" dirty="0"/>
              <a:t> that protect Earth's life-supporting systems. Between these two sets of boundaries lies a doughnut-shaped space that is both ecologically safe and socially just: a space in which humanity can thrive.</a:t>
            </a:r>
            <a:endParaRPr lang="en-US" dirty="0"/>
          </a:p>
          <a:p>
            <a:pPr>
              <a:spcBef>
                <a:spcPct val="30000"/>
              </a:spcBef>
              <a:spcAft>
                <a:spcPct val="0"/>
              </a:spcAft>
              <a:defRPr/>
            </a:pPr>
            <a:endParaRPr lang="en-GB" dirty="0"/>
          </a:p>
          <a:p>
            <a:pPr>
              <a:spcBef>
                <a:spcPct val="30000"/>
              </a:spcBef>
              <a:spcAft>
                <a:spcPct val="0"/>
              </a:spcAft>
              <a:defRPr/>
            </a:pPr>
            <a:endParaRPr lang="en-GB" dirty="0"/>
          </a:p>
          <a:p>
            <a:pPr>
              <a:spcBef>
                <a:spcPct val="30000"/>
              </a:spcBef>
              <a:spcAft>
                <a:spcPct val="0"/>
              </a:spcAft>
              <a:defRPr/>
            </a:pPr>
            <a:r>
              <a:rPr lang="en-GB" dirty="0"/>
              <a:t>The Doughnut </a:t>
            </a:r>
            <a:r>
              <a:rPr lang="en-GB" noProof="0" dirty="0"/>
              <a:t>Model (originally Raworth/Oxfam 2012, updated</a:t>
            </a:r>
            <a:r>
              <a:rPr lang="en-GB" baseline="0" noProof="0" dirty="0"/>
              <a:t> in Raworth 2017</a:t>
            </a:r>
            <a:r>
              <a:rPr lang="en-GB" noProof="0" dirty="0"/>
              <a:t>) is an attempt to concretize the general dimensions of Sustainability and thus to operationalize SD. To this end, Raworth first links the concept of SD to the international scientific and political debate on planetary limits on the use and degradation of natural resources (</a:t>
            </a:r>
            <a:r>
              <a:rPr lang="en-GB" noProof="0" dirty="0" err="1"/>
              <a:t>Rockström</a:t>
            </a:r>
            <a:r>
              <a:rPr lang="en-GB" noProof="0" dirty="0"/>
              <a:t> et al. 2009). In her model, Raworth expands the debate to include minimum thresholds of social and economic foundations that must not be exceeded, to </a:t>
            </a:r>
            <a:r>
              <a:rPr lang="en-GB" sz="1200" kern="1200" noProof="0" dirty="0">
                <a:solidFill>
                  <a:schemeClr val="tx1"/>
                </a:solidFill>
                <a:latin typeface="Arial"/>
                <a:cs typeface="Arial"/>
              </a:rPr>
              <a:t>allow all people on the </a:t>
            </a:r>
            <a:r>
              <a:rPr lang="en-GB" sz="1200" kern="1200" noProof="0" dirty="0" err="1">
                <a:solidFill>
                  <a:schemeClr val="tx1"/>
                </a:solidFill>
                <a:latin typeface="Arial"/>
                <a:cs typeface="Arial"/>
              </a:rPr>
              <a:t>Eartch</a:t>
            </a:r>
            <a:r>
              <a:rPr lang="en-GB" sz="1200" kern="1200" noProof="0" dirty="0">
                <a:solidFill>
                  <a:schemeClr val="tx1"/>
                </a:solidFill>
                <a:latin typeface="Arial"/>
                <a:cs typeface="Arial"/>
              </a:rPr>
              <a:t> to live a worthwhile life.</a:t>
            </a:r>
            <a:r>
              <a:rPr lang="en-GB" dirty="0">
                <a:latin typeface="Arial"/>
                <a:cs typeface="Arial"/>
              </a:rPr>
              <a:t> </a:t>
            </a:r>
            <a:endParaRPr lang="en-US" dirty="0">
              <a:ea typeface="Calibri"/>
              <a:cs typeface="Calibri"/>
            </a:endParaRPr>
          </a:p>
          <a:p>
            <a:r>
              <a:rPr lang="en-GB" dirty="0">
                <a:latin typeface="Arial"/>
                <a:cs typeface="Arial"/>
              </a:rPr>
              <a:t> </a:t>
            </a:r>
            <a:endParaRPr lang="en-GB" sz="1200" kern="1200" noProof="0" dirty="0">
              <a:solidFill>
                <a:schemeClr val="tx1"/>
              </a:solidFill>
              <a:effectLst/>
              <a:latin typeface="Arial" pitchFamily="39" charset="0"/>
              <a:cs typeface="Arial"/>
            </a:endParaRPr>
          </a:p>
          <a:p>
            <a:pPr fontAlgn="base">
              <a:spcBef>
                <a:spcPct val="30000"/>
              </a:spcBef>
              <a:spcAft>
                <a:spcPct val="0"/>
              </a:spcAft>
              <a:defRPr/>
            </a:pPr>
            <a:r>
              <a:rPr lang="en-GB" noProof="0" dirty="0"/>
              <a:t>The area of Sustainable Development that is environmentally safe, socially just, and economically viable for humanity is symbolized by the light green area. There is no precise “prescription” as to how SD should look. The model is based on an understanding of SD as a search, learning, and shaping process involving all of society and thus requiring the participation of every individual. The model does not pre-empt this negotiation process, but indicates possible paths towards SD within the light green corridor. This area is enclosed by two “guard rails”, which depict threats to SD. The outer rail shows the “planetary boundaries”, whose natural resources (water, air, land, biodiversity etc.) are being massively degraded by human use. The inside rail comprises the “social foundation”, i.e. the minimum requirements without which human well-being is not possible.</a:t>
            </a:r>
            <a:r>
              <a:rPr lang="en-GB" dirty="0"/>
              <a:t> </a:t>
            </a:r>
            <a:endParaRPr lang="en-GB" noProof="0" dirty="0">
              <a:ea typeface="Calibri"/>
              <a:cs typeface="Calibri"/>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noProof="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noProof="0" dirty="0"/>
              <a:t>The limits of environmental degradation and the minimum socio-economic requirements are not universally defined and the indicators for measuring current values and trends are the topic of ongoing research and negotiations between various actors with different interests and levels of influence. The political decisions on steering future developments are based on information including prominent scientific contributions to the collection of environmental, sociocultural, and economic systems and their dynamics.</a:t>
            </a:r>
            <a:endParaRPr lang="en-GB" noProof="0" dirty="0">
              <a:ea typeface="Calibri"/>
              <a:cs typeface="Calibri"/>
            </a:endParaRPr>
          </a:p>
          <a:p>
            <a:pPr>
              <a:spcBef>
                <a:spcPct val="30000"/>
              </a:spcBef>
              <a:spcAft>
                <a:spcPct val="0"/>
              </a:spcAft>
            </a:pPr>
            <a:endParaRPr lang="en-GB" sz="1200" kern="1200" noProof="0" dirty="0">
              <a:solidFill>
                <a:schemeClr val="tx1"/>
              </a:solidFill>
              <a:effectLst/>
              <a:latin typeface="Calibri" panose="020F0502020204030204"/>
              <a:ea typeface="Calibri" panose="020F0502020204030204"/>
              <a:cs typeface="Calibri" panose="020F0502020204030204"/>
            </a:endParaRPr>
          </a:p>
          <a:p>
            <a:pPr>
              <a:spcBef>
                <a:spcPct val="30000"/>
              </a:spcBef>
              <a:spcAft>
                <a:spcPct val="0"/>
              </a:spcAft>
            </a:pPr>
            <a:r>
              <a:rPr lang="en-GB" dirty="0">
                <a:hlinkClick r:id="rId5"/>
              </a:rPr>
              <a:t>About Doughnut Economics | DEAL</a:t>
            </a:r>
            <a:endParaRPr lang="en-GB" dirty="0"/>
          </a:p>
          <a:p>
            <a:endParaRPr lang="en-GB" dirty="0">
              <a:latin typeface="Arial" pitchFamily="39" charset="0"/>
              <a:cs typeface="Arial" pitchFamily="39" charset="0"/>
            </a:endParaRPr>
          </a:p>
        </p:txBody>
      </p:sp>
      <p:sp>
        <p:nvSpPr>
          <p:cNvPr id="4" name="Slide Number Placeholder 3"/>
          <p:cNvSpPr>
            <a:spLocks noGrp="1"/>
          </p:cNvSpPr>
          <p:nvPr>
            <p:ph type="sldNum" sz="quarter" idx="10"/>
          </p:nvPr>
        </p:nvSpPr>
        <p:spPr/>
        <p:txBody>
          <a:bodyPr/>
          <a:lstStyle/>
          <a:p>
            <a:fld id="{E5700854-19FB-4351-BFDC-90AAE5F621F4}" type="slidenum">
              <a:rPr lang="de-CH" smtClean="0"/>
              <a:pPr/>
              <a:t>40</a:t>
            </a:fld>
            <a:endParaRPr lang="de-CH"/>
          </a:p>
        </p:txBody>
      </p:sp>
    </p:spTree>
    <p:extLst>
      <p:ext uri="{BB962C8B-B14F-4D97-AF65-F5344CB8AC3E}">
        <p14:creationId xmlns:p14="http://schemas.microsoft.com/office/powerpoint/2010/main" val="40913970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5EF6A-96C7-99B2-8824-489A03E31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C7599-0D32-C93A-DD5E-03931423B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FA1B6-2ECC-D9C6-4200-7B7849469043}"/>
              </a:ext>
            </a:extLst>
          </p:cNvPr>
          <p:cNvSpPr>
            <a:spLocks noGrp="1"/>
          </p:cNvSpPr>
          <p:nvPr>
            <p:ph type="body" idx="1"/>
          </p:nvPr>
        </p:nvSpPr>
        <p:spPr/>
        <p:txBody>
          <a:bodyPr/>
          <a:lstStyle/>
          <a:p>
            <a:r>
              <a:rPr lang="en-US">
                <a:ea typeface="Calibri"/>
                <a:cs typeface="Calibri"/>
              </a:rPr>
              <a:t>More detailed Sustainable Development timeline: </a:t>
            </a:r>
            <a:r>
              <a:rPr lang="en-US">
                <a:hlinkClick r:id="rId3"/>
              </a:rPr>
              <a:t>https://www.iisd.org/system/files/publications/sd_timeline_2012.pdf</a:t>
            </a:r>
            <a:r>
              <a:rPr lang="en-US"/>
              <a:t> </a:t>
            </a:r>
          </a:p>
        </p:txBody>
      </p:sp>
      <p:sp>
        <p:nvSpPr>
          <p:cNvPr id="4" name="Slide Number Placeholder 3">
            <a:extLst>
              <a:ext uri="{FF2B5EF4-FFF2-40B4-BE49-F238E27FC236}">
                <a16:creationId xmlns:a16="http://schemas.microsoft.com/office/drawing/2014/main" id="{02278268-DBE1-03B5-7414-CA32CCAB8A15}"/>
              </a:ext>
            </a:extLst>
          </p:cNvPr>
          <p:cNvSpPr>
            <a:spLocks noGrp="1"/>
          </p:cNvSpPr>
          <p:nvPr>
            <p:ph type="sldNum" sz="quarter" idx="5"/>
          </p:nvPr>
        </p:nvSpPr>
        <p:spPr/>
        <p:txBody>
          <a:bodyPr/>
          <a:lstStyle/>
          <a:p>
            <a:fld id="{BCFAAAB6-A2C6-4A85-A3A1-98EFBA61C967}" type="slidenum">
              <a:rPr lang="en-US" smtClean="0"/>
              <a:t>42</a:t>
            </a:fld>
            <a:endParaRPr lang="en-US"/>
          </a:p>
        </p:txBody>
      </p:sp>
    </p:spTree>
    <p:extLst>
      <p:ext uri="{BB962C8B-B14F-4D97-AF65-F5344CB8AC3E}">
        <p14:creationId xmlns:p14="http://schemas.microsoft.com/office/powerpoint/2010/main" val="1319365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IPBES ‘values typology’ explicitly recognizes that different worldviews and knowledge systems impact the way people interact with and value nature. </a:t>
            </a:r>
            <a:endParaRPr lang="en-GB" dirty="0"/>
          </a:p>
          <a:p>
            <a:endParaRPr lang="en-US" dirty="0"/>
          </a:p>
          <a:p>
            <a:r>
              <a:rPr lang="en-US" dirty="0"/>
              <a:t>To clarify and identify different values and their interrelationships, the typology distinguishes four flexible and interconnected layers of what value means: worldviews and knowledge systems, broad values, specific values and value indicators. Life frames (metaphorically shown as light beams) illustrate how some sets of values might be given prominence in the different ways people relate to nature (here a watershed feeding into an estuarine wetland) </a:t>
            </a:r>
          </a:p>
          <a:p>
            <a:endParaRPr lang="en-US" dirty="0">
              <a:cs typeface="Calibri"/>
            </a:endParaRPr>
          </a:p>
          <a:p>
            <a:r>
              <a:rPr lang="en-US" dirty="0"/>
              <a:t>In the literature, worldviews are frequently classified as anthropocentric (prioritizing human interests) or biocentric and </a:t>
            </a:r>
            <a:r>
              <a:rPr lang="en-US" dirty="0" err="1"/>
              <a:t>ecocentric</a:t>
            </a:r>
            <a:r>
              <a:rPr lang="en-US" dirty="0"/>
              <a:t> (emphasizing living beings or nature’s processes as a whole). </a:t>
            </a:r>
            <a:r>
              <a:rPr lang="en-US" dirty="0" err="1"/>
              <a:t>Pluricentric</a:t>
            </a:r>
            <a:r>
              <a:rPr lang="en-US" dirty="0"/>
              <a:t> is also used in the typology to encompass those worldviews with no single ‘</a:t>
            </a:r>
            <a:r>
              <a:rPr lang="en-US" dirty="0" err="1"/>
              <a:t>centre</a:t>
            </a:r>
            <a:r>
              <a:rPr lang="en-US" dirty="0"/>
              <a:t>’ (focusing on several intertwined relationships among humans, other-than-human beings, nature’s components and systemic processes)</a:t>
            </a:r>
            <a:endParaRPr lang="en-US" dirty="0">
              <a:cs typeface="Calibri"/>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43</a:t>
            </a:fld>
            <a:endParaRPr lang="en-US"/>
          </a:p>
        </p:txBody>
      </p:sp>
    </p:spTree>
    <p:extLst>
      <p:ext uri="{BB962C8B-B14F-4D97-AF65-F5344CB8AC3E}">
        <p14:creationId xmlns:p14="http://schemas.microsoft.com/office/powerpoint/2010/main" val="4084543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buFont typeface="Symbol" panose="05050102010706020507" pitchFamily="18" charset="2"/>
              <a:buNone/>
            </a:pPr>
            <a:r>
              <a:rPr lang="en-GB"/>
              <a:t>10 mins: </a:t>
            </a:r>
            <a:r>
              <a:rPr lang="en-US" sz="1800">
                <a:effectLst/>
                <a:latin typeface="Calibri" panose="020F0502020204030204" pitchFamily="34" charset="0"/>
                <a:ea typeface="Calibri" panose="020F0502020204030204" pitchFamily="34" charset="0"/>
                <a:cs typeface="Calibri" panose="020F0502020204030204" pitchFamily="34" charset="0"/>
              </a:rPr>
              <a:t>Open space for questions and clarifications.; Summary of the main points covered in the session and outlook on the next session.</a:t>
            </a:r>
            <a:endParaRPr lang="aa-ET"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44</a:t>
            </a:fld>
            <a:endParaRPr lang="en-US"/>
          </a:p>
        </p:txBody>
      </p:sp>
    </p:spTree>
    <p:extLst>
      <p:ext uri="{BB962C8B-B14F-4D97-AF65-F5344CB8AC3E}">
        <p14:creationId xmlns:p14="http://schemas.microsoft.com/office/powerpoint/2010/main" val="34086247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spcAft>
                <a:spcPts val="800"/>
              </a:spcAft>
              <a:buFont typeface="Symbol" panose="05050102010706020507" pitchFamily="18" charset="2"/>
              <a:buNone/>
            </a:pPr>
            <a:r>
              <a:rPr lang="en-GB"/>
              <a:t>10 mins: </a:t>
            </a:r>
            <a:r>
              <a:rPr lang="en-US" sz="1800">
                <a:effectLst/>
                <a:latin typeface="Calibri" panose="020F0502020204030204" pitchFamily="34" charset="0"/>
                <a:ea typeface="Calibri" panose="020F0502020204030204" pitchFamily="34" charset="0"/>
                <a:cs typeface="Calibri" panose="020F0502020204030204" pitchFamily="34" charset="0"/>
              </a:rPr>
              <a:t>Reflective activity: Participants individually note their key takeaways from the session.</a:t>
            </a:r>
            <a:endParaRPr lang="en-CH" sz="1800">
              <a:effectLst/>
              <a:latin typeface="Calibri" panose="020F0502020204030204" pitchFamily="34" charset="0"/>
              <a:ea typeface="Calibri" panose="020F0502020204030204" pitchFamily="34" charset="0"/>
              <a:cs typeface="Times New Roman" panose="02020603050405020304" pitchFamily="18" charset="0"/>
            </a:endParaRPr>
          </a:p>
          <a:p>
            <a:r>
              <a:rPr lang="en-US" sz="1800">
                <a:effectLst/>
                <a:latin typeface="Calibri" panose="020F0502020204030204" pitchFamily="34" charset="0"/>
                <a:ea typeface="Calibri" panose="020F0502020204030204" pitchFamily="34" charset="0"/>
              </a:rPr>
              <a:t>Invitation to share their reflections with the group.</a:t>
            </a:r>
            <a:endParaRPr lang="en-CH"/>
          </a:p>
        </p:txBody>
      </p:sp>
      <p:sp>
        <p:nvSpPr>
          <p:cNvPr id="4" name="Slide Number Placeholder 3"/>
          <p:cNvSpPr>
            <a:spLocks noGrp="1"/>
          </p:cNvSpPr>
          <p:nvPr>
            <p:ph type="sldNum" sz="quarter" idx="5"/>
          </p:nvPr>
        </p:nvSpPr>
        <p:spPr/>
        <p:txBody>
          <a:bodyPr/>
          <a:lstStyle/>
          <a:p>
            <a:fld id="{BCFAAAB6-A2C6-4A85-A3A1-98EFBA61C967}" type="slidenum">
              <a:rPr lang="en-US" smtClean="0"/>
              <a:t>47</a:t>
            </a:fld>
            <a:endParaRPr lang="en-US"/>
          </a:p>
        </p:txBody>
      </p:sp>
    </p:spTree>
    <p:extLst>
      <p:ext uri="{BB962C8B-B14F-4D97-AF65-F5344CB8AC3E}">
        <p14:creationId xmlns:p14="http://schemas.microsoft.com/office/powerpoint/2010/main" val="4546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buFont typeface="Symbol" panose="05050102010706020507" pitchFamily="18" charset="2"/>
              <a:buNone/>
            </a:pPr>
            <a:r>
              <a:rPr lang="en-GB"/>
              <a:t>10 mins: </a:t>
            </a:r>
            <a:r>
              <a:rPr lang="en-US" sz="1800">
                <a:effectLst/>
                <a:latin typeface="Calibri" panose="020F0502020204030204" pitchFamily="34" charset="0"/>
                <a:ea typeface="Calibri" panose="020F0502020204030204" pitchFamily="34" charset="0"/>
                <a:cs typeface="Calibri" panose="020F0502020204030204" pitchFamily="34" charset="0"/>
              </a:rPr>
              <a:t>Open space for questions and clarifications.; Summary of the main points covered in the session and outlook on the next session.</a:t>
            </a:r>
            <a:endParaRPr lang="en-CH"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48</a:t>
            </a:fld>
            <a:endParaRPr lang="en-US"/>
          </a:p>
        </p:txBody>
      </p:sp>
    </p:spTree>
    <p:extLst>
      <p:ext uri="{BB962C8B-B14F-4D97-AF65-F5344CB8AC3E}">
        <p14:creationId xmlns:p14="http://schemas.microsoft.com/office/powerpoint/2010/main" val="28517677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51</a:t>
            </a:fld>
            <a:endParaRPr lang="en-US"/>
          </a:p>
        </p:txBody>
      </p:sp>
    </p:spTree>
    <p:extLst>
      <p:ext uri="{BB962C8B-B14F-4D97-AF65-F5344CB8AC3E}">
        <p14:creationId xmlns:p14="http://schemas.microsoft.com/office/powerpoint/2010/main" val="3290783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33248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Zwei Spalten">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192B501-1AD2-4D7C-9442-2A5BE5F07D28}"/>
              </a:ext>
            </a:extLst>
          </p:cNvPr>
          <p:cNvSpPr>
            <a:spLocks noGrp="1"/>
          </p:cNvSpPr>
          <p:nvPr>
            <p:ph type="sldNum" sz="quarter" idx="15"/>
          </p:nvPr>
        </p:nvSpPr>
        <p:spPr/>
        <p:txBody>
          <a:bodyPr/>
          <a:lstStyle/>
          <a:p>
            <a:fld id="{9C819A1E-7CFD-44ED-A7EE-35C8DB5FAD42}" type="slidenum">
              <a:rPr lang="de-CH" noProof="0" smtClean="0"/>
              <a:pPr/>
              <a:t>‹#›</a:t>
            </a:fld>
            <a:endParaRPr lang="de-CH" noProof="0"/>
          </a:p>
        </p:txBody>
      </p:sp>
      <p:sp>
        <p:nvSpPr>
          <p:cNvPr id="4" name="Text right">
            <a:extLst>
              <a:ext uri="{FF2B5EF4-FFF2-40B4-BE49-F238E27FC236}">
                <a16:creationId xmlns:a16="http://schemas.microsoft.com/office/drawing/2014/main" id="{06CD3D0C-D4D1-4875-BB7B-BDA878B42894}"/>
              </a:ext>
            </a:extLst>
          </p:cNvPr>
          <p:cNvSpPr>
            <a:spLocks noGrp="1"/>
          </p:cNvSpPr>
          <p:nvPr>
            <p:ph sz="half" idx="2" hasCustomPrompt="1"/>
          </p:nvPr>
        </p:nvSpPr>
        <p:spPr>
          <a:xfrm>
            <a:off x="6527800" y="2038985"/>
            <a:ext cx="5057480" cy="4351338"/>
          </a:xfrm>
        </p:spPr>
        <p:txBody>
          <a:bodyPr>
            <a:normAutofit/>
          </a:bodyPr>
          <a:lstStyle>
            <a:lvl1pPr marL="0" indent="0" algn="l">
              <a:lnSpc>
                <a:spcPts val="3200"/>
              </a:lnSpc>
              <a:buFont typeface="Arial" panose="020B0604020202020204" pitchFamily="34" charset="0"/>
              <a:buNone/>
              <a:defRPr sz="2600" spc="20" baseline="0"/>
            </a:lvl1pPr>
          </a:lstStyle>
          <a:p>
            <a:pPr lvl="0"/>
            <a:r>
              <a:rPr lang="de-CH" noProof="0"/>
              <a:t>Inhalt hinzufügen</a:t>
            </a:r>
          </a:p>
          <a:p>
            <a:pPr algn="l"/>
            <a:endParaRPr lang="de-CH" noProof="0"/>
          </a:p>
        </p:txBody>
      </p:sp>
      <p:sp>
        <p:nvSpPr>
          <p:cNvPr id="3" name="Text left">
            <a:extLst>
              <a:ext uri="{FF2B5EF4-FFF2-40B4-BE49-F238E27FC236}">
                <a16:creationId xmlns:a16="http://schemas.microsoft.com/office/drawing/2014/main" id="{AC0B7127-FA76-4553-9FAF-1E1BE6C7AC0A}"/>
              </a:ext>
            </a:extLst>
          </p:cNvPr>
          <p:cNvSpPr>
            <a:spLocks noGrp="1"/>
          </p:cNvSpPr>
          <p:nvPr>
            <p:ph sz="half" idx="1" hasCustomPrompt="1"/>
          </p:nvPr>
        </p:nvSpPr>
        <p:spPr>
          <a:xfrm>
            <a:off x="1071880" y="2038985"/>
            <a:ext cx="5181600" cy="4351338"/>
          </a:xfrm>
        </p:spPr>
        <p:txBody>
          <a:bodyPr>
            <a:noAutofit/>
          </a:bodyPr>
          <a:lstStyle>
            <a:lvl1pPr algn="l">
              <a:lnSpc>
                <a:spcPts val="3200"/>
              </a:lnSpc>
              <a:defRPr sz="2600" spc="20" baseline="0"/>
            </a:lvl1pPr>
          </a:lstStyle>
          <a:p>
            <a:pPr lvl="0"/>
            <a:r>
              <a:rPr lang="de-CH" noProof="0"/>
              <a:t>Inhalt hinzufügen</a:t>
            </a:r>
          </a:p>
        </p:txBody>
      </p:sp>
      <p:sp>
        <p:nvSpPr>
          <p:cNvPr id="11" name="Subtitle">
            <a:extLst>
              <a:ext uri="{FF2B5EF4-FFF2-40B4-BE49-F238E27FC236}">
                <a16:creationId xmlns:a16="http://schemas.microsoft.com/office/drawing/2014/main" id="{243EB6CE-14F4-412E-8770-2B868A8B9B37}"/>
              </a:ext>
            </a:extLst>
          </p:cNvPr>
          <p:cNvSpPr>
            <a:spLocks noGrp="1"/>
          </p:cNvSpPr>
          <p:nvPr>
            <p:ph type="body" sz="quarter" idx="14" hasCustomPrompt="1"/>
          </p:nvPr>
        </p:nvSpPr>
        <p:spPr>
          <a:xfrm>
            <a:off x="1069679" y="864677"/>
            <a:ext cx="10515601" cy="645821"/>
          </a:xfrm>
        </p:spPr>
        <p:txBody>
          <a:bodyPr>
            <a:noAutofit/>
          </a:bodyPr>
          <a:lstStyle>
            <a:lvl1pPr marL="0" indent="0">
              <a:lnSpc>
                <a:spcPct val="100000"/>
              </a:lnSpc>
              <a:spcBef>
                <a:spcPts val="0"/>
              </a:spcBef>
              <a:buNone/>
              <a:defRPr sz="4200" b="0">
                <a:solidFill>
                  <a:srgbClr val="9D9D9C"/>
                </a:solidFill>
                <a:latin typeface="+mn-lt"/>
                <a:cs typeface="Arial" panose="020B0604020202020204" pitchFamily="34" charset="0"/>
              </a:defRPr>
            </a:lvl1pPr>
          </a:lstStyle>
          <a:p>
            <a:pPr lvl="0"/>
            <a:r>
              <a:rPr lang="de-CH" noProof="0"/>
              <a:t>Untertitel (fakultativ)</a:t>
            </a:r>
          </a:p>
        </p:txBody>
      </p:sp>
      <p:sp>
        <p:nvSpPr>
          <p:cNvPr id="2" name="Title">
            <a:extLst>
              <a:ext uri="{FF2B5EF4-FFF2-40B4-BE49-F238E27FC236}">
                <a16:creationId xmlns:a16="http://schemas.microsoft.com/office/drawing/2014/main" id="{5214DED6-35DF-4092-8EEE-D8D0D6936D38}"/>
              </a:ext>
            </a:extLst>
          </p:cNvPr>
          <p:cNvSpPr>
            <a:spLocks noGrp="1"/>
          </p:cNvSpPr>
          <p:nvPr>
            <p:ph type="title" hasCustomPrompt="1"/>
          </p:nvPr>
        </p:nvSpPr>
        <p:spPr/>
        <p:txBody>
          <a:bodyPr/>
          <a:lstStyle>
            <a:lvl1pPr>
              <a:defRPr>
                <a:solidFill>
                  <a:schemeClr val="tx1"/>
                </a:solidFill>
              </a:defRPr>
            </a:lvl1pPr>
          </a:lstStyle>
          <a:p>
            <a:r>
              <a:rPr lang="de-CH" noProof="0"/>
              <a:t>Titel hinzufügen</a:t>
            </a:r>
          </a:p>
        </p:txBody>
      </p:sp>
      <p:sp>
        <p:nvSpPr>
          <p:cNvPr id="6" name="Name">
            <a:extLst>
              <a:ext uri="{FF2B5EF4-FFF2-40B4-BE49-F238E27FC236}">
                <a16:creationId xmlns:a16="http://schemas.microsoft.com/office/drawing/2014/main" id="{8FF45F3B-B08D-4C32-29D5-E0610CF4C13E}"/>
              </a:ext>
            </a:extLst>
          </p:cNvPr>
          <p:cNvSpPr>
            <a:spLocks noGrp="1"/>
          </p:cNvSpPr>
          <p:nvPr>
            <p:ph type="body" sz="quarter" idx="21" hasCustomPrompt="1"/>
          </p:nvPr>
        </p:nvSpPr>
        <p:spPr>
          <a:xfrm>
            <a:off x="3798000" y="6444000"/>
            <a:ext cx="77796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Organisationseinheit</a:t>
            </a:r>
          </a:p>
        </p:txBody>
      </p:sp>
      <p:sp>
        <p:nvSpPr>
          <p:cNvPr id="7" name="Name">
            <a:extLst>
              <a:ext uri="{FF2B5EF4-FFF2-40B4-BE49-F238E27FC236}">
                <a16:creationId xmlns:a16="http://schemas.microsoft.com/office/drawing/2014/main" id="{E11DE452-27B6-FD25-354A-5A2468ECDFA6}"/>
              </a:ext>
            </a:extLst>
          </p:cNvPr>
          <p:cNvSpPr>
            <a:spLocks noGrp="1"/>
          </p:cNvSpPr>
          <p:nvPr>
            <p:ph type="body" sz="quarter" idx="22" hasCustomPrompt="1"/>
          </p:nvPr>
        </p:nvSpPr>
        <p:spPr>
          <a:xfrm>
            <a:off x="1342800" y="6444000"/>
            <a:ext cx="16164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lgn="r">
              <a:defRPr lang="de-CH" sz="1200" b="0" noProof="0" dirty="0">
                <a:solidFill>
                  <a:schemeClr val="tx1"/>
                </a:solidFill>
              </a:defRPr>
            </a:lvl1pPr>
          </a:lstStyle>
          <a:p>
            <a:pPr lvl="0"/>
            <a:r>
              <a:rPr lang="de-CH" noProof="0"/>
              <a:t>Datum</a:t>
            </a:r>
          </a:p>
        </p:txBody>
      </p:sp>
      <p:sp>
        <p:nvSpPr>
          <p:cNvPr id="10" name="Name">
            <a:extLst>
              <a:ext uri="{FF2B5EF4-FFF2-40B4-BE49-F238E27FC236}">
                <a16:creationId xmlns:a16="http://schemas.microsoft.com/office/drawing/2014/main" id="{F96DF7A0-1413-FE81-5EAB-3D7E12105251}"/>
              </a:ext>
            </a:extLst>
          </p:cNvPr>
          <p:cNvSpPr>
            <a:spLocks noGrp="1"/>
          </p:cNvSpPr>
          <p:nvPr>
            <p:ph type="body" sz="quarter" idx="30" hasCustomPrompt="1"/>
          </p:nvPr>
        </p:nvSpPr>
        <p:spPr>
          <a:xfrm>
            <a:off x="2772000" y="6444000"/>
            <a:ext cx="10260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 Bern</a:t>
            </a:r>
          </a:p>
        </p:txBody>
      </p:sp>
    </p:spTree>
    <p:extLst>
      <p:ext uri="{BB962C8B-B14F-4D97-AF65-F5344CB8AC3E}">
        <p14:creationId xmlns:p14="http://schemas.microsoft.com/office/powerpoint/2010/main" val="1041284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extLst>
      <p:ext uri="{BB962C8B-B14F-4D97-AF65-F5344CB8AC3E}">
        <p14:creationId xmlns:p14="http://schemas.microsoft.com/office/powerpoint/2010/main" val="793736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54E8C4F2-4D97-4C54-82AD-3E2D0C429A44}"/>
              </a:ext>
            </a:extLst>
          </p:cNvPr>
          <p:cNvSpPr>
            <a:spLocks noGrp="1"/>
          </p:cNvSpPr>
          <p:nvPr>
            <p:ph type="sldNum" sz="quarter" idx="15"/>
          </p:nvPr>
        </p:nvSpPr>
        <p:spPr/>
        <p:txBody>
          <a:bodyPr/>
          <a:lstStyle/>
          <a:p>
            <a:fld id="{9C819A1E-7CFD-44ED-A7EE-35C8DB5FAD42}" type="slidenum">
              <a:rPr lang="de-CH" noProof="0" smtClean="0"/>
              <a:pPr/>
              <a:t>‹#›</a:t>
            </a:fld>
            <a:endParaRPr lang="de-CH" noProof="0"/>
          </a:p>
        </p:txBody>
      </p:sp>
      <p:sp>
        <p:nvSpPr>
          <p:cNvPr id="8" name="Text">
            <a:extLst>
              <a:ext uri="{FF2B5EF4-FFF2-40B4-BE49-F238E27FC236}">
                <a16:creationId xmlns:a16="http://schemas.microsoft.com/office/drawing/2014/main" id="{D8E2A40A-BBB1-4118-AFA7-75CE56FDBD7A}"/>
              </a:ext>
            </a:extLst>
          </p:cNvPr>
          <p:cNvSpPr>
            <a:spLocks noGrp="1"/>
          </p:cNvSpPr>
          <p:nvPr>
            <p:ph idx="1" hasCustomPrompt="1"/>
          </p:nvPr>
        </p:nvSpPr>
        <p:spPr>
          <a:xfrm>
            <a:off x="1062736" y="2042635"/>
            <a:ext cx="10515600" cy="4351338"/>
          </a:xfrm>
          <a:prstGeom prst="rect">
            <a:avLst/>
          </a:prstGeom>
        </p:spPr>
        <p:txBody>
          <a:bodyPr vert="horz" lIns="91440" tIns="45720" rIns="91440" bIns="45720" rtlCol="0">
            <a:normAutofit/>
          </a:bodyPr>
          <a:lstStyle>
            <a:lvl1pPr>
              <a:spcAft>
                <a:spcPts val="600"/>
              </a:spcAft>
              <a:defRPr sz="2600">
                <a:latin typeface="+mn-lt"/>
              </a:defRPr>
            </a:lvl1pPr>
            <a:lvl2pPr marL="324000">
              <a:spcAft>
                <a:spcPts val="600"/>
              </a:spcAft>
              <a:defRPr sz="2600">
                <a:latin typeface="+mn-lt"/>
              </a:defRPr>
            </a:lvl2pPr>
            <a:lvl3pPr marL="684000">
              <a:spcAft>
                <a:spcPts val="600"/>
              </a:spcAft>
              <a:defRPr sz="2600"/>
            </a:lvl3pPr>
            <a:lvl4pPr marL="1008000">
              <a:spcAft>
                <a:spcPts val="600"/>
              </a:spcAft>
              <a:defRPr sz="2600"/>
            </a:lvl4pPr>
            <a:lvl5pPr marL="1332000">
              <a:spcAft>
                <a:spcPts val="600"/>
              </a:spcAft>
              <a:defRPr sz="2600"/>
            </a:lvl5pPr>
          </a:lstStyle>
          <a:p>
            <a:pPr lvl="0"/>
            <a:r>
              <a:rPr lang="de-CH" noProof="0"/>
              <a:t>Inhalt hinzufügen</a:t>
            </a:r>
          </a:p>
        </p:txBody>
      </p:sp>
      <p:sp>
        <p:nvSpPr>
          <p:cNvPr id="16" name="Subtitle">
            <a:extLst>
              <a:ext uri="{FF2B5EF4-FFF2-40B4-BE49-F238E27FC236}">
                <a16:creationId xmlns:a16="http://schemas.microsoft.com/office/drawing/2014/main" id="{C920BAB7-1FB4-4BAB-8FD4-CB13A5B44986}"/>
              </a:ext>
            </a:extLst>
          </p:cNvPr>
          <p:cNvSpPr>
            <a:spLocks noGrp="1"/>
          </p:cNvSpPr>
          <p:nvPr>
            <p:ph type="body" sz="quarter" idx="14" hasCustomPrompt="1"/>
          </p:nvPr>
        </p:nvSpPr>
        <p:spPr>
          <a:xfrm>
            <a:off x="1069679" y="864677"/>
            <a:ext cx="10515601" cy="645821"/>
          </a:xfrm>
        </p:spPr>
        <p:txBody>
          <a:bodyPr>
            <a:noAutofit/>
          </a:bodyPr>
          <a:lstStyle>
            <a:lvl1pPr marL="0" indent="0">
              <a:lnSpc>
                <a:spcPct val="100000"/>
              </a:lnSpc>
              <a:spcBef>
                <a:spcPts val="0"/>
              </a:spcBef>
              <a:buNone/>
              <a:defRPr sz="4200" b="0">
                <a:solidFill>
                  <a:srgbClr val="9D9D9C"/>
                </a:solidFill>
                <a:latin typeface="+mn-lt"/>
                <a:cs typeface="Arial" panose="020B0604020202020204" pitchFamily="34" charset="0"/>
              </a:defRPr>
            </a:lvl1pPr>
          </a:lstStyle>
          <a:p>
            <a:pPr lvl="0"/>
            <a:r>
              <a:rPr lang="de-CH" noProof="0"/>
              <a:t>Untertitel (fakultativ)</a:t>
            </a:r>
          </a:p>
        </p:txBody>
      </p:sp>
      <p:sp>
        <p:nvSpPr>
          <p:cNvPr id="2" name="Title">
            <a:extLst>
              <a:ext uri="{FF2B5EF4-FFF2-40B4-BE49-F238E27FC236}">
                <a16:creationId xmlns:a16="http://schemas.microsoft.com/office/drawing/2014/main" id="{04ABA236-C13C-45D6-A4EB-05DE88EE2D20}"/>
              </a:ext>
            </a:extLst>
          </p:cNvPr>
          <p:cNvSpPr>
            <a:spLocks noGrp="1"/>
          </p:cNvSpPr>
          <p:nvPr>
            <p:ph type="title" hasCustomPrompt="1"/>
          </p:nvPr>
        </p:nvSpPr>
        <p:spPr/>
        <p:txBody>
          <a:bodyPr/>
          <a:lstStyle>
            <a:lvl1pPr>
              <a:defRPr>
                <a:solidFill>
                  <a:schemeClr val="tx1"/>
                </a:solidFill>
              </a:defRPr>
            </a:lvl1pPr>
          </a:lstStyle>
          <a:p>
            <a:r>
              <a:rPr lang="de-CH" noProof="0"/>
              <a:t>Titel hinzufügen</a:t>
            </a:r>
          </a:p>
        </p:txBody>
      </p:sp>
      <p:sp>
        <p:nvSpPr>
          <p:cNvPr id="3" name="Name">
            <a:extLst>
              <a:ext uri="{FF2B5EF4-FFF2-40B4-BE49-F238E27FC236}">
                <a16:creationId xmlns:a16="http://schemas.microsoft.com/office/drawing/2014/main" id="{E98EA185-0B5A-0066-521F-07A7A87C67DC}"/>
              </a:ext>
            </a:extLst>
          </p:cNvPr>
          <p:cNvSpPr>
            <a:spLocks noGrp="1"/>
          </p:cNvSpPr>
          <p:nvPr>
            <p:ph type="body" sz="quarter" idx="21" hasCustomPrompt="1"/>
          </p:nvPr>
        </p:nvSpPr>
        <p:spPr>
          <a:xfrm>
            <a:off x="3798000" y="6444000"/>
            <a:ext cx="77796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Organisationseinheit</a:t>
            </a:r>
          </a:p>
        </p:txBody>
      </p:sp>
      <p:sp>
        <p:nvSpPr>
          <p:cNvPr id="4" name="Name">
            <a:extLst>
              <a:ext uri="{FF2B5EF4-FFF2-40B4-BE49-F238E27FC236}">
                <a16:creationId xmlns:a16="http://schemas.microsoft.com/office/drawing/2014/main" id="{92D79848-1F1F-F4CC-E1A5-6D035D94F6BC}"/>
              </a:ext>
            </a:extLst>
          </p:cNvPr>
          <p:cNvSpPr>
            <a:spLocks noGrp="1"/>
          </p:cNvSpPr>
          <p:nvPr>
            <p:ph type="body" sz="quarter" idx="22" hasCustomPrompt="1"/>
          </p:nvPr>
        </p:nvSpPr>
        <p:spPr>
          <a:xfrm>
            <a:off x="1342800" y="6444000"/>
            <a:ext cx="16164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lgn="r">
              <a:defRPr lang="de-CH" sz="1200" b="0" noProof="0" dirty="0">
                <a:solidFill>
                  <a:schemeClr val="tx1"/>
                </a:solidFill>
              </a:defRPr>
            </a:lvl1pPr>
          </a:lstStyle>
          <a:p>
            <a:pPr lvl="0"/>
            <a:r>
              <a:rPr lang="de-CH" noProof="0"/>
              <a:t>Datum</a:t>
            </a:r>
          </a:p>
        </p:txBody>
      </p:sp>
      <p:sp>
        <p:nvSpPr>
          <p:cNvPr id="9" name="Name">
            <a:extLst>
              <a:ext uri="{FF2B5EF4-FFF2-40B4-BE49-F238E27FC236}">
                <a16:creationId xmlns:a16="http://schemas.microsoft.com/office/drawing/2014/main" id="{9556F2A2-B5ED-7F57-CF24-17A9E1860CF5}"/>
              </a:ext>
            </a:extLst>
          </p:cNvPr>
          <p:cNvSpPr>
            <a:spLocks noGrp="1"/>
          </p:cNvSpPr>
          <p:nvPr>
            <p:ph type="body" sz="quarter" idx="30" hasCustomPrompt="1"/>
          </p:nvPr>
        </p:nvSpPr>
        <p:spPr>
          <a:xfrm>
            <a:off x="2772000" y="6444000"/>
            <a:ext cx="10260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 Bern</a:t>
            </a:r>
          </a:p>
        </p:txBody>
      </p:sp>
    </p:spTree>
    <p:extLst>
      <p:ext uri="{BB962C8B-B14F-4D97-AF65-F5344CB8AC3E}">
        <p14:creationId xmlns:p14="http://schemas.microsoft.com/office/powerpoint/2010/main" val="4114618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 Titel-Folie ohne Bild">
    <p:spTree>
      <p:nvGrpSpPr>
        <p:cNvPr id="1" name=""/>
        <p:cNvGrpSpPr/>
        <p:nvPr/>
      </p:nvGrpSpPr>
      <p:grpSpPr>
        <a:xfrm>
          <a:off x="0" y="0"/>
          <a:ext cx="0" cy="0"/>
          <a:chOff x="0" y="0"/>
          <a:chExt cx="0" cy="0"/>
        </a:xfrm>
      </p:grpSpPr>
      <p:sp>
        <p:nvSpPr>
          <p:cNvPr id="3" name="Textplatzhalter 2"/>
          <p:cNvSpPr>
            <a:spLocks noGrp="1"/>
          </p:cNvSpPr>
          <p:nvPr>
            <p:ph type="body" idx="10"/>
          </p:nvPr>
        </p:nvSpPr>
        <p:spPr>
          <a:xfrm>
            <a:off x="720000" y="4749801"/>
            <a:ext cx="9360000" cy="221599"/>
          </a:xfrm>
          <a:prstGeom prst="rect">
            <a:avLst/>
          </a:prstGeom>
        </p:spPr>
        <p:txBody>
          <a:bodyPr lIns="0" tIns="0" rIns="0" bIns="0" anchor="t">
            <a:noAutofit/>
          </a:bodyPr>
          <a:lstStyle>
            <a:lvl1pPr marL="0" indent="0">
              <a:buNone/>
              <a:defRPr sz="1867" b="1" i="0">
                <a:solidFill>
                  <a:schemeClr val="tx1"/>
                </a:solidFill>
                <a:latin typeface="Arial" panose="020B0604020202020204" pitchFamily="34" charset="0"/>
                <a:cs typeface="Arial" panose="020B0604020202020204" pitchFamily="34" charset="0"/>
              </a:defRPr>
            </a:lvl1pPr>
            <a:lvl2pPr marL="609570" indent="0">
              <a:buNone/>
              <a:defRPr sz="2667">
                <a:solidFill>
                  <a:schemeClr val="tx1">
                    <a:tint val="75000"/>
                  </a:schemeClr>
                </a:solidFill>
              </a:defRPr>
            </a:lvl2pPr>
            <a:lvl3pPr marL="1219139"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7"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a:t>Edit Master text styles</a:t>
            </a:r>
          </a:p>
        </p:txBody>
      </p:sp>
      <p:sp>
        <p:nvSpPr>
          <p:cNvPr id="4" name="Textplatzhalter 2"/>
          <p:cNvSpPr>
            <a:spLocks noGrp="1"/>
          </p:cNvSpPr>
          <p:nvPr>
            <p:ph type="body" idx="12"/>
          </p:nvPr>
        </p:nvSpPr>
        <p:spPr>
          <a:xfrm>
            <a:off x="720000" y="5112001"/>
            <a:ext cx="9360000" cy="221599"/>
          </a:xfrm>
          <a:prstGeom prst="rect">
            <a:avLst/>
          </a:prstGeom>
        </p:spPr>
        <p:txBody>
          <a:bodyPr lIns="0" tIns="0" rIns="0" bIns="0" anchor="t">
            <a:spAutoFit/>
          </a:bodyPr>
          <a:lstStyle>
            <a:lvl1pPr marL="0" marR="0" indent="0" algn="l" defTabSz="1219170" rtl="0" eaLnBrk="1" fontAlgn="auto" latinLnBrk="0" hangingPunct="1">
              <a:lnSpc>
                <a:spcPct val="90000"/>
              </a:lnSpc>
              <a:spcBef>
                <a:spcPts val="1333"/>
              </a:spcBef>
              <a:spcAft>
                <a:spcPts val="0"/>
              </a:spcAft>
              <a:buClrTx/>
              <a:buSzTx/>
              <a:buFont typeface="Arial" panose="020B0604020202020204" pitchFamily="34" charset="0"/>
              <a:buNone/>
              <a:tabLst/>
              <a:defRPr sz="1600" b="0" i="0">
                <a:solidFill>
                  <a:schemeClr val="tx1"/>
                </a:solidFill>
                <a:latin typeface="Arial" panose="020B0604020202020204" pitchFamily="34" charset="0"/>
                <a:cs typeface="Arial" panose="020B0604020202020204" pitchFamily="34" charset="0"/>
              </a:defRPr>
            </a:lvl1pPr>
            <a:lvl2pPr marL="609570" indent="0">
              <a:buNone/>
              <a:defRPr sz="2667">
                <a:solidFill>
                  <a:schemeClr val="tx1">
                    <a:tint val="75000"/>
                  </a:schemeClr>
                </a:solidFill>
              </a:defRPr>
            </a:lvl2pPr>
            <a:lvl3pPr marL="1219139"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7"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a:t>Edit Master text styles</a:t>
            </a:r>
          </a:p>
        </p:txBody>
      </p:sp>
      <p:sp>
        <p:nvSpPr>
          <p:cNvPr id="5" name="Textplatzhalter 2"/>
          <p:cNvSpPr>
            <a:spLocks noGrp="1"/>
          </p:cNvSpPr>
          <p:nvPr>
            <p:ph type="body" idx="11"/>
          </p:nvPr>
        </p:nvSpPr>
        <p:spPr>
          <a:xfrm>
            <a:off x="720000" y="2937600"/>
            <a:ext cx="9360000" cy="1200000"/>
          </a:xfrm>
          <a:prstGeom prst="rect">
            <a:avLst/>
          </a:prstGeom>
        </p:spPr>
        <p:txBody>
          <a:bodyPr lIns="0" tIns="0" rIns="0" bIns="0" anchor="t">
            <a:noAutofit/>
          </a:bodyPr>
          <a:lstStyle>
            <a:lvl1pPr marL="0" marR="0" indent="0" algn="l" defTabSz="1219170" rtl="0" eaLnBrk="1" fontAlgn="auto" latinLnBrk="0" hangingPunct="1">
              <a:lnSpc>
                <a:spcPts val="4267"/>
              </a:lnSpc>
              <a:spcBef>
                <a:spcPts val="0"/>
              </a:spcBef>
              <a:spcAft>
                <a:spcPts val="0"/>
              </a:spcAft>
              <a:buClrTx/>
              <a:buSzTx/>
              <a:buFont typeface="Arial" panose="020B0604020202020204" pitchFamily="34" charset="0"/>
              <a:buNone/>
              <a:tabLst/>
              <a:defRPr sz="3733">
                <a:solidFill>
                  <a:schemeClr val="tx1"/>
                </a:solidFill>
                <a:latin typeface="Arial" panose="020B0604020202020204" pitchFamily="34" charset="0"/>
                <a:cs typeface="Arial" panose="020B0604020202020204" pitchFamily="34" charset="0"/>
              </a:defRPr>
            </a:lvl1pPr>
            <a:lvl2pPr marL="609570" indent="0">
              <a:buNone/>
              <a:defRPr sz="2667">
                <a:solidFill>
                  <a:schemeClr val="tx1">
                    <a:tint val="75000"/>
                  </a:schemeClr>
                </a:solidFill>
              </a:defRPr>
            </a:lvl2pPr>
            <a:lvl3pPr marL="1219139"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7"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a:t>Edit Master text styles</a:t>
            </a:r>
          </a:p>
        </p:txBody>
      </p:sp>
      <p:sp>
        <p:nvSpPr>
          <p:cNvPr id="13" name="Titelplatzhalter 14"/>
          <p:cNvSpPr>
            <a:spLocks noGrp="1"/>
          </p:cNvSpPr>
          <p:nvPr>
            <p:ph type="title"/>
          </p:nvPr>
        </p:nvSpPr>
        <p:spPr>
          <a:xfrm>
            <a:off x="720000" y="1627200"/>
            <a:ext cx="9360000" cy="1200000"/>
          </a:xfrm>
          <a:prstGeom prst="rect">
            <a:avLst/>
          </a:prstGeom>
        </p:spPr>
        <p:txBody>
          <a:bodyPr rtlCol="0">
            <a:noAutofit/>
          </a:bodyPr>
          <a:lstStyle>
            <a:lvl1pPr>
              <a:defRPr/>
            </a:lvl1pPr>
          </a:lstStyle>
          <a:p>
            <a:r>
              <a:rPr lang="en-US"/>
              <a:t>Click to edit Master title style</a:t>
            </a:r>
            <a:endParaRPr lang="de-DE"/>
          </a:p>
        </p:txBody>
      </p:sp>
    </p:spTree>
    <p:extLst>
      <p:ext uri="{BB962C8B-B14F-4D97-AF65-F5344CB8AC3E}">
        <p14:creationId xmlns:p14="http://schemas.microsoft.com/office/powerpoint/2010/main" val="3427142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 id="2147483737" r:id="rId16"/>
    <p:sldLayoutId id="2147483738" r:id="rId17"/>
    <p:sldLayoutId id="2147483740" r:id="rId18"/>
    <p:sldLayoutId id="2147483741"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hyperlink" Target="https://au.int/en/agenda2063/overview"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edge.sitecorecloud.io/zurichinsur6934-zwpcorp-prod-ae5e/media/project/zurich/dotcom/industry-knowledge/global-risks/docs/the-global-risks-report-2024.pdf" TargetMode="External"/><Relationship Id="rId5" Type="http://schemas.openxmlformats.org/officeDocument/2006/relationships/image" Target="../media/image18.png"/><Relationship Id="rId4" Type="http://schemas.openxmlformats.org/officeDocument/2006/relationships/hyperlink" Target="https://www3.weforum.org/docs/WEF_Global_Risks_Report_2023.pdf"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jpeg"/><Relationship Id="rId12"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4.jpeg"/><Relationship Id="rId5" Type="http://schemas.openxmlformats.org/officeDocument/2006/relationships/image" Target="../media/image28.png"/><Relationship Id="rId10" Type="http://schemas.openxmlformats.org/officeDocument/2006/relationships/image" Target="../media/image33.jpe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45.jpeg"/><Relationship Id="rId5" Type="http://schemas.openxmlformats.org/officeDocument/2006/relationships/image" Target="../media/image44.jpe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52.jpe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54.jpe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3.jpeg"/><Relationship Id="rId3" Type="http://schemas.openxmlformats.org/officeDocument/2006/relationships/image" Target="../media/image26.png"/><Relationship Id="rId7" Type="http://schemas.openxmlformats.org/officeDocument/2006/relationships/image" Target="../media/image30.jpeg"/><Relationship Id="rId12"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5.jpeg"/><Relationship Id="rId5" Type="http://schemas.openxmlformats.org/officeDocument/2006/relationships/image" Target="../media/image28.png"/><Relationship Id="rId10" Type="http://schemas.openxmlformats.org/officeDocument/2006/relationships/image" Target="../media/image34.jpe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1.xml.rels><?xml version="1.0" encoding="UTF-8" standalone="yes"?>
<Relationships xmlns="http://schemas.openxmlformats.org/package/2006/relationships"><Relationship Id="rId8" Type="http://schemas.openxmlformats.org/officeDocument/2006/relationships/hyperlink" Target="https://doi.org/10.1038/s41586-023-06406-9" TargetMode="External"/><Relationship Id="rId13" Type="http://schemas.openxmlformats.org/officeDocument/2006/relationships/hyperlink" Target="https://www3.weforum.org/docs/WEF_Global_Risks_Report_2023.pdf" TargetMode="External"/><Relationship Id="rId3" Type="http://schemas.openxmlformats.org/officeDocument/2006/relationships/image" Target="../media/image61.svg"/><Relationship Id="rId7" Type="http://schemas.openxmlformats.org/officeDocument/2006/relationships/hyperlink" Target="https://sdgs.un.org/sites/default/files/2023-09/FINAL%20GSDR%202023-Digital%20-110923_1.pdf" TargetMode="External"/><Relationship Id="rId12" Type="http://schemas.openxmlformats.org/officeDocument/2006/relationships/hyperlink" Target="https://sustainabledevelopment.un.org/content/documents/5987our-common-future.pdf" TargetMode="External"/><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hyperlink" Target="https://doi.org/10.1038/s41893-021-00799-z" TargetMode="External"/><Relationship Id="rId11" Type="http://schemas.openxmlformats.org/officeDocument/2006/relationships/hyperlink" Target="https://doi.org/10.1177/2053019614564785" TargetMode="External"/><Relationship Id="rId5" Type="http://schemas.openxmlformats.org/officeDocument/2006/relationships/hyperlink" Target="https://au.int/sites/default/files/newsevents/workingdocuments/33178-wd-stisa-english_-_final.pdf" TargetMode="External"/><Relationship Id="rId10" Type="http://schemas.openxmlformats.org/officeDocument/2006/relationships/hyperlink" Target="https://doi.org/10.1016/j.wds.2022.100010" TargetMode="External"/><Relationship Id="rId4" Type="http://schemas.openxmlformats.org/officeDocument/2006/relationships/hyperlink" Target="https://au.int/en/agenda2063/overview" TargetMode="External"/><Relationship Id="rId9" Type="http://schemas.openxmlformats.org/officeDocument/2006/relationships/hyperlink" Target="https://www.pbl.nl/sites/default/files/downloads/People_and_the_Earth_WEB.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5680AF7D-F3E9-4098-845A-48B3971D8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ED4020-FE03-1C01-EAEE-49A2F4872BB8}"/>
              </a:ext>
            </a:extLst>
          </p:cNvPr>
          <p:cNvSpPr>
            <a:spLocks noGrp="1"/>
          </p:cNvSpPr>
          <p:nvPr>
            <p:ph type="ctrTitle"/>
          </p:nvPr>
        </p:nvSpPr>
        <p:spPr>
          <a:xfrm>
            <a:off x="572922" y="1124712"/>
            <a:ext cx="5523077" cy="3200400"/>
          </a:xfrm>
        </p:spPr>
        <p:txBody>
          <a:bodyPr>
            <a:normAutofit/>
          </a:bodyPr>
          <a:lstStyle/>
          <a:p>
            <a:pPr algn="l"/>
            <a:r>
              <a:rPr lang="de-CH" sz="3000" dirty="0" err="1"/>
              <a:t>Integrating</a:t>
            </a:r>
            <a:r>
              <a:rPr lang="de-CH" sz="3000" dirty="0"/>
              <a:t> Sustainability into Higher Education: Theories, Concepts, and Practical Strategies</a:t>
            </a:r>
            <a:endParaRPr lang="aa-ET" sz="3000" dirty="0"/>
          </a:p>
        </p:txBody>
      </p:sp>
      <p:sp>
        <p:nvSpPr>
          <p:cNvPr id="3" name="Subtitle 2">
            <a:extLst>
              <a:ext uri="{FF2B5EF4-FFF2-40B4-BE49-F238E27FC236}">
                <a16:creationId xmlns:a16="http://schemas.microsoft.com/office/drawing/2014/main" id="{B56646CC-6C4B-90E6-B72E-3FD8767130F9}"/>
              </a:ext>
            </a:extLst>
          </p:cNvPr>
          <p:cNvSpPr>
            <a:spLocks noGrp="1"/>
          </p:cNvSpPr>
          <p:nvPr>
            <p:ph type="subTitle" idx="1"/>
          </p:nvPr>
        </p:nvSpPr>
        <p:spPr>
          <a:xfrm>
            <a:off x="572923" y="4873752"/>
            <a:ext cx="4023360" cy="1207008"/>
          </a:xfrm>
        </p:spPr>
        <p:txBody>
          <a:bodyPr>
            <a:normAutofit/>
          </a:bodyPr>
          <a:lstStyle/>
          <a:p>
            <a:pPr algn="l"/>
            <a:r>
              <a:rPr lang="fr-FR" sz="2400" dirty="0">
                <a:latin typeface="+mj-lt"/>
                <a:ea typeface="+mj-ea"/>
                <a:cs typeface="+mj-cs"/>
              </a:rPr>
              <a:t>Version 2025</a:t>
            </a:r>
            <a:endParaRPr lang="aa-ET" sz="2400" dirty="0">
              <a:latin typeface="+mj-lt"/>
              <a:ea typeface="+mj-ea"/>
              <a:cs typeface="+mj-cs"/>
            </a:endParaRPr>
          </a:p>
        </p:txBody>
      </p:sp>
      <p:sp>
        <p:nvSpPr>
          <p:cNvPr id="87" name="Rectangle 86">
            <a:extLst>
              <a:ext uri="{FF2B5EF4-FFF2-40B4-BE49-F238E27FC236}">
                <a16:creationId xmlns:a16="http://schemas.microsoft.com/office/drawing/2014/main" id="{8EA2E5B2-7E46-41D7-993E-1472B65ED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356"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A hand holding a globe with a map of the world&#10;&#10;AI-generated content may be incorrect.">
            <a:extLst>
              <a:ext uri="{FF2B5EF4-FFF2-40B4-BE49-F238E27FC236}">
                <a16:creationId xmlns:a16="http://schemas.microsoft.com/office/drawing/2014/main" id="{46A7BC95-F6F8-409D-E402-A6A2C1F71A8D}"/>
              </a:ext>
            </a:extLst>
          </p:cNvPr>
          <p:cNvPicPr>
            <a:picLocks noChangeAspect="1"/>
          </p:cNvPicPr>
          <p:nvPr/>
        </p:nvPicPr>
        <p:blipFill rotWithShape="1">
          <a:blip r:embed="rId2"/>
          <a:srcRect l="45898" r="5490"/>
          <a:stretch/>
        </p:blipFill>
        <p:spPr>
          <a:xfrm>
            <a:off x="7214656" y="568146"/>
            <a:ext cx="2653818" cy="3057142"/>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sp>
        <p:nvSpPr>
          <p:cNvPr id="89" name="Rectangle 88">
            <a:extLst>
              <a:ext uri="{FF2B5EF4-FFF2-40B4-BE49-F238E27FC236}">
                <a16:creationId xmlns:a16="http://schemas.microsoft.com/office/drawing/2014/main" id="{789E161B-D345-4E9F-985D-649330815F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464"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oogle Shape;103;p19" descr="A purple and white sign with white text&#10;&#10;AI-generated content may be incorrect.">
            <a:extLst>
              <a:ext uri="{FF2B5EF4-FFF2-40B4-BE49-F238E27FC236}">
                <a16:creationId xmlns:a16="http://schemas.microsoft.com/office/drawing/2014/main" id="{B2460970-4E34-9931-8306-377F1E0445A2}"/>
              </a:ext>
            </a:extLst>
          </p:cNvPr>
          <p:cNvPicPr preferRelativeResize="0"/>
          <p:nvPr/>
        </p:nvPicPr>
        <p:blipFill>
          <a:blip r:embed="rId3"/>
          <a:srcRect r="-2" b="10406"/>
          <a:stretch/>
        </p:blipFill>
        <p:spPr>
          <a:xfrm>
            <a:off x="5552443" y="4017542"/>
            <a:ext cx="2868127" cy="1959333"/>
          </a:xfrm>
          <a:prstGeom prst="rect">
            <a:avLst/>
          </a:prstGeom>
          <a:noFill/>
        </p:spPr>
      </p:pic>
      <p:pic>
        <p:nvPicPr>
          <p:cNvPr id="5" name="Content Placeholder 9" descr="A circular diagram of different colored circles&#10;&#10;Description automatically generated with medium confidence">
            <a:extLst>
              <a:ext uri="{FF2B5EF4-FFF2-40B4-BE49-F238E27FC236}">
                <a16:creationId xmlns:a16="http://schemas.microsoft.com/office/drawing/2014/main" id="{824E7F39-CC53-E1FF-61FC-836E34251196}"/>
              </a:ext>
            </a:extLst>
          </p:cNvPr>
          <p:cNvPicPr>
            <a:picLocks noChangeAspect="1"/>
          </p:cNvPicPr>
          <p:nvPr/>
        </p:nvPicPr>
        <p:blipFill>
          <a:blip r:embed="rId4">
            <a:extLst>
              <a:ext uri="{28A0092B-C50C-407E-A947-70E740481C1C}">
                <a14:useLocalDpi xmlns:a14="http://schemas.microsoft.com/office/drawing/2010/main" val="0"/>
              </a:ext>
            </a:extLst>
          </a:blip>
          <a:srcRect l="47846" r="9576" b="-1"/>
          <a:stretch/>
        </p:blipFill>
        <p:spPr>
          <a:xfrm>
            <a:off x="9353438" y="3827750"/>
            <a:ext cx="1491915" cy="2338916"/>
          </a:xfrm>
          <a:prstGeom prst="rect">
            <a:avLst/>
          </a:prstGeom>
        </p:spPr>
      </p:pic>
      <p:grpSp>
        <p:nvGrpSpPr>
          <p:cNvPr id="4" name="Group 3">
            <a:extLst>
              <a:ext uri="{FF2B5EF4-FFF2-40B4-BE49-F238E27FC236}">
                <a16:creationId xmlns:a16="http://schemas.microsoft.com/office/drawing/2014/main" id="{08DEAF30-DBA5-0C99-4D9E-D89774899420}"/>
              </a:ext>
            </a:extLst>
          </p:cNvPr>
          <p:cNvGrpSpPr/>
          <p:nvPr/>
        </p:nvGrpSpPr>
        <p:grpSpPr>
          <a:xfrm>
            <a:off x="11369860" y="-3696"/>
            <a:ext cx="822140" cy="847296"/>
            <a:chOff x="8600746" y="57953"/>
            <a:chExt cx="822140" cy="847296"/>
          </a:xfrm>
        </p:grpSpPr>
        <p:sp>
          <p:nvSpPr>
            <p:cNvPr id="7" name="Rectangle 6">
              <a:extLst>
                <a:ext uri="{FF2B5EF4-FFF2-40B4-BE49-F238E27FC236}">
                  <a16:creationId xmlns:a16="http://schemas.microsoft.com/office/drawing/2014/main" id="{A59D8156-D549-5318-6C7D-C3403E19E658}"/>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Rectangle 8">
              <a:extLst>
                <a:ext uri="{FF2B5EF4-FFF2-40B4-BE49-F238E27FC236}">
                  <a16:creationId xmlns:a16="http://schemas.microsoft.com/office/drawing/2014/main" id="{19B83483-1AEF-856A-0101-B96D80AA3409}"/>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Rectangle 9">
              <a:extLst>
                <a:ext uri="{FF2B5EF4-FFF2-40B4-BE49-F238E27FC236}">
                  <a16:creationId xmlns:a16="http://schemas.microsoft.com/office/drawing/2014/main" id="{CD705983-501C-75C8-0E3E-469E3AE53097}"/>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1" name="Picture 10">
              <a:extLst>
                <a:ext uri="{FF2B5EF4-FFF2-40B4-BE49-F238E27FC236}">
                  <a16:creationId xmlns:a16="http://schemas.microsoft.com/office/drawing/2014/main" id="{69138BF8-C0DC-37DD-8F94-11192DCA8296}"/>
                </a:ext>
              </a:extLst>
            </p:cNvPr>
            <p:cNvPicPr>
              <a:picLocks noChangeAspect="1"/>
            </p:cNvPicPr>
            <p:nvPr/>
          </p:nvPicPr>
          <p:blipFill>
            <a:blip r:embed="rId5"/>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331623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p:txBody>
          <a:bodyPr>
            <a:normAutofit fontScale="90000"/>
          </a:bodyPr>
          <a:lstStyle/>
          <a:p>
            <a:r>
              <a:rPr lang="en-US" sz="5300" dirty="0"/>
              <a:t>Session 1:</a:t>
            </a:r>
            <a:r>
              <a:rPr lang="en-US" dirty="0"/>
              <a:t> </a:t>
            </a:r>
            <a:br>
              <a:rPr lang="en-US" dirty="0"/>
            </a:br>
            <a:r>
              <a:rPr lang="en-US" sz="5300" b="1" dirty="0"/>
              <a:t>Introduction to Sustainable Development</a:t>
            </a:r>
            <a:br>
              <a:rPr lang="en-US" sz="5300" b="1" dirty="0"/>
            </a:br>
            <a:r>
              <a:rPr lang="en-US" sz="1300" b="1" dirty="0">
                <a:solidFill>
                  <a:schemeClr val="bg1"/>
                </a:solidFill>
              </a:rPr>
              <a:t>x</a:t>
            </a:r>
            <a:endParaRPr lang="en-US" sz="3100" dirty="0"/>
          </a:p>
        </p:txBody>
      </p:sp>
      <p:sp>
        <p:nvSpPr>
          <p:cNvPr id="3" name="Subtitle 2">
            <a:extLst>
              <a:ext uri="{FF2B5EF4-FFF2-40B4-BE49-F238E27FC236}">
                <a16:creationId xmlns:a16="http://schemas.microsoft.com/office/drawing/2014/main" id="{ED9E8FDB-60EE-45AE-BB89-9A561A61C2AC}"/>
              </a:ext>
            </a:extLst>
          </p:cNvPr>
          <p:cNvSpPr>
            <a:spLocks noGrp="1"/>
          </p:cNvSpPr>
          <p:nvPr>
            <p:ph type="subTitle" idx="1"/>
          </p:nvPr>
        </p:nvSpPr>
        <p:spPr>
          <a:xfrm>
            <a:off x="2482595" y="4717965"/>
            <a:ext cx="7660471" cy="988568"/>
          </a:xfrm>
        </p:spPr>
        <p:txBody>
          <a:bodyPr>
            <a:noAutofit/>
          </a:bodyPr>
          <a:lstStyle/>
          <a:p>
            <a:endParaRPr lang="en-US" sz="2000" dirty="0"/>
          </a:p>
        </p:txBody>
      </p:sp>
    </p:spTree>
    <p:extLst>
      <p:ext uri="{BB962C8B-B14F-4D97-AF65-F5344CB8AC3E}">
        <p14:creationId xmlns:p14="http://schemas.microsoft.com/office/powerpoint/2010/main" val="183373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4A85B-2AC6-4E29-B074-AB92F8FA9BB1}"/>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a:t>Outline</a:t>
            </a:r>
          </a:p>
        </p:txBody>
      </p:sp>
      <p:sp>
        <p:nvSpPr>
          <p:cNvPr id="22"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32AB0EB-0819-41F4-99E9-C02FA0DAF66D}"/>
              </a:ext>
            </a:extLst>
          </p:cNvPr>
          <p:cNvSpPr>
            <a:spLocks noGrp="1"/>
          </p:cNvSpPr>
          <p:nvPr>
            <p:ph idx="1"/>
          </p:nvPr>
        </p:nvSpPr>
        <p:spPr>
          <a:xfrm>
            <a:off x="5080216" y="3351276"/>
            <a:ext cx="6272784" cy="2825686"/>
          </a:xfrm>
        </p:spPr>
        <p:txBody>
          <a:bodyPr vert="horz" lIns="91440" tIns="45720" rIns="91440" bIns="45720" rtlCol="0" anchor="t">
            <a:normAutofit fontScale="92500" lnSpcReduction="10000"/>
          </a:bodyPr>
          <a:lstStyle/>
          <a:p>
            <a:pPr marL="0" indent="0"/>
            <a:r>
              <a:rPr lang="en-US" dirty="0"/>
              <a:t>1 </a:t>
            </a:r>
            <a:r>
              <a:rPr lang="en-US" dirty="0">
                <a:ea typeface="+mn-lt"/>
                <a:cs typeface="+mn-lt"/>
              </a:rPr>
              <a:t>–</a:t>
            </a:r>
            <a:r>
              <a:rPr lang="en-US" dirty="0"/>
              <a:t> Introduction</a:t>
            </a:r>
          </a:p>
          <a:p>
            <a:pPr marL="0" indent="0"/>
            <a:r>
              <a:rPr lang="en-US" dirty="0"/>
              <a:t>2 </a:t>
            </a:r>
            <a:r>
              <a:rPr lang="en-US" dirty="0">
                <a:ea typeface="+mn-lt"/>
                <a:cs typeface="+mn-lt"/>
              </a:rPr>
              <a:t>–</a:t>
            </a:r>
            <a:r>
              <a:rPr lang="en-US" dirty="0"/>
              <a:t> Defining Sustainable Development</a:t>
            </a:r>
          </a:p>
          <a:p>
            <a:pPr marL="0" indent="0"/>
            <a:r>
              <a:rPr lang="en-US" dirty="0"/>
              <a:t>3 </a:t>
            </a:r>
            <a:r>
              <a:rPr lang="en-US" dirty="0">
                <a:ea typeface="+mn-lt"/>
                <a:cs typeface="+mn-lt"/>
              </a:rPr>
              <a:t>–</a:t>
            </a:r>
            <a:r>
              <a:rPr lang="en-US" dirty="0"/>
              <a:t> Sustainability Challenges</a:t>
            </a:r>
          </a:p>
          <a:p>
            <a:pPr marL="0" indent="0"/>
            <a:r>
              <a:rPr lang="en-US" dirty="0"/>
              <a:t>4 – </a:t>
            </a:r>
            <a:r>
              <a:rPr lang="en-GB" dirty="0"/>
              <a:t>Sustainability Theories and UN Conferences</a:t>
            </a:r>
            <a:endParaRPr lang="en-US" dirty="0"/>
          </a:p>
          <a:p>
            <a:pPr marL="0" indent="0"/>
            <a:r>
              <a:rPr lang="en-US" dirty="0"/>
              <a:t>5 – Key Messages and Q&amp;A</a:t>
            </a:r>
          </a:p>
          <a:p>
            <a:pPr marL="0" indent="0"/>
            <a:r>
              <a:rPr lang="en-US" dirty="0"/>
              <a:t>6 – Reflection</a:t>
            </a:r>
          </a:p>
          <a:p>
            <a:pPr marL="0" indent="0"/>
            <a:r>
              <a:rPr lang="en-US" dirty="0"/>
              <a:t>7 – Introduction to Overall Course Project</a:t>
            </a:r>
          </a:p>
        </p:txBody>
      </p:sp>
      <p:sp>
        <p:nvSpPr>
          <p:cNvPr id="6" name="Slide Number Placeholder 5">
            <a:extLst>
              <a:ext uri="{FF2B5EF4-FFF2-40B4-BE49-F238E27FC236}">
                <a16:creationId xmlns:a16="http://schemas.microsoft.com/office/drawing/2014/main" id="{B49FA539-2DA6-4197-AA13-56E0C33955F2}"/>
              </a:ext>
            </a:extLst>
          </p:cNvPr>
          <p:cNvSpPr>
            <a:spLocks noGrp="1"/>
          </p:cNvSpPr>
          <p:nvPr>
            <p:ph type="sldNum" sz="quarter" idx="12"/>
          </p:nvPr>
        </p:nvSpPr>
        <p:spPr>
          <a:xfrm>
            <a:off x="10073642" y="6356350"/>
            <a:ext cx="128016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3</a:t>
            </a:fld>
            <a:endParaRPr lang="en-US"/>
          </a:p>
        </p:txBody>
      </p:sp>
      <p:grpSp>
        <p:nvGrpSpPr>
          <p:cNvPr id="4" name="Group 3">
            <a:extLst>
              <a:ext uri="{FF2B5EF4-FFF2-40B4-BE49-F238E27FC236}">
                <a16:creationId xmlns:a16="http://schemas.microsoft.com/office/drawing/2014/main" id="{23278103-7F0C-3CED-3C4D-3B4460853396}"/>
              </a:ext>
            </a:extLst>
          </p:cNvPr>
          <p:cNvGrpSpPr/>
          <p:nvPr/>
        </p:nvGrpSpPr>
        <p:grpSpPr>
          <a:xfrm>
            <a:off x="186450" y="5843614"/>
            <a:ext cx="822140" cy="847296"/>
            <a:chOff x="8600746" y="57953"/>
            <a:chExt cx="822140" cy="847296"/>
          </a:xfrm>
        </p:grpSpPr>
        <p:sp>
          <p:nvSpPr>
            <p:cNvPr id="5" name="Rectangle 4">
              <a:extLst>
                <a:ext uri="{FF2B5EF4-FFF2-40B4-BE49-F238E27FC236}">
                  <a16:creationId xmlns:a16="http://schemas.microsoft.com/office/drawing/2014/main" id="{F5F2C478-8D5D-0F0D-CF2A-FF742DE0401B}"/>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Rectangle 6">
              <a:extLst>
                <a:ext uri="{FF2B5EF4-FFF2-40B4-BE49-F238E27FC236}">
                  <a16:creationId xmlns:a16="http://schemas.microsoft.com/office/drawing/2014/main" id="{7EF54334-09E4-2299-9250-56639ECC0D44}"/>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Rectangle 7">
              <a:extLst>
                <a:ext uri="{FF2B5EF4-FFF2-40B4-BE49-F238E27FC236}">
                  <a16:creationId xmlns:a16="http://schemas.microsoft.com/office/drawing/2014/main" id="{BF9E65A8-8F88-4AF7-19BB-94023FE07234}"/>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9" name="Picture 8">
              <a:extLst>
                <a:ext uri="{FF2B5EF4-FFF2-40B4-BE49-F238E27FC236}">
                  <a16:creationId xmlns:a16="http://schemas.microsoft.com/office/drawing/2014/main" id="{681FCB1C-3545-6B35-42EE-94562915FAD8}"/>
                </a:ext>
              </a:extLst>
            </p:cNvPr>
            <p:cNvPicPr>
              <a:picLocks noChangeAspect="1"/>
            </p:cNvPicPr>
            <p:nvPr/>
          </p:nvPicPr>
          <p:blipFill>
            <a:blip r:embed="rId2"/>
            <a:stretch>
              <a:fillRect/>
            </a:stretch>
          </p:blipFill>
          <p:spPr>
            <a:xfrm>
              <a:off x="8648895" y="131258"/>
              <a:ext cx="773991" cy="773991"/>
            </a:xfrm>
            <a:prstGeom prst="rect">
              <a:avLst/>
            </a:prstGeom>
          </p:spPr>
        </p:pic>
      </p:grpSp>
      <p:sp>
        <p:nvSpPr>
          <p:cNvPr id="10" name="TextBox 9">
            <a:extLst>
              <a:ext uri="{FF2B5EF4-FFF2-40B4-BE49-F238E27FC236}">
                <a16:creationId xmlns:a16="http://schemas.microsoft.com/office/drawing/2014/main" id="{7EE2CEB2-9F77-82F2-4CE3-DA854D058317}"/>
              </a:ext>
            </a:extLst>
          </p:cNvPr>
          <p:cNvSpPr txBox="1"/>
          <p:nvPr/>
        </p:nvSpPr>
        <p:spPr>
          <a:xfrm>
            <a:off x="1008590" y="5836490"/>
            <a:ext cx="3340806" cy="830997"/>
          </a:xfrm>
          <a:prstGeom prst="rect">
            <a:avLst/>
          </a:prstGeom>
          <a:noFill/>
        </p:spPr>
        <p:txBody>
          <a:bodyPr wrap="square" rtlCol="0">
            <a:spAutoFit/>
          </a:bodyPr>
          <a:lstStyle/>
          <a:p>
            <a:r>
              <a:rPr lang="en-CH" sz="1600" dirty="0"/>
              <a:t>This icon indicates slides which can be adjusted to your own context (if necessary).</a:t>
            </a:r>
          </a:p>
        </p:txBody>
      </p:sp>
      <p:sp>
        <p:nvSpPr>
          <p:cNvPr id="11" name="Picture Placeholder 7">
            <a:extLst>
              <a:ext uri="{FF2B5EF4-FFF2-40B4-BE49-F238E27FC236}">
                <a16:creationId xmlns:a16="http://schemas.microsoft.com/office/drawing/2014/main" id="{B40B885E-B3EA-BBA8-BCAA-7E257FCA6B5B}"/>
              </a:ext>
            </a:extLst>
          </p:cNvPr>
          <p:cNvSpPr>
            <a:spLocks noGrp="1"/>
          </p:cNvSpPr>
          <p:nvPr>
            <p:ph type="pic" sz="quarter" idx="13"/>
          </p:nvPr>
        </p:nvSpPr>
        <p:spPr>
          <a:xfrm>
            <a:off x="457200" y="603504"/>
            <a:ext cx="4050792" cy="5577840"/>
          </a:xfrm>
        </p:spPr>
        <p:txBody>
          <a:bodyPr/>
          <a:lstStyle/>
          <a:p>
            <a:endParaRPr lang="en-CH"/>
          </a:p>
        </p:txBody>
      </p:sp>
    </p:spTree>
    <p:extLst>
      <p:ext uri="{BB962C8B-B14F-4D97-AF65-F5344CB8AC3E}">
        <p14:creationId xmlns:p14="http://schemas.microsoft.com/office/powerpoint/2010/main" val="41678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1C14-7F4D-4D43-AB31-14E1B4AA1C63}"/>
              </a:ext>
            </a:extLst>
          </p:cNvPr>
          <p:cNvSpPr>
            <a:spLocks noGrp="1"/>
          </p:cNvSpPr>
          <p:nvPr>
            <p:ph type="title"/>
          </p:nvPr>
        </p:nvSpPr>
        <p:spPr/>
        <p:txBody>
          <a:bodyPr/>
          <a:lstStyle/>
          <a:p>
            <a:r>
              <a:rPr lang="en-US"/>
              <a:t>Learning Outcomes</a:t>
            </a:r>
          </a:p>
        </p:txBody>
      </p:sp>
      <p:sp>
        <p:nvSpPr>
          <p:cNvPr id="3" name="Content Placeholder 2">
            <a:extLst>
              <a:ext uri="{FF2B5EF4-FFF2-40B4-BE49-F238E27FC236}">
                <a16:creationId xmlns:a16="http://schemas.microsoft.com/office/drawing/2014/main" id="{04141C1E-7FB9-4FD0-9195-B9ADFD18ADC1}"/>
              </a:ext>
            </a:extLst>
          </p:cNvPr>
          <p:cNvSpPr>
            <a:spLocks noGrp="1"/>
          </p:cNvSpPr>
          <p:nvPr>
            <p:ph idx="1"/>
          </p:nvPr>
        </p:nvSpPr>
        <p:spPr/>
        <p:txBody>
          <a:bodyPr vert="horz" lIns="91440" tIns="45720" rIns="91440" bIns="45720" rtlCol="0" anchor="t">
            <a:normAutofit lnSpcReduction="10000"/>
          </a:bodyPr>
          <a:lstStyle/>
          <a:p>
            <a:pPr>
              <a:lnSpc>
                <a:spcPct val="107000"/>
              </a:lnSpc>
              <a:spcAft>
                <a:spcPts val="800"/>
              </a:spcAft>
            </a:pPr>
            <a:r>
              <a:rPr lang="en-US" sz="1800" dirty="0">
                <a:effectLst/>
                <a:ea typeface="Calibri"/>
                <a:cs typeface="Calibri"/>
              </a:rPr>
              <a:t>By the end of this session, participants will be able to:</a:t>
            </a:r>
          </a:p>
          <a:p>
            <a:pPr marL="342900" lvl="0" indent="-342900">
              <a:lnSpc>
                <a:spcPct val="107000"/>
              </a:lnSpc>
              <a:spcAft>
                <a:spcPts val="800"/>
              </a:spcAft>
              <a:buFont typeface="Symbol" panose="05050102010706020507" pitchFamily="18" charset="2"/>
              <a:buChar char=""/>
            </a:pPr>
            <a:r>
              <a:rPr lang="en-US" sz="1800" dirty="0">
                <a:effectLst/>
                <a:ea typeface="Calibri"/>
                <a:cs typeface="Calibri"/>
              </a:rPr>
              <a:t>define sustainable development and its core principles,</a:t>
            </a:r>
          </a:p>
          <a:p>
            <a:pPr marL="342900" lvl="0" indent="-342900">
              <a:lnSpc>
                <a:spcPct val="107000"/>
              </a:lnSpc>
              <a:spcAft>
                <a:spcPts val="800"/>
              </a:spcAft>
              <a:buFont typeface="Symbol" panose="05050102010706020507" pitchFamily="18" charset="2"/>
              <a:buChar char=""/>
            </a:pPr>
            <a:r>
              <a:rPr lang="en-US" dirty="0">
                <a:ea typeface="Calibri"/>
                <a:cs typeface="Calibri"/>
              </a:rPr>
              <a:t>i</a:t>
            </a:r>
            <a:r>
              <a:rPr lang="en-US" sz="1800" dirty="0">
                <a:effectLst/>
                <a:ea typeface="Calibri"/>
                <a:cs typeface="Calibri"/>
              </a:rPr>
              <a:t>dentify key challenges that sustainability aims to address,</a:t>
            </a:r>
          </a:p>
          <a:p>
            <a:pPr marL="342900" lvl="0" indent="-342900">
              <a:lnSpc>
                <a:spcPct val="107000"/>
              </a:lnSpc>
              <a:spcAft>
                <a:spcPts val="800"/>
              </a:spcAft>
              <a:buFont typeface="Symbol" panose="05050102010706020507" pitchFamily="18" charset="2"/>
              <a:buChar char=""/>
            </a:pPr>
            <a:r>
              <a:rPr lang="en-US" dirty="0">
                <a:ea typeface="Calibri"/>
                <a:cs typeface="Calibri"/>
              </a:rPr>
              <a:t>d</a:t>
            </a:r>
            <a:r>
              <a:rPr lang="en-US" sz="1800" dirty="0">
                <a:effectLst/>
                <a:ea typeface="Calibri"/>
                <a:cs typeface="Calibri"/>
              </a:rPr>
              <a:t>iscuss the relevance of sustainable development in their own national context.</a:t>
            </a:r>
          </a:p>
          <a:p>
            <a:pPr lvl="0">
              <a:lnSpc>
                <a:spcPct val="107000"/>
              </a:lnSpc>
              <a:spcAft>
                <a:spcPts val="800"/>
              </a:spcAft>
            </a:pPr>
            <a:endParaRPr lang="aa-ET"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a:lstStyle/>
          <a:p>
            <a:fld id="{A65A5C87-DF58-40C8-B092-1DE63DB4547E}" type="slidenum">
              <a:rPr lang="en-US" smtClean="0"/>
              <a:pPr/>
              <a:t>4</a:t>
            </a:fld>
            <a:endParaRPr lang="en-US"/>
          </a:p>
        </p:txBody>
      </p:sp>
      <p:sp>
        <p:nvSpPr>
          <p:cNvPr id="6" name="Picture Placeholder 5">
            <a:extLst>
              <a:ext uri="{FF2B5EF4-FFF2-40B4-BE49-F238E27FC236}">
                <a16:creationId xmlns:a16="http://schemas.microsoft.com/office/drawing/2014/main" id="{8EC51C57-A9CE-5462-3BCF-70BFCA326DEE}"/>
              </a:ext>
            </a:extLst>
          </p:cNvPr>
          <p:cNvSpPr>
            <a:spLocks noGrp="1"/>
          </p:cNvSpPr>
          <p:nvPr>
            <p:ph type="pic" sz="quarter" idx="14"/>
          </p:nvPr>
        </p:nvSpPr>
        <p:spPr/>
        <p:txBody>
          <a:bodyPr/>
          <a:lstStyle/>
          <a:p>
            <a:endParaRPr lang="aa-ET"/>
          </a:p>
        </p:txBody>
      </p:sp>
      <p:sp>
        <p:nvSpPr>
          <p:cNvPr id="8" name="Picture Placeholder 7">
            <a:extLst>
              <a:ext uri="{FF2B5EF4-FFF2-40B4-BE49-F238E27FC236}">
                <a16:creationId xmlns:a16="http://schemas.microsoft.com/office/drawing/2014/main" id="{3978D064-19A5-9159-CA45-EF6D2F5F2406}"/>
              </a:ext>
            </a:extLst>
          </p:cNvPr>
          <p:cNvSpPr>
            <a:spLocks noGrp="1"/>
          </p:cNvSpPr>
          <p:nvPr>
            <p:ph type="pic" sz="quarter" idx="13"/>
          </p:nvPr>
        </p:nvSpPr>
        <p:spPr/>
        <p:txBody>
          <a:bodyPr/>
          <a:lstStyle/>
          <a:p>
            <a:endParaRPr lang="en-CH"/>
          </a:p>
        </p:txBody>
      </p:sp>
    </p:spTree>
    <p:extLst>
      <p:ext uri="{BB962C8B-B14F-4D97-AF65-F5344CB8AC3E}">
        <p14:creationId xmlns:p14="http://schemas.microsoft.com/office/powerpoint/2010/main" val="147138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9236-BDDC-5877-296C-532672EDB38A}"/>
              </a:ext>
            </a:extLst>
          </p:cNvPr>
          <p:cNvSpPr>
            <a:spLocks noGrp="1"/>
          </p:cNvSpPr>
          <p:nvPr>
            <p:ph type="title"/>
          </p:nvPr>
        </p:nvSpPr>
        <p:spPr/>
        <p:txBody>
          <a:bodyPr/>
          <a:lstStyle/>
          <a:p>
            <a:r>
              <a:rPr lang="de-CH" err="1"/>
              <a:t>Introduction</a:t>
            </a:r>
            <a:endParaRPr lang="aa-ET"/>
          </a:p>
        </p:txBody>
      </p:sp>
      <p:sp>
        <p:nvSpPr>
          <p:cNvPr id="3" name="Text Placeholder 2">
            <a:extLst>
              <a:ext uri="{FF2B5EF4-FFF2-40B4-BE49-F238E27FC236}">
                <a16:creationId xmlns:a16="http://schemas.microsoft.com/office/drawing/2014/main" id="{72DF5200-9ED5-B4AD-6190-6056EEC67D88}"/>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a:ln>
                  <a:noFill/>
                </a:ln>
                <a:solidFill>
                  <a:prstClr val="white"/>
                </a:solidFill>
                <a:effectLst/>
                <a:uLnTx/>
                <a:uFillTx/>
                <a:latin typeface="Avenir Next LT Pro"/>
                <a:ea typeface="+mn-ea"/>
                <a:cs typeface="+mn-cs"/>
              </a:rPr>
              <a:t>1</a:t>
            </a:r>
          </a:p>
          <a:p>
            <a:endParaRPr lang="aa-ET"/>
          </a:p>
        </p:txBody>
      </p:sp>
    </p:spTree>
    <p:extLst>
      <p:ext uri="{BB962C8B-B14F-4D97-AF65-F5344CB8AC3E}">
        <p14:creationId xmlns:p14="http://schemas.microsoft.com/office/powerpoint/2010/main" val="1301467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a:extLst>
              <a:ext uri="{FF2B5EF4-FFF2-40B4-BE49-F238E27FC236}">
                <a16:creationId xmlns:a16="http://schemas.microsoft.com/office/drawing/2014/main" id="{193AE6BB-3ED7-8514-0042-050352428381}"/>
              </a:ext>
            </a:extLst>
          </p:cNvPr>
          <p:cNvSpPr>
            <a:spLocks noGrp="1" noChangeArrowheads="1"/>
          </p:cNvSpPr>
          <p:nvPr>
            <p:ph type="title"/>
          </p:nvPr>
        </p:nvSpPr>
        <p:spPr>
          <a:xfrm>
            <a:off x="7337426" y="583142"/>
            <a:ext cx="4830233" cy="3456517"/>
          </a:xfrm>
          <a:solidFill>
            <a:schemeClr val="bg1"/>
          </a:solidFill>
        </p:spPr>
        <p:txBody>
          <a:bodyPr>
            <a:normAutofit fontScale="90000"/>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defRPr/>
            </a:pPr>
            <a:r>
              <a:rPr lang="en-GB" altLang="en-US" b="1" dirty="0">
                <a:latin typeface="+mj-lt"/>
                <a:cs typeface="Calibri"/>
              </a:rPr>
              <a:t>Imagine that you see the Earth from outer space for the very first time…what comes to mind?</a:t>
            </a:r>
            <a:br>
              <a:rPr lang="en-GB" altLang="en-US" b="1" dirty="0">
                <a:latin typeface="+mj-lt"/>
                <a:cs typeface="Calibri"/>
              </a:rPr>
            </a:br>
            <a:endParaRPr lang="en-GB" altLang="en-US" dirty="0">
              <a:solidFill>
                <a:srgbClr val="0070C0"/>
              </a:solidFill>
              <a:latin typeface="+mj-lt"/>
            </a:endParaRPr>
          </a:p>
        </p:txBody>
      </p:sp>
      <p:sp>
        <p:nvSpPr>
          <p:cNvPr id="6" name="Textfeld 5">
            <a:extLst>
              <a:ext uri="{FF2B5EF4-FFF2-40B4-BE49-F238E27FC236}">
                <a16:creationId xmlns:a16="http://schemas.microsoft.com/office/drawing/2014/main" id="{03DAD486-E015-1D6A-4DB0-E4F1BF6B79D4}"/>
              </a:ext>
            </a:extLst>
          </p:cNvPr>
          <p:cNvSpPr txBox="1"/>
          <p:nvPr/>
        </p:nvSpPr>
        <p:spPr>
          <a:xfrm>
            <a:off x="7152217" y="5960534"/>
            <a:ext cx="4967816" cy="830997"/>
          </a:xfrm>
          <a:prstGeom prst="rect">
            <a:avLst/>
          </a:prstGeom>
          <a:noFill/>
        </p:spPr>
        <p:txBody>
          <a:bodyPr wrap="square">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defRPr/>
            </a:pPr>
            <a:r>
              <a:rPr lang="en-GB" sz="1200">
                <a:solidFill>
                  <a:schemeClr val="bg1">
                    <a:lumMod val="50000"/>
                  </a:schemeClr>
                </a:solidFill>
                <a:latin typeface="+mn-lt"/>
              </a:rPr>
              <a:t>Credit: NASA; Author of the image: Bill Anders/ NASA</a:t>
            </a:r>
            <a:br>
              <a:rPr lang="en-GB" sz="1200">
                <a:solidFill>
                  <a:schemeClr val="bg1">
                    <a:lumMod val="50000"/>
                  </a:schemeClr>
                </a:solidFill>
                <a:latin typeface="+mn-lt"/>
              </a:rPr>
            </a:br>
            <a:r>
              <a:rPr lang="en-GB" sz="1200">
                <a:solidFill>
                  <a:schemeClr val="bg1">
                    <a:lumMod val="50000"/>
                  </a:schemeClr>
                </a:solidFill>
                <a:latin typeface="+mn-lt"/>
              </a:rPr>
              <a:t>Taken from the Apollo 8 mission, 1968; Image known as earth rise, https://www.nasa.gov/sites/default/files/thumbnails/image/apollo08_earthrise.jpg</a:t>
            </a:r>
          </a:p>
        </p:txBody>
      </p:sp>
      <p:pic>
        <p:nvPicPr>
          <p:cNvPr id="31750" name="Inhaltsplatzhalter 4">
            <a:extLst>
              <a:ext uri="{FF2B5EF4-FFF2-40B4-BE49-F238E27FC236}">
                <a16:creationId xmlns:a16="http://schemas.microsoft.com/office/drawing/2014/main" id="{101E7B24-A4FE-E2A6-1A28-8B8C9257BA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1" y="-10583"/>
            <a:ext cx="7145867"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B3402-9CB2-A58C-184C-EE361A989C92}"/>
              </a:ext>
            </a:extLst>
          </p:cNvPr>
          <p:cNvSpPr>
            <a:spLocks noGrp="1"/>
          </p:cNvSpPr>
          <p:nvPr>
            <p:ph type="title"/>
          </p:nvPr>
        </p:nvSpPr>
        <p:spPr>
          <a:xfrm>
            <a:off x="5080216" y="1076324"/>
            <a:ext cx="6272784" cy="1535051"/>
          </a:xfrm>
        </p:spPr>
        <p:txBody>
          <a:bodyPr anchor="b">
            <a:normAutofit/>
          </a:bodyPr>
          <a:lstStyle/>
          <a:p>
            <a:r>
              <a:rPr lang="en-US" sz="5200"/>
              <a:t>Only One Earth – Let's Protect It</a:t>
            </a:r>
          </a:p>
        </p:txBody>
      </p:sp>
      <p:pic>
        <p:nvPicPr>
          <p:cNvPr id="8" name="Inhaltsplatzhalter 4" descr="Earth from outer space looking at the earth&#10;&#10;Description automatically generated">
            <a:extLst>
              <a:ext uri="{FF2B5EF4-FFF2-40B4-BE49-F238E27FC236}">
                <a16:creationId xmlns:a16="http://schemas.microsoft.com/office/drawing/2014/main" id="{1B49E43F-8538-99E8-7590-DC2356831411}"/>
              </a:ext>
            </a:extLst>
          </p:cNvPr>
          <p:cNvPicPr>
            <a:picLocks noChangeAspect="1"/>
          </p:cNvPicPr>
          <p:nvPr/>
        </p:nvPicPr>
        <p:blipFill rotWithShape="1">
          <a:blip r:embed="rId3">
            <a:extLst>
              <a:ext uri="{28A0092B-C50C-407E-A947-70E740481C1C}">
                <a14:useLocalDpi xmlns:a14="http://schemas.microsoft.com/office/drawing/2010/main" val="0"/>
              </a:ext>
            </a:extLst>
          </a:blip>
          <a:srcRect l="30792" r="6140" b="-2"/>
          <a:stretch/>
        </p:blipFill>
        <p:spPr bwMode="auto">
          <a:xfrm>
            <a:off x="20" y="10"/>
            <a:ext cx="4505305" cy="68579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18AE33C0-4269-2A8B-738C-3D6B27B26C27}"/>
              </a:ext>
            </a:extLst>
          </p:cNvPr>
          <p:cNvSpPr>
            <a:spLocks noGrp="1"/>
          </p:cNvSpPr>
          <p:nvPr>
            <p:ph type="sldNum" sz="quarter" idx="12"/>
          </p:nvPr>
        </p:nvSpPr>
        <p:spPr>
          <a:xfrm>
            <a:off x="10073642" y="6356350"/>
            <a:ext cx="1280160" cy="365125"/>
          </a:xfrm>
        </p:spPr>
        <p:txBody>
          <a:bodyPr>
            <a:normAutofit/>
          </a:bodyPr>
          <a:lstStyle/>
          <a:p>
            <a:pPr>
              <a:spcAft>
                <a:spcPts val="600"/>
              </a:spcAft>
            </a:pPr>
            <a:fld id="{A65A5C87-DF58-40C8-B092-1DE63DB4547E}" type="slidenum">
              <a:rPr lang="en-US" smtClean="0"/>
              <a:pPr>
                <a:spcAft>
                  <a:spcPts val="600"/>
                </a:spcAft>
              </a:pPr>
              <a:t>7</a:t>
            </a:fld>
            <a:endParaRPr lang="en-US"/>
          </a:p>
        </p:txBody>
      </p:sp>
    </p:spTree>
    <p:extLst>
      <p:ext uri="{BB962C8B-B14F-4D97-AF65-F5344CB8AC3E}">
        <p14:creationId xmlns:p14="http://schemas.microsoft.com/office/powerpoint/2010/main" val="3769768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Defining Sustainable Development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a:ln>
                  <a:noFill/>
                </a:ln>
                <a:solidFill>
                  <a:prstClr val="white"/>
                </a:solidFill>
                <a:effectLst/>
                <a:uLnTx/>
                <a:uFillTx/>
                <a:latin typeface="Avenir Next LT Pro"/>
                <a:ea typeface="+mn-ea"/>
                <a:cs typeface="+mn-cs"/>
              </a:rPr>
              <a:t>2</a:t>
            </a:r>
          </a:p>
          <a:p>
            <a:endParaRPr lang="en-US"/>
          </a:p>
        </p:txBody>
      </p:sp>
    </p:spTree>
    <p:extLst>
      <p:ext uri="{BB962C8B-B14F-4D97-AF65-F5344CB8AC3E}">
        <p14:creationId xmlns:p14="http://schemas.microsoft.com/office/powerpoint/2010/main" val="2177544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9F6EA5-1EEF-4F8D-A202-227127F37230}"/>
              </a:ext>
            </a:extLst>
          </p:cNvPr>
          <p:cNvSpPr>
            <a:spLocks noGrp="1"/>
          </p:cNvSpPr>
          <p:nvPr>
            <p:ph type="title"/>
          </p:nvPr>
        </p:nvSpPr>
        <p:spPr>
          <a:xfrm>
            <a:off x="841248" y="685800"/>
            <a:ext cx="10506456" cy="1157005"/>
          </a:xfrm>
        </p:spPr>
        <p:txBody>
          <a:bodyPr vert="horz" lIns="91440" tIns="45720" rIns="91440" bIns="45720" rtlCol="0" anchor="b">
            <a:normAutofit/>
          </a:bodyPr>
          <a:lstStyle/>
          <a:p>
            <a:pPr algn="l"/>
            <a:r>
              <a:rPr lang="en-US" sz="2300"/>
              <a:t>Sustainable Development is “development that meets the needs of the present without compromising the ability of future generations to meet their own needs.”</a:t>
            </a:r>
          </a:p>
        </p:txBody>
      </p:sp>
      <p:sp>
        <p:nvSpPr>
          <p:cNvPr id="25" name="Rectangle 24">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CE93E06A-806F-4CD1-9674-3E912429875F}"/>
              </a:ext>
            </a:extLst>
          </p:cNvPr>
          <p:cNvSpPr>
            <a:spLocks/>
          </p:cNvSpPr>
          <p:nvPr/>
        </p:nvSpPr>
        <p:spPr>
          <a:xfrm>
            <a:off x="2654300" y="1550373"/>
            <a:ext cx="6824941" cy="567086"/>
          </a:xfrm>
          <a:prstGeom prst="rect">
            <a:avLst/>
          </a:prstGeom>
        </p:spPr>
        <p:txBody>
          <a:bodyPr lIns="91440" tIns="45720" rIns="91440" bIns="45720" anchor="t">
            <a:normAutofit/>
          </a:bodyPr>
          <a:lstStyle/>
          <a:p>
            <a:pPr defTabSz="841248">
              <a:lnSpc>
                <a:spcPct val="90000"/>
              </a:lnSpc>
              <a:spcAft>
                <a:spcPts val="600"/>
              </a:spcAft>
            </a:pPr>
            <a:r>
              <a:rPr lang="en-GB" sz="1100" kern="0">
                <a:solidFill>
                  <a:schemeClr val="tx1"/>
                </a:solidFill>
                <a:latin typeface="+mn-lt"/>
                <a:ea typeface="+mn-ea"/>
                <a:cs typeface="Tahoma" pitchFamily="34" charset="0"/>
              </a:rPr>
              <a:t>Definition of the World Commission on Environment and Development (WCED) 1987</a:t>
            </a:r>
          </a:p>
          <a:p>
            <a:pPr defTabSz="841248">
              <a:lnSpc>
                <a:spcPct val="90000"/>
              </a:lnSpc>
              <a:spcAft>
                <a:spcPts val="600"/>
              </a:spcAft>
            </a:pPr>
            <a:endParaRPr lang="en-GB" sz="1100" kern="0">
              <a:latin typeface="+mn-lt"/>
            </a:endParaRPr>
          </a:p>
          <a:p>
            <a:pPr defTabSz="841248">
              <a:lnSpc>
                <a:spcPct val="90000"/>
              </a:lnSpc>
              <a:spcAft>
                <a:spcPts val="600"/>
              </a:spcAft>
            </a:pPr>
            <a:endParaRPr lang="en-GB" sz="1100" kern="0"/>
          </a:p>
        </p:txBody>
      </p:sp>
      <p:sp>
        <p:nvSpPr>
          <p:cNvPr id="9" name="Slide Number Placeholder 8">
            <a:extLst>
              <a:ext uri="{FF2B5EF4-FFF2-40B4-BE49-F238E27FC236}">
                <a16:creationId xmlns:a16="http://schemas.microsoft.com/office/drawing/2014/main" id="{BB08890F-0304-4336-8A5F-BCCA24EADE2D}"/>
              </a:ext>
            </a:extLst>
          </p:cNvPr>
          <p:cNvSpPr>
            <a:spLocks/>
          </p:cNvSpPr>
          <p:nvPr/>
        </p:nvSpPr>
        <p:spPr>
          <a:xfrm>
            <a:off x="11263858" y="6172200"/>
            <a:ext cx="2539154" cy="337966"/>
          </a:xfrm>
          <a:prstGeom prst="rect">
            <a:avLst/>
          </a:prstGeom>
        </p:spPr>
        <p:txBody>
          <a:bodyPr/>
          <a:lstStyle/>
          <a:p>
            <a:pPr defTabSz="841248">
              <a:spcAft>
                <a:spcPts val="600"/>
              </a:spcAft>
            </a:pPr>
            <a:fld id="{A65A5C87-DF58-40C8-B092-1DE63DB4547E}" type="slidenum">
              <a:rPr lang="en-US" sz="1200" kern="1200">
                <a:solidFill>
                  <a:schemeClr val="tx1"/>
                </a:solidFill>
                <a:latin typeface="+mn-lt"/>
                <a:ea typeface="+mn-ea"/>
                <a:cs typeface="+mn-cs"/>
              </a:rPr>
              <a:pPr defTabSz="841248">
                <a:spcAft>
                  <a:spcPts val="600"/>
                </a:spcAft>
              </a:pPr>
              <a:t>9</a:t>
            </a:fld>
            <a:endParaRPr lang="en-US" sz="1200"/>
          </a:p>
        </p:txBody>
      </p:sp>
      <p:sp>
        <p:nvSpPr>
          <p:cNvPr id="11" name="Content Placeholder 10">
            <a:extLst>
              <a:ext uri="{FF2B5EF4-FFF2-40B4-BE49-F238E27FC236}">
                <a16:creationId xmlns:a16="http://schemas.microsoft.com/office/drawing/2014/main" id="{4BA52259-E9BC-4D73-AB88-6F0A4227FEC2}"/>
              </a:ext>
            </a:extLst>
          </p:cNvPr>
          <p:cNvSpPr>
            <a:spLocks/>
          </p:cNvSpPr>
          <p:nvPr/>
        </p:nvSpPr>
        <p:spPr>
          <a:xfrm>
            <a:off x="8297083" y="2605611"/>
            <a:ext cx="3047573" cy="2747811"/>
          </a:xfrm>
          <a:prstGeom prst="rect">
            <a:avLst/>
          </a:prstGeom>
        </p:spPr>
        <p:txBody>
          <a:bodyPr/>
          <a:lstStyle/>
          <a:p>
            <a:pPr defTabSz="841248">
              <a:spcAft>
                <a:spcPts val="600"/>
              </a:spcAft>
            </a:pPr>
            <a:r>
              <a:rPr lang="en-US" sz="1656" kern="1200">
                <a:solidFill>
                  <a:schemeClr val="tx1"/>
                </a:solidFill>
                <a:latin typeface="+mn-lt"/>
                <a:ea typeface="+mn-ea"/>
                <a:cs typeface="+mn-cs"/>
              </a:rPr>
              <a:t> </a:t>
            </a:r>
            <a:endParaRPr lang="en-US" sz="1800"/>
          </a:p>
        </p:txBody>
      </p:sp>
      <p:pic>
        <p:nvPicPr>
          <p:cNvPr id="12" name="Picture 2" descr="https://upload.wikimedia.org/wikipedia/en/a/aa/Our_Common_Future_book_cover.gif">
            <a:extLst>
              <a:ext uri="{FF2B5EF4-FFF2-40B4-BE49-F238E27FC236}">
                <a16:creationId xmlns:a16="http://schemas.microsoft.com/office/drawing/2014/main" id="{18DB2CEC-8FCE-B81B-18F9-0D7509F5A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344" y="2245317"/>
            <a:ext cx="1858814" cy="274781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erson standing at a podium&#10;&#10;Description automatically generated">
            <a:extLst>
              <a:ext uri="{FF2B5EF4-FFF2-40B4-BE49-F238E27FC236}">
                <a16:creationId xmlns:a16="http://schemas.microsoft.com/office/drawing/2014/main" id="{27FCDDAA-6666-F886-BEEC-9A4CBDD62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15677" y="2286458"/>
            <a:ext cx="3532150" cy="2738349"/>
          </a:xfrm>
          <a:prstGeom prst="rect">
            <a:avLst/>
          </a:prstGeom>
        </p:spPr>
      </p:pic>
      <p:sp>
        <p:nvSpPr>
          <p:cNvPr id="13" name="TextBox 12">
            <a:extLst>
              <a:ext uri="{FF2B5EF4-FFF2-40B4-BE49-F238E27FC236}">
                <a16:creationId xmlns:a16="http://schemas.microsoft.com/office/drawing/2014/main" id="{5FF9C3F5-8505-E2BF-3BB7-0EA6E062556E}"/>
              </a:ext>
            </a:extLst>
          </p:cNvPr>
          <p:cNvSpPr txBox="1"/>
          <p:nvPr/>
        </p:nvSpPr>
        <p:spPr>
          <a:xfrm>
            <a:off x="2717800" y="4559300"/>
            <a:ext cx="22987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a:ea typeface="+mn-lt"/>
                <a:cs typeface="+mn-lt"/>
              </a:rPr>
              <a:t>Report </a:t>
            </a:r>
            <a:r>
              <a:rPr lang="en-GB" sz="1100" i="1">
                <a:ea typeface="+mn-lt"/>
                <a:cs typeface="+mn-lt"/>
              </a:rPr>
              <a:t>Our Common Future </a:t>
            </a:r>
            <a:r>
              <a:rPr lang="en-GB" sz="1100">
                <a:ea typeface="+mn-lt"/>
                <a:cs typeface="+mn-lt"/>
              </a:rPr>
              <a:t>(«Brundtland Report»)</a:t>
            </a:r>
            <a:endParaRPr lang="en-US"/>
          </a:p>
        </p:txBody>
      </p:sp>
      <p:sp>
        <p:nvSpPr>
          <p:cNvPr id="14" name="TextBox 13">
            <a:extLst>
              <a:ext uri="{FF2B5EF4-FFF2-40B4-BE49-F238E27FC236}">
                <a16:creationId xmlns:a16="http://schemas.microsoft.com/office/drawing/2014/main" id="{ABBD5A2F-C1F4-CA1D-60D1-147D0FDEF570}"/>
              </a:ext>
            </a:extLst>
          </p:cNvPr>
          <p:cNvSpPr txBox="1"/>
          <p:nvPr/>
        </p:nvSpPr>
        <p:spPr>
          <a:xfrm>
            <a:off x="8674099" y="4254500"/>
            <a:ext cx="27432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a:ea typeface="+mn-lt"/>
                <a:cs typeface="+mn-lt"/>
              </a:rPr>
              <a:t>Gro Harlem Brundtland, Norwegian Prime Minister who led the World Commission on Environment and Development</a:t>
            </a:r>
            <a:endParaRPr lang="en-US"/>
          </a:p>
        </p:txBody>
      </p:sp>
    </p:spTree>
    <p:extLst>
      <p:ext uri="{BB962C8B-B14F-4D97-AF65-F5344CB8AC3E}">
        <p14:creationId xmlns:p14="http://schemas.microsoft.com/office/powerpoint/2010/main" val="9554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D854E77A-DBFE-E9EB-BEB8-25D20D370490}"/>
              </a:ext>
            </a:extLst>
          </p:cNvPr>
          <p:cNvSpPr>
            <a:spLocks noGrp="1"/>
          </p:cNvSpPr>
          <p:nvPr>
            <p:ph type="title"/>
          </p:nvPr>
        </p:nvSpPr>
        <p:spPr>
          <a:xfrm>
            <a:off x="841247" y="978619"/>
            <a:ext cx="3410712" cy="1106424"/>
          </a:xfrm>
        </p:spPr>
        <p:txBody>
          <a:bodyPr vert="horz" lIns="91440" tIns="45720" rIns="91440" bIns="45720" rtlCol="0" anchor="ctr">
            <a:normAutofit/>
          </a:bodyPr>
          <a:lstStyle/>
          <a:p>
            <a:r>
              <a:rPr lang="en-US" sz="2800"/>
              <a:t>Sustainable Development</a:t>
            </a:r>
          </a:p>
        </p:txBody>
      </p:sp>
      <p:sp>
        <p:nvSpPr>
          <p:cNvPr id="25" name="Rectangle 2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F1B17F3A-F7D9-0A6F-3AE5-D73B8C7B545B}"/>
              </a:ext>
            </a:extLst>
          </p:cNvPr>
          <p:cNvSpPr>
            <a:spLocks noGrp="1"/>
          </p:cNvSpPr>
          <p:nvPr>
            <p:ph sz="half" idx="2"/>
          </p:nvPr>
        </p:nvSpPr>
        <p:spPr>
          <a:xfrm>
            <a:off x="841248" y="2252870"/>
            <a:ext cx="3412219" cy="3560251"/>
          </a:xfrm>
        </p:spPr>
        <p:txBody>
          <a:bodyPr vert="horz" lIns="91440" tIns="45720" rIns="91440" bIns="45720" rtlCol="0" anchor="t">
            <a:noAutofit/>
          </a:bodyPr>
          <a:lstStyle/>
          <a:p>
            <a:pPr>
              <a:lnSpc>
                <a:spcPct val="100000"/>
              </a:lnSpc>
            </a:pPr>
            <a:r>
              <a:rPr lang="en-US" sz="1600" b="1"/>
              <a:t>Environment:</a:t>
            </a:r>
            <a:r>
              <a:rPr lang="en-US" sz="1600"/>
              <a:t> Resource management, environmental protection, land degradation, water quality, clean air, waste governance, etc.</a:t>
            </a:r>
          </a:p>
          <a:p>
            <a:pPr>
              <a:lnSpc>
                <a:spcPct val="100000"/>
              </a:lnSpc>
            </a:pPr>
            <a:r>
              <a:rPr lang="en-US" sz="1600" b="1"/>
              <a:t>Society: </a:t>
            </a:r>
            <a:r>
              <a:rPr lang="en-US" sz="1600"/>
              <a:t>Quality of life, education, community development, equal opportunity, laws and ethics, standard of living, health, etc.</a:t>
            </a:r>
          </a:p>
          <a:p>
            <a:pPr>
              <a:lnSpc>
                <a:spcPct val="100000"/>
              </a:lnSpc>
            </a:pPr>
            <a:r>
              <a:rPr lang="en-US" sz="1600" b="1"/>
              <a:t>Economy:</a:t>
            </a:r>
            <a:r>
              <a:rPr lang="en-US" sz="1600"/>
              <a:t> employment, R&amp;D spending, cost of living, cost saving, finances, productivity, etc.</a:t>
            </a:r>
          </a:p>
        </p:txBody>
      </p:sp>
      <p:pic>
        <p:nvPicPr>
          <p:cNvPr id="10" name="Content Placeholder 9" descr="Figure 28: Confederation's 3-dimensional concept">
            <a:extLst>
              <a:ext uri="{FF2B5EF4-FFF2-40B4-BE49-F238E27FC236}">
                <a16:creationId xmlns:a16="http://schemas.microsoft.com/office/drawing/2014/main" id="{2BE06796-356E-1D1D-81EE-7AF5D729DA50}"/>
              </a:ext>
            </a:extLst>
          </p:cNvPr>
          <p:cNvPicPr>
            <a:picLocks noGrp="1" noChangeAspect="1"/>
          </p:cNvPicPr>
          <p:nvPr>
            <p:ph sz="quarter" idx="4"/>
          </p:nvPr>
        </p:nvPicPr>
        <p:blipFill>
          <a:blip r:embed="rId3"/>
          <a:stretch>
            <a:fillRect/>
          </a:stretch>
        </p:blipFill>
        <p:spPr>
          <a:xfrm>
            <a:off x="5120640" y="691013"/>
            <a:ext cx="6656832" cy="5375390"/>
          </a:xfrm>
          <a:prstGeom prst="rect">
            <a:avLst/>
          </a:prstGeom>
        </p:spPr>
      </p:pic>
      <p:sp>
        <p:nvSpPr>
          <p:cNvPr id="2" name="Foliennummernplatzhalter 1"/>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5DCECA37-7FCC-45D4-BAD6-B8760F7664F4}" type="slidenum">
              <a:rPr lang="en-US">
                <a:solidFill>
                  <a:schemeClr val="tx2">
                    <a:lumMod val="50000"/>
                    <a:lumOff val="50000"/>
                  </a:schemeClr>
                </a:solidFill>
              </a:rPr>
              <a:pPr>
                <a:spcAft>
                  <a:spcPts val="600"/>
                </a:spcAft>
              </a:pPr>
              <a:t>10</a:t>
            </a:fld>
            <a:endParaRPr lang="en-US">
              <a:solidFill>
                <a:schemeClr val="tx2">
                  <a:lumMod val="50000"/>
                  <a:lumOff val="50000"/>
                </a:schemeClr>
              </a:solidFill>
            </a:endParaRPr>
          </a:p>
        </p:txBody>
      </p:sp>
      <p:sp>
        <p:nvSpPr>
          <p:cNvPr id="11" name="TextBox 10">
            <a:extLst>
              <a:ext uri="{FF2B5EF4-FFF2-40B4-BE49-F238E27FC236}">
                <a16:creationId xmlns:a16="http://schemas.microsoft.com/office/drawing/2014/main" id="{098E5030-FD96-9F10-8204-03D1461D27E4}"/>
              </a:ext>
            </a:extLst>
          </p:cNvPr>
          <p:cNvSpPr txBox="1"/>
          <p:nvPr/>
        </p:nvSpPr>
        <p:spPr>
          <a:xfrm>
            <a:off x="8099779" y="6443711"/>
            <a:ext cx="40922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Hermes 2023 based on ARE 2001</a:t>
            </a:r>
          </a:p>
        </p:txBody>
      </p:sp>
    </p:spTree>
    <p:extLst>
      <p:ext uri="{BB962C8B-B14F-4D97-AF65-F5344CB8AC3E}">
        <p14:creationId xmlns:p14="http://schemas.microsoft.com/office/powerpoint/2010/main" val="731024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9670807" y="2942268"/>
            <a:ext cx="2311373" cy="2048099"/>
          </a:xfrm>
          <a:prstGeom prst="rect">
            <a:avLst/>
          </a:prstGeom>
          <a:noFill/>
          <a:ln>
            <a:noFill/>
          </a:ln>
        </p:spPr>
      </p:pic>
      <p:pic>
        <p:nvPicPr>
          <p:cNvPr id="103" name="Google Shape;103;p19"/>
          <p:cNvPicPr preferRelativeResize="0"/>
          <p:nvPr/>
        </p:nvPicPr>
        <p:blipFill>
          <a:blip r:embed="rId4">
            <a:alphaModFix/>
          </a:blip>
          <a:stretch>
            <a:fillRect/>
          </a:stretch>
        </p:blipFill>
        <p:spPr>
          <a:xfrm>
            <a:off x="9285850" y="811492"/>
            <a:ext cx="2689157" cy="2048100"/>
          </a:xfrm>
          <a:prstGeom prst="rect">
            <a:avLst/>
          </a:prstGeom>
          <a:noFill/>
          <a:ln>
            <a:noFill/>
          </a:ln>
        </p:spPr>
      </p:pic>
      <p:sp>
        <p:nvSpPr>
          <p:cNvPr id="2" name="TextBox 1">
            <a:extLst>
              <a:ext uri="{FF2B5EF4-FFF2-40B4-BE49-F238E27FC236}">
                <a16:creationId xmlns:a16="http://schemas.microsoft.com/office/drawing/2014/main" id="{B9D996EA-864B-1FBE-3EAC-1CCAFEB2485A}"/>
              </a:ext>
            </a:extLst>
          </p:cNvPr>
          <p:cNvSpPr txBox="1"/>
          <p:nvPr/>
        </p:nvSpPr>
        <p:spPr>
          <a:xfrm>
            <a:off x="9676212" y="5552735"/>
            <a:ext cx="24228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hlinkClick r:id="rId5"/>
              </a:rPr>
              <a:t>Agenda 2063: The Africa We Want. | African Union (au.int)</a:t>
            </a:r>
            <a:endParaRPr lang="en-US" sz="1200" dirty="0"/>
          </a:p>
        </p:txBody>
      </p:sp>
      <p:sp>
        <p:nvSpPr>
          <p:cNvPr id="5" name="Title 4">
            <a:extLst>
              <a:ext uri="{FF2B5EF4-FFF2-40B4-BE49-F238E27FC236}">
                <a16:creationId xmlns:a16="http://schemas.microsoft.com/office/drawing/2014/main" id="{EE55C15A-11D2-B218-7C31-EE7A28C09CC0}"/>
              </a:ext>
            </a:extLst>
          </p:cNvPr>
          <p:cNvSpPr>
            <a:spLocks noGrp="1"/>
          </p:cNvSpPr>
          <p:nvPr>
            <p:ph type="title"/>
          </p:nvPr>
        </p:nvSpPr>
        <p:spPr>
          <a:xfrm>
            <a:off x="1133616" y="546676"/>
            <a:ext cx="10168128" cy="1179576"/>
          </a:xfrm>
        </p:spPr>
        <p:txBody>
          <a:bodyPr/>
          <a:lstStyle/>
          <a:p>
            <a:r>
              <a:rPr lang="en-GB" dirty="0"/>
              <a:t>Agenda 2063: The Africa we Want</a:t>
            </a:r>
          </a:p>
        </p:txBody>
      </p:sp>
      <p:sp>
        <p:nvSpPr>
          <p:cNvPr id="6" name="TextBox 5">
            <a:extLst>
              <a:ext uri="{FF2B5EF4-FFF2-40B4-BE49-F238E27FC236}">
                <a16:creationId xmlns:a16="http://schemas.microsoft.com/office/drawing/2014/main" id="{53440DD5-C8CA-FD31-BE33-A2D82183391C}"/>
              </a:ext>
            </a:extLst>
          </p:cNvPr>
          <p:cNvSpPr txBox="1"/>
          <p:nvPr/>
        </p:nvSpPr>
        <p:spPr>
          <a:xfrm>
            <a:off x="589138" y="2007304"/>
            <a:ext cx="8784164"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t>Aspirations: </a:t>
            </a:r>
          </a:p>
          <a:p>
            <a:pPr marL="342900" indent="-342900">
              <a:buAutoNum type="arabicParenR"/>
            </a:pPr>
            <a:r>
              <a:rPr lang="en-GB" sz="2000"/>
              <a:t>A prosperous Africa, based on </a:t>
            </a:r>
            <a:r>
              <a:rPr lang="en-GB" sz="2000" b="1"/>
              <a:t>inclusive growth and sustainable development</a:t>
            </a:r>
            <a:r>
              <a:rPr lang="en-GB" sz="2000"/>
              <a:t>.</a:t>
            </a:r>
          </a:p>
          <a:p>
            <a:pPr marL="342900" indent="-342900">
              <a:buAutoNum type="arabicParenR"/>
            </a:pPr>
            <a:r>
              <a:rPr lang="en-GB" sz="2000"/>
              <a:t>An integrated continent, politically united and based on the ideals of </a:t>
            </a:r>
            <a:r>
              <a:rPr lang="en-GB" sz="2000" b="1"/>
              <a:t>Pan-Africanism</a:t>
            </a:r>
            <a:r>
              <a:rPr lang="en-GB" sz="2000"/>
              <a:t> and the vision of </a:t>
            </a:r>
            <a:r>
              <a:rPr lang="en-GB" sz="2000" b="1"/>
              <a:t>African Renaissance</a:t>
            </a:r>
            <a:r>
              <a:rPr lang="en-GB" sz="2000"/>
              <a:t>.</a:t>
            </a:r>
          </a:p>
          <a:p>
            <a:pPr marL="342900" indent="-342900">
              <a:buAutoNum type="arabicParenR"/>
            </a:pPr>
            <a:r>
              <a:rPr lang="en-GB" sz="2000"/>
              <a:t>An Africa for</a:t>
            </a:r>
            <a:r>
              <a:rPr lang="en-GB" sz="2000" b="1"/>
              <a:t> good governance, democracy, respect for human rights, justice and the rule of law</a:t>
            </a:r>
            <a:r>
              <a:rPr lang="en-GB" sz="2000"/>
              <a:t>.</a:t>
            </a:r>
          </a:p>
          <a:p>
            <a:pPr marL="342900" indent="-342900">
              <a:buAutoNum type="arabicParenR"/>
            </a:pPr>
            <a:r>
              <a:rPr lang="en-GB" sz="2000"/>
              <a:t>A </a:t>
            </a:r>
            <a:r>
              <a:rPr lang="en-GB" sz="2000" b="1"/>
              <a:t>peaceful and secure Africa</a:t>
            </a:r>
            <a:r>
              <a:rPr lang="en-GB" sz="2000"/>
              <a:t>.</a:t>
            </a:r>
          </a:p>
          <a:p>
            <a:pPr marL="342900" indent="-342900">
              <a:buAutoNum type="arabicParenR"/>
            </a:pPr>
            <a:r>
              <a:rPr lang="en-GB" sz="2000"/>
              <a:t>Africa with a strong </a:t>
            </a:r>
            <a:r>
              <a:rPr lang="en-GB" sz="2000" b="1"/>
              <a:t>cultural identity, common heritage, values and ethics</a:t>
            </a:r>
            <a:r>
              <a:rPr lang="en-GB" sz="2000"/>
              <a:t>.</a:t>
            </a:r>
          </a:p>
          <a:p>
            <a:pPr marL="342900" indent="-342900">
              <a:buAutoNum type="arabicParenR"/>
            </a:pPr>
            <a:r>
              <a:rPr lang="en-GB" sz="2000"/>
              <a:t>An Africa whose development is </a:t>
            </a:r>
            <a:r>
              <a:rPr lang="en-GB" sz="2000" b="1"/>
              <a:t>people driven</a:t>
            </a:r>
            <a:r>
              <a:rPr lang="en-GB" sz="2000"/>
              <a:t>, relying on the potential offered by African people, </a:t>
            </a:r>
            <a:r>
              <a:rPr lang="en-GB" sz="2000" b="1"/>
              <a:t>especially its women and youth, and caring for children</a:t>
            </a:r>
            <a:r>
              <a:rPr lang="en-GB" sz="2000"/>
              <a:t>. </a:t>
            </a:r>
          </a:p>
          <a:p>
            <a:pPr marL="342900" indent="-342900">
              <a:buAutoNum type="arabicParenR"/>
            </a:pPr>
            <a:r>
              <a:rPr lang="en-GB" sz="2000"/>
              <a:t>An Africa as a </a:t>
            </a:r>
            <a:r>
              <a:rPr lang="en-GB" sz="2000" b="1"/>
              <a:t>strong, united, resilient, and influential global player and partner</a:t>
            </a:r>
            <a:r>
              <a:rPr lang="en-GB" sz="2000"/>
              <a:t>.</a:t>
            </a:r>
          </a:p>
        </p:txBody>
      </p:sp>
      <p:grpSp>
        <p:nvGrpSpPr>
          <p:cNvPr id="25" name="Group 24">
            <a:extLst>
              <a:ext uri="{FF2B5EF4-FFF2-40B4-BE49-F238E27FC236}">
                <a16:creationId xmlns:a16="http://schemas.microsoft.com/office/drawing/2014/main" id="{1964721F-9527-921F-2E42-76AB8F40B243}"/>
              </a:ext>
            </a:extLst>
          </p:cNvPr>
          <p:cNvGrpSpPr/>
          <p:nvPr/>
        </p:nvGrpSpPr>
        <p:grpSpPr>
          <a:xfrm>
            <a:off x="11369860" y="-3696"/>
            <a:ext cx="822140" cy="847296"/>
            <a:chOff x="8600746" y="57953"/>
            <a:chExt cx="822140" cy="847296"/>
          </a:xfrm>
        </p:grpSpPr>
        <p:sp>
          <p:nvSpPr>
            <p:cNvPr id="16" name="Rectangle 15">
              <a:extLst>
                <a:ext uri="{FF2B5EF4-FFF2-40B4-BE49-F238E27FC236}">
                  <a16:creationId xmlns:a16="http://schemas.microsoft.com/office/drawing/2014/main" id="{C122433D-0DEB-F829-7285-DAFE5CE6033D}"/>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Rectangle 20">
              <a:extLst>
                <a:ext uri="{FF2B5EF4-FFF2-40B4-BE49-F238E27FC236}">
                  <a16:creationId xmlns:a16="http://schemas.microsoft.com/office/drawing/2014/main" id="{3330E6D6-7553-517A-2A46-DC84DDD0112F}"/>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Rectangle 21">
              <a:extLst>
                <a:ext uri="{FF2B5EF4-FFF2-40B4-BE49-F238E27FC236}">
                  <a16:creationId xmlns:a16="http://schemas.microsoft.com/office/drawing/2014/main" id="{B0FBA338-1DEA-BE5E-F081-F37CAF646679}"/>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4" name="Picture 3">
              <a:extLst>
                <a:ext uri="{FF2B5EF4-FFF2-40B4-BE49-F238E27FC236}">
                  <a16:creationId xmlns:a16="http://schemas.microsoft.com/office/drawing/2014/main" id="{35FBF3F3-BB91-B660-B6A3-8F1EC3CF2CBD}"/>
                </a:ext>
              </a:extLst>
            </p:cNvPr>
            <p:cNvPicPr>
              <a:picLocks noChangeAspect="1"/>
            </p:cNvPicPr>
            <p:nvPr/>
          </p:nvPicPr>
          <p:blipFill>
            <a:blip r:embed="rId6"/>
            <a:stretch>
              <a:fillRect/>
            </a:stretch>
          </p:blipFill>
          <p:spPr>
            <a:xfrm>
              <a:off x="8648895" y="131258"/>
              <a:ext cx="773991" cy="773991"/>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0"/>
          <p:cNvPicPr preferRelativeResize="0"/>
          <p:nvPr/>
        </p:nvPicPr>
        <p:blipFill>
          <a:blip r:embed="rId3">
            <a:alphaModFix/>
          </a:blip>
          <a:stretch>
            <a:fillRect/>
          </a:stretch>
        </p:blipFill>
        <p:spPr>
          <a:xfrm>
            <a:off x="9000300" y="1860678"/>
            <a:ext cx="2311373" cy="2048099"/>
          </a:xfrm>
          <a:prstGeom prst="rect">
            <a:avLst/>
          </a:prstGeom>
          <a:noFill/>
          <a:ln>
            <a:noFill/>
          </a:ln>
        </p:spPr>
      </p:pic>
      <p:pic>
        <p:nvPicPr>
          <p:cNvPr id="110" name="Google Shape;110;p20"/>
          <p:cNvPicPr preferRelativeResize="0"/>
          <p:nvPr/>
        </p:nvPicPr>
        <p:blipFill>
          <a:blip r:embed="rId4">
            <a:alphaModFix/>
          </a:blip>
          <a:stretch>
            <a:fillRect/>
          </a:stretch>
        </p:blipFill>
        <p:spPr>
          <a:xfrm>
            <a:off x="294767" y="195085"/>
            <a:ext cx="8255965" cy="6467833"/>
          </a:xfrm>
          <a:prstGeom prst="rect">
            <a:avLst/>
          </a:prstGeom>
          <a:noFill/>
          <a:ln>
            <a:noFill/>
          </a:ln>
        </p:spPr>
      </p:pic>
      <p:sp>
        <p:nvSpPr>
          <p:cNvPr id="111" name="Google Shape;111;p20"/>
          <p:cNvSpPr txBox="1"/>
          <p:nvPr/>
        </p:nvSpPr>
        <p:spPr>
          <a:xfrm>
            <a:off x="8851677" y="195084"/>
            <a:ext cx="2460000" cy="670913"/>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de" sz="2400" b="1">
                <a:solidFill>
                  <a:schemeClr val="dk1"/>
                </a:solidFill>
                <a:latin typeface="+mj-lt"/>
                <a:ea typeface="Calibri"/>
                <a:cs typeface="Calibri"/>
                <a:sym typeface="Calibri"/>
              </a:rPr>
              <a:t>African Union</a:t>
            </a:r>
            <a:endParaRPr sz="2489" b="1">
              <a:latin typeface="+mj-lt"/>
            </a:endParaRPr>
          </a:p>
        </p:txBody>
      </p:sp>
      <p:sp>
        <p:nvSpPr>
          <p:cNvPr id="112" name="Google Shape;112;p20"/>
          <p:cNvSpPr txBox="1"/>
          <p:nvPr/>
        </p:nvSpPr>
        <p:spPr>
          <a:xfrm>
            <a:off x="8819064" y="753867"/>
            <a:ext cx="2775200" cy="73452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1600"/>
              </a:spcAft>
              <a:buNone/>
            </a:pPr>
            <a:r>
              <a:rPr lang="de" sz="1600">
                <a:solidFill>
                  <a:schemeClr val="dk1"/>
                </a:solidFill>
                <a:latin typeface="+mn-lt"/>
              </a:rPr>
              <a:t>STI Strategy for Africa 2024 </a:t>
            </a:r>
            <a:endParaRPr sz="2489">
              <a:latin typeface="+mn-lt"/>
            </a:endParaRPr>
          </a:p>
        </p:txBody>
      </p:sp>
      <p:grpSp>
        <p:nvGrpSpPr>
          <p:cNvPr id="6" name="Group 5">
            <a:extLst>
              <a:ext uri="{FF2B5EF4-FFF2-40B4-BE49-F238E27FC236}">
                <a16:creationId xmlns:a16="http://schemas.microsoft.com/office/drawing/2014/main" id="{B145A282-A93B-90CE-3C5B-955102919919}"/>
              </a:ext>
            </a:extLst>
          </p:cNvPr>
          <p:cNvGrpSpPr/>
          <p:nvPr/>
        </p:nvGrpSpPr>
        <p:grpSpPr>
          <a:xfrm>
            <a:off x="11369860" y="-3696"/>
            <a:ext cx="822140" cy="847296"/>
            <a:chOff x="8600746" y="57953"/>
            <a:chExt cx="822140" cy="847296"/>
          </a:xfrm>
        </p:grpSpPr>
        <p:sp>
          <p:nvSpPr>
            <p:cNvPr id="7" name="Rectangle 6">
              <a:extLst>
                <a:ext uri="{FF2B5EF4-FFF2-40B4-BE49-F238E27FC236}">
                  <a16:creationId xmlns:a16="http://schemas.microsoft.com/office/drawing/2014/main" id="{5230B5FA-BA58-BEC3-023B-7A5FC21FF587}"/>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Rectangle 7">
              <a:extLst>
                <a:ext uri="{FF2B5EF4-FFF2-40B4-BE49-F238E27FC236}">
                  <a16:creationId xmlns:a16="http://schemas.microsoft.com/office/drawing/2014/main" id="{A39A4CCC-E9ED-22F7-620E-C80FC2636AD7}"/>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Rectangle 8">
              <a:extLst>
                <a:ext uri="{FF2B5EF4-FFF2-40B4-BE49-F238E27FC236}">
                  <a16:creationId xmlns:a16="http://schemas.microsoft.com/office/drawing/2014/main" id="{ED011D53-4256-A959-B8B6-0AFF11A7E1EF}"/>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0" name="Picture 9">
              <a:extLst>
                <a:ext uri="{FF2B5EF4-FFF2-40B4-BE49-F238E27FC236}">
                  <a16:creationId xmlns:a16="http://schemas.microsoft.com/office/drawing/2014/main" id="{73AD60C2-6103-EDA7-036B-8940176FC0C8}"/>
                </a:ext>
              </a:extLst>
            </p:cNvPr>
            <p:cNvPicPr>
              <a:picLocks noChangeAspect="1"/>
            </p:cNvPicPr>
            <p:nvPr/>
          </p:nvPicPr>
          <p:blipFill>
            <a:blip r:embed="rId5"/>
            <a:stretch>
              <a:fillRect/>
            </a:stretch>
          </p:blipFill>
          <p:spPr>
            <a:xfrm>
              <a:off x="8648895" y="131258"/>
              <a:ext cx="773991" cy="773991"/>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BD677A64-48C6-EEF2-23F9-B39704D7EF0D}"/>
              </a:ext>
            </a:extLst>
          </p:cNvPr>
          <p:cNvSpPr>
            <a:spLocks noGrp="1"/>
          </p:cNvSpPr>
          <p:nvPr>
            <p:ph type="title"/>
          </p:nvPr>
        </p:nvSpPr>
        <p:spPr>
          <a:xfrm>
            <a:off x="838196" y="978408"/>
            <a:ext cx="6007608" cy="1106424"/>
          </a:xfrm>
        </p:spPr>
        <p:txBody>
          <a:bodyPr vert="horz" lIns="91440" tIns="45720" rIns="91440" bIns="45720" rtlCol="0" anchor="ctr">
            <a:normAutofit/>
          </a:bodyPr>
          <a:lstStyle/>
          <a:p>
            <a:r>
              <a:rPr lang="en-US" sz="2800"/>
              <a:t>The UN Sustainable Development Goals</a:t>
            </a:r>
          </a:p>
        </p:txBody>
      </p:sp>
      <p:sp>
        <p:nvSpPr>
          <p:cNvPr id="17" name="Rectangle 16">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p:cNvSpPr/>
          <p:nvPr/>
        </p:nvSpPr>
        <p:spPr>
          <a:xfrm>
            <a:off x="841244" y="2359152"/>
            <a:ext cx="6007608" cy="3429000"/>
          </a:xfrm>
          <a:prstGeom prst="rect">
            <a:avLst/>
          </a:prstGeom>
        </p:spPr>
        <p:txBody>
          <a:bodyPr vert="horz" lIns="91440" tIns="45720" rIns="91440" bIns="45720" rtlCol="0" anchor="t">
            <a:normAutofit/>
          </a:bodyPr>
          <a:lstStyle/>
          <a:p>
            <a:pPr>
              <a:lnSpc>
                <a:spcPct val="110000"/>
              </a:lnSpc>
              <a:spcAft>
                <a:spcPts val="600"/>
              </a:spcAft>
            </a:pPr>
            <a:r>
              <a:rPr lang="en-US" sz="2400" dirty="0"/>
              <a:t>Approved on 25 September 2015 as the "2030 Agenda for Sustainable Development" by the 193 member states of the UN. They thus have broad global support and form the political basis for efforts towards SD in the coming years.</a:t>
            </a:r>
          </a:p>
        </p:txBody>
      </p:sp>
      <p:pic>
        <p:nvPicPr>
          <p:cNvPr id="3" name="Picture 2" descr="http://dochas.ie/sites/default/files/Sustainable%20Development%20Goals.pn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80960" y="911665"/>
            <a:ext cx="4233672" cy="2095667"/>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5"/>
          <p:cNvPicPr>
            <a:picLocks noChangeAspect="1"/>
          </p:cNvPicPr>
          <p:nvPr/>
        </p:nvPicPr>
        <p:blipFill>
          <a:blip r:embed="rId4">
            <a:extLst>
              <a:ext uri="{BEBA8EAE-BF5A-486C-A8C5-ECC9F3942E4B}">
                <a14:imgProps xmlns:a14="http://schemas.microsoft.com/office/drawing/2010/main">
                  <a14:imgLayer r:embed="rId5">
                    <a14:imgEffect>
                      <a14:backgroundRemoval t="4000" b="95667" l="2833" r="94667">
                        <a14:foregroundMark x1="52167" y1="11167" x2="52167" y2="11167"/>
                        <a14:foregroundMark x1="54667" y1="11167" x2="54667" y2="11167"/>
                        <a14:foregroundMark x1="57333" y1="11167" x2="57333" y2="11167"/>
                        <a14:foregroundMark x1="61333" y1="11500" x2="61333" y2="11500"/>
                        <a14:foregroundMark x1="79333" y1="36500" x2="79333" y2="36500"/>
                        <a14:foregroundMark x1="82667" y1="35833" x2="82667" y2="35833"/>
                        <a14:foregroundMark x1="34667" y1="29333" x2="34667" y2="29333"/>
                        <a14:foregroundMark x1="48000" y1="38167" x2="48000" y2="38167"/>
                        <a14:foregroundMark x1="55667" y1="36167" x2="55667" y2="36167"/>
                        <a14:foregroundMark x1="49167" y1="33833" x2="49167" y2="33833"/>
                        <a14:foregroundMark x1="25500" y1="66167" x2="25500" y2="66167"/>
                        <a14:foregroundMark x1="27833" y1="64500" x2="27833" y2="64500"/>
                        <a14:foregroundMark x1="16333" y1="73333" x2="16333" y2="73333"/>
                        <a14:foregroundMark x1="73000" y1="74500" x2="73000" y2="74500"/>
                        <a14:foregroundMark x1="60333" y1="60167" x2="60333" y2="60167"/>
                        <a14:foregroundMark x1="52500" y1="60500" x2="52500" y2="60500"/>
                        <a14:foregroundMark x1="43500" y1="63167" x2="43500" y2="63167"/>
                        <a14:foregroundMark x1="37167" y1="63167" x2="37167" y2="63167"/>
                        <a14:foregroundMark x1="36167" y1="59167" x2="36167" y2="59167"/>
                        <a14:foregroundMark x1="34667" y1="56167" x2="34667" y2="56167"/>
                        <a14:foregroundMark x1="30833" y1="47667" x2="30833" y2="47667"/>
                        <a14:foregroundMark x1="30667" y1="44500" x2="30667" y2="44500"/>
                      </a14:backgroundRemoval>
                    </a14:imgEffect>
                  </a14:imgLayer>
                </a14:imgProps>
              </a:ext>
              <a:ext uri="{28A0092B-C50C-407E-A947-70E740481C1C}">
                <a14:useLocalDpi xmlns:a14="http://schemas.microsoft.com/office/drawing/2010/main" val="0"/>
              </a:ext>
            </a:extLst>
          </a:blip>
          <a:stretch>
            <a:fillRect/>
          </a:stretch>
        </p:blipFill>
        <p:spPr>
          <a:xfrm>
            <a:off x="8470138" y="3472468"/>
            <a:ext cx="2651760" cy="2651760"/>
          </a:xfrm>
          <a:prstGeom prst="rect">
            <a:avLst/>
          </a:prstGeom>
        </p:spPr>
      </p:pic>
      <p:sp>
        <p:nvSpPr>
          <p:cNvPr id="2" name="Foliennummernplatzhalter 1"/>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5DCECA37-7FCC-45D4-BAD6-B8760F7664F4}" type="slidenum">
              <a:rPr lang="en-US" smtClean="0"/>
              <a:pPr>
                <a:spcAft>
                  <a:spcPts val="600"/>
                </a:spcAft>
              </a:pPr>
              <a:t>13</a:t>
            </a:fld>
            <a:endParaRPr lang="en-US"/>
          </a:p>
        </p:txBody>
      </p:sp>
    </p:spTree>
    <p:extLst>
      <p:ext uri="{BB962C8B-B14F-4D97-AF65-F5344CB8AC3E}">
        <p14:creationId xmlns:p14="http://schemas.microsoft.com/office/powerpoint/2010/main" val="2049028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BF965-7536-5BD4-4187-96A8904FDE92}"/>
              </a:ext>
            </a:extLst>
          </p:cNvPr>
          <p:cNvSpPr>
            <a:spLocks noGrp="1"/>
          </p:cNvSpPr>
          <p:nvPr>
            <p:ph type="title"/>
          </p:nvPr>
        </p:nvSpPr>
        <p:spPr/>
        <p:txBody>
          <a:bodyPr>
            <a:normAutofit/>
          </a:bodyPr>
          <a:lstStyle/>
          <a:p>
            <a:r>
              <a:rPr lang="en-GB"/>
              <a:t>The UN Sustainable Development Goals</a:t>
            </a:r>
            <a:br>
              <a:rPr lang="en-GB"/>
            </a:br>
            <a:r>
              <a:rPr lang="en-GB" sz="2700">
                <a:solidFill>
                  <a:srgbClr val="336699"/>
                </a:solidFill>
              </a:rPr>
              <a:t>17 goals and 169 concrete targets</a:t>
            </a:r>
            <a:endParaRPr lang="aa-ET"/>
          </a:p>
        </p:txBody>
      </p:sp>
      <p:sp>
        <p:nvSpPr>
          <p:cNvPr id="3" name="Content Placeholder 2">
            <a:extLst>
              <a:ext uri="{FF2B5EF4-FFF2-40B4-BE49-F238E27FC236}">
                <a16:creationId xmlns:a16="http://schemas.microsoft.com/office/drawing/2014/main" id="{3570564E-808D-F2CD-F223-758C7C33F6DF}"/>
              </a:ext>
            </a:extLst>
          </p:cNvPr>
          <p:cNvSpPr>
            <a:spLocks noGrp="1"/>
          </p:cNvSpPr>
          <p:nvPr>
            <p:ph idx="1"/>
          </p:nvPr>
        </p:nvSpPr>
        <p:spPr>
          <a:xfrm>
            <a:off x="840259" y="2063578"/>
            <a:ext cx="10443437" cy="4108622"/>
          </a:xfrm>
        </p:spPr>
        <p:txBody>
          <a:bodyPr>
            <a:normAutofit fontScale="25000" lnSpcReduction="20000"/>
          </a:bodyPr>
          <a:lstStyle/>
          <a:p>
            <a:pPr marL="228600" indent="-228600">
              <a:buFont typeface="+mj-lt"/>
              <a:buAutoNum type="arabicPeriod"/>
            </a:pPr>
            <a:r>
              <a:rPr lang="en-GB" sz="4000" b="1"/>
              <a:t>No Poverty</a:t>
            </a:r>
            <a:r>
              <a:rPr lang="en-GB" sz="4000"/>
              <a:t> - End poverty in all its forms everywhere</a:t>
            </a:r>
          </a:p>
          <a:p>
            <a:pPr marL="228600" indent="-228600">
              <a:buFont typeface="+mj-lt"/>
              <a:buAutoNum type="arabicPeriod"/>
            </a:pPr>
            <a:r>
              <a:rPr lang="en-GB" sz="4000" b="1"/>
              <a:t>Zero Hunger</a:t>
            </a:r>
            <a:r>
              <a:rPr lang="en-GB" sz="4000"/>
              <a:t> - End hunger, achieve food security and improved nutrition and promote sustainable agriculture</a:t>
            </a:r>
          </a:p>
          <a:p>
            <a:pPr marL="228600" indent="-228600">
              <a:buFont typeface="+mj-lt"/>
              <a:buAutoNum type="arabicPeriod"/>
            </a:pPr>
            <a:r>
              <a:rPr lang="en-GB" sz="4000" b="1"/>
              <a:t>Good Health and Well-being</a:t>
            </a:r>
            <a:r>
              <a:rPr lang="en-GB" sz="4000"/>
              <a:t> - Ensure healthy lives and promote well-being for all at all ages</a:t>
            </a:r>
          </a:p>
          <a:p>
            <a:pPr marL="228600" indent="-228600">
              <a:buFont typeface="+mj-lt"/>
              <a:buAutoNum type="arabicPeriod"/>
            </a:pPr>
            <a:r>
              <a:rPr lang="en-GB" sz="4000" b="1"/>
              <a:t>Quality Education</a:t>
            </a:r>
            <a:r>
              <a:rPr lang="en-GB" sz="4000"/>
              <a:t> - Ensure inclusive and equitable quality education and promote lifelong learning opportunities for all</a:t>
            </a:r>
          </a:p>
          <a:p>
            <a:pPr marL="228600" indent="-228600">
              <a:buFont typeface="+mj-lt"/>
              <a:buAutoNum type="arabicPeriod"/>
            </a:pPr>
            <a:r>
              <a:rPr lang="en-GB" sz="4000" b="1"/>
              <a:t>Gender Equality</a:t>
            </a:r>
            <a:r>
              <a:rPr lang="en-GB" sz="4000"/>
              <a:t> - Achieve gender equality and empower all women and girls</a:t>
            </a:r>
          </a:p>
          <a:p>
            <a:pPr marL="228600" indent="-228600">
              <a:buFont typeface="+mj-lt"/>
              <a:buAutoNum type="arabicPeriod"/>
            </a:pPr>
            <a:r>
              <a:rPr lang="en-GB" sz="4000" b="1"/>
              <a:t>Clean Water and Sanitation</a:t>
            </a:r>
            <a:r>
              <a:rPr lang="en-GB" sz="4000"/>
              <a:t> - Ensure availability and sustainable management of water and sanitation for all</a:t>
            </a:r>
          </a:p>
          <a:p>
            <a:pPr marL="228600" indent="-228600">
              <a:buFont typeface="+mj-lt"/>
              <a:buAutoNum type="arabicPeriod"/>
            </a:pPr>
            <a:r>
              <a:rPr lang="en-GB" sz="4000" b="1"/>
              <a:t>Affordable and Clean Energy</a:t>
            </a:r>
            <a:r>
              <a:rPr lang="en-GB" sz="4000"/>
              <a:t> - Ensure access to affordable, reliable, sustainable and modern energy for all</a:t>
            </a:r>
          </a:p>
          <a:p>
            <a:pPr marL="228600" indent="-228600">
              <a:buFont typeface="+mj-lt"/>
              <a:buAutoNum type="arabicPeriod"/>
            </a:pPr>
            <a:r>
              <a:rPr lang="en-GB" sz="4000" b="1"/>
              <a:t>Decent Work and Economic Growth</a:t>
            </a:r>
            <a:r>
              <a:rPr lang="en-GB" sz="4000"/>
              <a:t> - Promote sustained, inclusive and sustainable economic growth, full and productive employment and decent work for all</a:t>
            </a:r>
          </a:p>
          <a:p>
            <a:pPr marL="228600" indent="-228600">
              <a:buFont typeface="+mj-lt"/>
              <a:buAutoNum type="arabicPeriod"/>
            </a:pPr>
            <a:r>
              <a:rPr lang="en-GB" sz="4000" b="1"/>
              <a:t>Industry, Innovation and Infrastructure</a:t>
            </a:r>
            <a:r>
              <a:rPr lang="en-GB" sz="4000"/>
              <a:t> - Build resilient infrastructure, promote inclusive and sustainable industrialization and foster innovation</a:t>
            </a:r>
          </a:p>
          <a:p>
            <a:pPr marL="228600" indent="-228600">
              <a:buFont typeface="+mj-lt"/>
              <a:buAutoNum type="arabicPeriod"/>
            </a:pPr>
            <a:r>
              <a:rPr lang="en-GB" sz="4000" b="1"/>
              <a:t>Reduced Inequalities</a:t>
            </a:r>
            <a:r>
              <a:rPr lang="en-GB" sz="4000"/>
              <a:t> - Reduce income inequality within and among countries</a:t>
            </a:r>
          </a:p>
          <a:p>
            <a:pPr marL="228600" indent="-228600">
              <a:buFont typeface="+mj-lt"/>
              <a:buAutoNum type="arabicPeriod"/>
            </a:pPr>
            <a:r>
              <a:rPr lang="en-GB" sz="4000" b="1"/>
              <a:t>Sustainable Cities and Communities</a:t>
            </a:r>
            <a:r>
              <a:rPr lang="en-GB" sz="4000"/>
              <a:t> - Make cities and human settlements inclusive, safe, resilient and sustainable</a:t>
            </a:r>
          </a:p>
          <a:p>
            <a:pPr marL="228600" indent="-228600">
              <a:buFont typeface="+mj-lt"/>
              <a:buAutoNum type="arabicPeriod"/>
            </a:pPr>
            <a:r>
              <a:rPr lang="en-GB" sz="4000" b="1"/>
              <a:t>Responsible Consumption and Production</a:t>
            </a:r>
            <a:r>
              <a:rPr lang="en-GB" sz="4000"/>
              <a:t> - Ensure sustainable consumption and production patterns</a:t>
            </a:r>
          </a:p>
          <a:p>
            <a:pPr marL="228600" indent="-228600">
              <a:buFont typeface="+mj-lt"/>
              <a:buAutoNum type="arabicPeriod"/>
            </a:pPr>
            <a:r>
              <a:rPr lang="en-GB" sz="4000" b="1"/>
              <a:t>Climate Action</a:t>
            </a:r>
            <a:r>
              <a:rPr lang="en-GB" sz="4000"/>
              <a:t> - Take urgent action to combat climate change and its impacts by regulating emissions and promoting developments in renewable energy</a:t>
            </a:r>
          </a:p>
          <a:p>
            <a:pPr marL="228600" indent="-228600">
              <a:buFont typeface="+mj-lt"/>
              <a:buAutoNum type="arabicPeriod"/>
            </a:pPr>
            <a:r>
              <a:rPr lang="en-GB" sz="4000" b="1"/>
              <a:t>Life Below Water</a:t>
            </a:r>
            <a:r>
              <a:rPr lang="en-GB" sz="4000"/>
              <a:t> - Conserve and sustainably use the oceans, seas and marine resources for sustainable development</a:t>
            </a:r>
          </a:p>
          <a:p>
            <a:pPr marL="228600" indent="-228600">
              <a:buFont typeface="+mj-lt"/>
              <a:buAutoNum type="arabicPeriod"/>
            </a:pPr>
            <a:r>
              <a:rPr lang="en-GB" sz="4000" b="1"/>
              <a:t>Life on Land</a:t>
            </a:r>
            <a:r>
              <a:rPr lang="en-GB" sz="4000"/>
              <a:t> - Protect, restore and promote sustainable use of terrestrial ecosystems, sustainably manage forests, combat desertification, and halt and reverse land degradation and halt biodiversity loss</a:t>
            </a:r>
          </a:p>
          <a:p>
            <a:pPr marL="228600" indent="-228600">
              <a:buFont typeface="+mj-lt"/>
              <a:buAutoNum type="arabicPeriod"/>
            </a:pPr>
            <a:r>
              <a:rPr lang="en-GB" sz="4000" b="1"/>
              <a:t>Peace, Justice and Strong Institutions</a:t>
            </a:r>
            <a:r>
              <a:rPr lang="en-GB" sz="4000"/>
              <a:t> - Promote peaceful and inclusive societies for sustainable development, provide access to justice for all and build effective, accountable and inclusive institutions at all levels</a:t>
            </a:r>
          </a:p>
          <a:p>
            <a:pPr marL="228600" indent="-228600">
              <a:buFont typeface="+mj-lt"/>
              <a:buAutoNum type="arabicPeriod"/>
            </a:pPr>
            <a:r>
              <a:rPr lang="en-GB" sz="4000" b="1"/>
              <a:t>Partnerships for the Goals</a:t>
            </a:r>
            <a:r>
              <a:rPr lang="en-GB" sz="4000"/>
              <a:t> - Strengthen the means of implementation and revitalize the global partnership for sustainable development</a:t>
            </a:r>
            <a:endParaRPr lang="en-GB" sz="4000" b="1"/>
          </a:p>
          <a:p>
            <a:endParaRPr lang="aa-ET"/>
          </a:p>
        </p:txBody>
      </p:sp>
      <p:sp>
        <p:nvSpPr>
          <p:cNvPr id="6" name="Slide Number Placeholder 5">
            <a:extLst>
              <a:ext uri="{FF2B5EF4-FFF2-40B4-BE49-F238E27FC236}">
                <a16:creationId xmlns:a16="http://schemas.microsoft.com/office/drawing/2014/main" id="{B86C641E-388C-297B-0672-5973A823A03E}"/>
              </a:ext>
            </a:extLst>
          </p:cNvPr>
          <p:cNvSpPr>
            <a:spLocks noGrp="1"/>
          </p:cNvSpPr>
          <p:nvPr>
            <p:ph type="sldNum" sz="quarter" idx="12"/>
          </p:nvPr>
        </p:nvSpPr>
        <p:spPr/>
        <p:txBody>
          <a:bodyPr/>
          <a:lstStyle/>
          <a:p>
            <a:fld id="{A65A5C87-DF58-40C8-B092-1DE63DB4547E}" type="slidenum">
              <a:rPr lang="en-US" smtClean="0"/>
              <a:t>14</a:t>
            </a:fld>
            <a:endParaRPr lang="en-US"/>
          </a:p>
        </p:txBody>
      </p:sp>
      <p:sp>
        <p:nvSpPr>
          <p:cNvPr id="7" name="Rechteck 3">
            <a:extLst>
              <a:ext uri="{FF2B5EF4-FFF2-40B4-BE49-F238E27FC236}">
                <a16:creationId xmlns:a16="http://schemas.microsoft.com/office/drawing/2014/main" id="{8C6D87DA-1270-7612-DDC5-BD82C8329739}"/>
              </a:ext>
            </a:extLst>
          </p:cNvPr>
          <p:cNvSpPr/>
          <p:nvPr/>
        </p:nvSpPr>
        <p:spPr>
          <a:xfrm rot="16200000">
            <a:off x="7581063" y="2306194"/>
            <a:ext cx="8568952" cy="261610"/>
          </a:xfrm>
          <a:prstGeom prst="rect">
            <a:avLst/>
          </a:prstGeom>
        </p:spPr>
        <p:txBody>
          <a:bodyPr wrap="square">
            <a:spAutoFit/>
          </a:bodyPr>
          <a:lstStyle/>
          <a:p>
            <a:r>
              <a:rPr lang="de-CH" sz="1100">
                <a:solidFill>
                  <a:srgbClr val="336699"/>
                </a:solidFill>
              </a:rPr>
              <a:t>http://www.un.org/sustainabledevelopment/sustainable-development-goals/</a:t>
            </a:r>
          </a:p>
        </p:txBody>
      </p:sp>
    </p:spTree>
    <p:extLst>
      <p:ext uri="{BB962C8B-B14F-4D97-AF65-F5344CB8AC3E}">
        <p14:creationId xmlns:p14="http://schemas.microsoft.com/office/powerpoint/2010/main" val="1086634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0E99-BBA9-81C0-1EB5-CBC149BF5F79}"/>
              </a:ext>
            </a:extLst>
          </p:cNvPr>
          <p:cNvSpPr>
            <a:spLocks noGrp="1"/>
          </p:cNvSpPr>
          <p:nvPr>
            <p:ph type="title"/>
          </p:nvPr>
        </p:nvSpPr>
        <p:spPr>
          <a:xfrm>
            <a:off x="1115568" y="423847"/>
            <a:ext cx="10168128" cy="1179576"/>
          </a:xfrm>
        </p:spPr>
        <p:txBody>
          <a:bodyPr>
            <a:normAutofit/>
          </a:bodyPr>
          <a:lstStyle/>
          <a:p>
            <a:r>
              <a:rPr lang="en-GB" dirty="0"/>
              <a:t>Linking Agenda 2063 and the SDGs</a:t>
            </a:r>
            <a:endParaRPr lang="en-US" dirty="0"/>
          </a:p>
          <a:p>
            <a:endParaRPr lang="en-GB" sz="5400" b="1" dirty="0">
              <a:solidFill>
                <a:srgbClr val="000000"/>
              </a:solidFill>
            </a:endParaRPr>
          </a:p>
        </p:txBody>
      </p:sp>
      <p:sp>
        <p:nvSpPr>
          <p:cNvPr id="3" name="Content Placeholder 2">
            <a:extLst>
              <a:ext uri="{FF2B5EF4-FFF2-40B4-BE49-F238E27FC236}">
                <a16:creationId xmlns:a16="http://schemas.microsoft.com/office/drawing/2014/main" id="{5D0AC322-2F9E-BFFC-F762-8DDEE364ECC8}"/>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DB5C0A13-3DE8-C236-0DB0-60C32A765086}"/>
              </a:ext>
            </a:extLst>
          </p:cNvPr>
          <p:cNvSpPr>
            <a:spLocks noGrp="1"/>
          </p:cNvSpPr>
          <p:nvPr>
            <p:ph type="sldNum" sz="quarter" idx="12"/>
          </p:nvPr>
        </p:nvSpPr>
        <p:spPr/>
        <p:txBody>
          <a:bodyPr/>
          <a:lstStyle/>
          <a:p>
            <a:fld id="{00000000-1234-1234-1234-123412341234}" type="slidenum">
              <a:rPr lang="de" smtClean="0"/>
              <a:pPr/>
              <a:t>15</a:t>
            </a:fld>
            <a:endParaRPr lang="de"/>
          </a:p>
        </p:txBody>
      </p:sp>
      <p:sp>
        <p:nvSpPr>
          <p:cNvPr id="7" name="TextBox 6">
            <a:extLst>
              <a:ext uri="{FF2B5EF4-FFF2-40B4-BE49-F238E27FC236}">
                <a16:creationId xmlns:a16="http://schemas.microsoft.com/office/drawing/2014/main" id="{83FBB7B9-500C-8FD0-9C35-5FD340111C1C}"/>
              </a:ext>
            </a:extLst>
          </p:cNvPr>
          <p:cNvSpPr txBox="1"/>
          <p:nvPr/>
        </p:nvSpPr>
        <p:spPr>
          <a:xfrm>
            <a:off x="673395" y="6444476"/>
            <a:ext cx="72994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err="1"/>
              <a:t>Royo</a:t>
            </a:r>
            <a:r>
              <a:rPr lang="en-US" sz="1200"/>
              <a:t> et al., 2022</a:t>
            </a:r>
          </a:p>
        </p:txBody>
      </p:sp>
      <p:pic>
        <p:nvPicPr>
          <p:cNvPr id="5" name="Picture 4">
            <a:extLst>
              <a:ext uri="{FF2B5EF4-FFF2-40B4-BE49-F238E27FC236}">
                <a16:creationId xmlns:a16="http://schemas.microsoft.com/office/drawing/2014/main" id="{767E3C5B-C0BD-F8A6-DC7F-28E89580A5DB}"/>
              </a:ext>
            </a:extLst>
          </p:cNvPr>
          <p:cNvPicPr>
            <a:picLocks noChangeAspect="1"/>
          </p:cNvPicPr>
          <p:nvPr/>
        </p:nvPicPr>
        <p:blipFill>
          <a:blip r:embed="rId3"/>
          <a:stretch>
            <a:fillRect/>
          </a:stretch>
        </p:blipFill>
        <p:spPr>
          <a:xfrm>
            <a:off x="673395" y="1221554"/>
            <a:ext cx="10357883" cy="4742727"/>
          </a:xfrm>
          <a:prstGeom prst="rect">
            <a:avLst/>
          </a:prstGeom>
        </p:spPr>
      </p:pic>
      <p:grpSp>
        <p:nvGrpSpPr>
          <p:cNvPr id="6" name="Group 5">
            <a:extLst>
              <a:ext uri="{FF2B5EF4-FFF2-40B4-BE49-F238E27FC236}">
                <a16:creationId xmlns:a16="http://schemas.microsoft.com/office/drawing/2014/main" id="{2557D9E8-B293-AF56-63BB-92F533C4E309}"/>
              </a:ext>
            </a:extLst>
          </p:cNvPr>
          <p:cNvGrpSpPr/>
          <p:nvPr/>
        </p:nvGrpSpPr>
        <p:grpSpPr>
          <a:xfrm>
            <a:off x="11369860" y="-3696"/>
            <a:ext cx="822140" cy="847296"/>
            <a:chOff x="8600746" y="57953"/>
            <a:chExt cx="822140" cy="847296"/>
          </a:xfrm>
        </p:grpSpPr>
        <p:sp>
          <p:nvSpPr>
            <p:cNvPr id="8" name="Rectangle 7">
              <a:extLst>
                <a:ext uri="{FF2B5EF4-FFF2-40B4-BE49-F238E27FC236}">
                  <a16:creationId xmlns:a16="http://schemas.microsoft.com/office/drawing/2014/main" id="{71BCCBC1-9868-75B9-9B53-311CE5B457E6}"/>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Rectangle 8">
              <a:extLst>
                <a:ext uri="{FF2B5EF4-FFF2-40B4-BE49-F238E27FC236}">
                  <a16:creationId xmlns:a16="http://schemas.microsoft.com/office/drawing/2014/main" id="{138A42E6-10C4-B5ED-80A7-B7E52B8BEAD5}"/>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Rectangle 9">
              <a:extLst>
                <a:ext uri="{FF2B5EF4-FFF2-40B4-BE49-F238E27FC236}">
                  <a16:creationId xmlns:a16="http://schemas.microsoft.com/office/drawing/2014/main" id="{77A7220A-EFA2-14CF-EBA2-86734CC4B085}"/>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1" name="Picture 10">
              <a:extLst>
                <a:ext uri="{FF2B5EF4-FFF2-40B4-BE49-F238E27FC236}">
                  <a16:creationId xmlns:a16="http://schemas.microsoft.com/office/drawing/2014/main" id="{5EA447F8-09CF-7D86-220C-71B681B9A365}"/>
                </a:ext>
              </a:extLst>
            </p:cNvPr>
            <p:cNvPicPr>
              <a:picLocks noChangeAspect="1"/>
            </p:cNvPicPr>
            <p:nvPr/>
          </p:nvPicPr>
          <p:blipFill>
            <a:blip r:embed="rId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3403801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6B964-D940-7F64-7532-9F1BF29F66E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11E9EA-5A7E-8083-C511-5DAD6273B683}"/>
              </a:ext>
            </a:extLst>
          </p:cNvPr>
          <p:cNvSpPr>
            <a:spLocks noGrp="1"/>
          </p:cNvSpPr>
          <p:nvPr>
            <p:ph type="title"/>
          </p:nvPr>
        </p:nvSpPr>
        <p:spPr/>
        <p:txBody>
          <a:bodyPr/>
          <a:lstStyle/>
          <a:p>
            <a:r>
              <a:rPr lang="en-US" dirty="0"/>
              <a:t>AU Agenda 2063 and UN Agenda 2030</a:t>
            </a:r>
          </a:p>
        </p:txBody>
      </p:sp>
      <p:sp>
        <p:nvSpPr>
          <p:cNvPr id="4" name="Slide Number Placeholder 3">
            <a:extLst>
              <a:ext uri="{FF2B5EF4-FFF2-40B4-BE49-F238E27FC236}">
                <a16:creationId xmlns:a16="http://schemas.microsoft.com/office/drawing/2014/main" id="{64405D8F-613D-BE5C-EB41-BD08CF478756}"/>
              </a:ext>
            </a:extLst>
          </p:cNvPr>
          <p:cNvSpPr>
            <a:spLocks noGrp="1"/>
          </p:cNvSpPr>
          <p:nvPr>
            <p:ph type="sldNum" sz="quarter" idx="12"/>
          </p:nvPr>
        </p:nvSpPr>
        <p:spPr/>
        <p:txBody>
          <a:bodyPr/>
          <a:lstStyle/>
          <a:p>
            <a:fld id="{A65A5C87-DF58-40C8-B092-1DE63DB4547E}" type="slidenum">
              <a:rPr lang="en-US" smtClean="0"/>
              <a:t>16</a:t>
            </a:fld>
            <a:endParaRPr lang="en-US"/>
          </a:p>
        </p:txBody>
      </p:sp>
      <p:pic>
        <p:nvPicPr>
          <p:cNvPr id="8" name="Picture 7" descr="http://dochas.ie/sites/default/files/Sustainable%20Development%20Goals.png">
            <a:extLst>
              <a:ext uri="{FF2B5EF4-FFF2-40B4-BE49-F238E27FC236}">
                <a16:creationId xmlns:a16="http://schemas.microsoft.com/office/drawing/2014/main" id="{BBC88511-63C2-B2EE-E8F6-5BD38F3E8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5134" y="3104119"/>
            <a:ext cx="4689800" cy="2323124"/>
          </a:xfrm>
          <a:prstGeom prst="rect">
            <a:avLst/>
          </a:prstGeom>
          <a:noFill/>
          <a:extLst>
            <a:ext uri="{909E8E84-426E-40DD-AFC4-6F175D3DCCD1}">
              <a14:hiddenFill xmlns:a14="http://schemas.microsoft.com/office/drawing/2010/main">
                <a:solidFill>
                  <a:srgbClr val="FFFFFF"/>
                </a:solidFill>
              </a14:hiddenFill>
            </a:ext>
          </a:extLst>
        </p:spPr>
      </p:pic>
      <p:pic>
        <p:nvPicPr>
          <p:cNvPr id="12" name="Content Placeholder 11" descr="No photo description available.">
            <a:extLst>
              <a:ext uri="{FF2B5EF4-FFF2-40B4-BE49-F238E27FC236}">
                <a16:creationId xmlns:a16="http://schemas.microsoft.com/office/drawing/2014/main" id="{9CA53750-2DD8-3F1C-88BB-6AD78F515A99}"/>
              </a:ext>
            </a:extLst>
          </p:cNvPr>
          <p:cNvPicPr>
            <a:picLocks noGrp="1" noChangeAspect="1"/>
          </p:cNvPicPr>
          <p:nvPr>
            <p:ph idx="1"/>
          </p:nvPr>
        </p:nvPicPr>
        <p:blipFill rotWithShape="1">
          <a:blip r:embed="rId3"/>
          <a:srcRect l="4626" t="14322" r="3559" b="3769"/>
          <a:stretch/>
        </p:blipFill>
        <p:spPr>
          <a:xfrm>
            <a:off x="1183279" y="1838991"/>
            <a:ext cx="3506874" cy="4420230"/>
          </a:xfrm>
        </p:spPr>
      </p:pic>
      <p:grpSp>
        <p:nvGrpSpPr>
          <p:cNvPr id="14" name="Group 13">
            <a:extLst>
              <a:ext uri="{FF2B5EF4-FFF2-40B4-BE49-F238E27FC236}">
                <a16:creationId xmlns:a16="http://schemas.microsoft.com/office/drawing/2014/main" id="{B6581102-0CC5-5FD3-7AEB-0997B727C37B}"/>
              </a:ext>
            </a:extLst>
          </p:cNvPr>
          <p:cNvGrpSpPr/>
          <p:nvPr/>
        </p:nvGrpSpPr>
        <p:grpSpPr>
          <a:xfrm>
            <a:off x="11369860" y="-3696"/>
            <a:ext cx="822140" cy="847296"/>
            <a:chOff x="8600746" y="57953"/>
            <a:chExt cx="822140" cy="847296"/>
          </a:xfrm>
        </p:grpSpPr>
        <p:sp>
          <p:nvSpPr>
            <p:cNvPr id="15" name="Rectangle 14">
              <a:extLst>
                <a:ext uri="{FF2B5EF4-FFF2-40B4-BE49-F238E27FC236}">
                  <a16:creationId xmlns:a16="http://schemas.microsoft.com/office/drawing/2014/main" id="{52938FFE-98E1-023F-48A6-56A3D8EC5756}"/>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Rectangle 15">
              <a:extLst>
                <a:ext uri="{FF2B5EF4-FFF2-40B4-BE49-F238E27FC236}">
                  <a16:creationId xmlns:a16="http://schemas.microsoft.com/office/drawing/2014/main" id="{868A041E-A427-7534-6663-AF087632BC1D}"/>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Rectangle 16">
              <a:extLst>
                <a:ext uri="{FF2B5EF4-FFF2-40B4-BE49-F238E27FC236}">
                  <a16:creationId xmlns:a16="http://schemas.microsoft.com/office/drawing/2014/main" id="{CC2DC0C8-97BD-458D-71E1-C77B55D2AF59}"/>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8" name="Picture 17">
              <a:extLst>
                <a:ext uri="{FF2B5EF4-FFF2-40B4-BE49-F238E27FC236}">
                  <a16:creationId xmlns:a16="http://schemas.microsoft.com/office/drawing/2014/main" id="{8320682E-F652-42B0-DA9F-6EB599727A0A}"/>
                </a:ext>
              </a:extLst>
            </p:cNvPr>
            <p:cNvPicPr>
              <a:picLocks noChangeAspect="1"/>
            </p:cNvPicPr>
            <p:nvPr/>
          </p:nvPicPr>
          <p:blipFill>
            <a:blip r:embed="rId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323139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8806A2-A8AA-1FEB-5F75-EEDABC60C80C}"/>
              </a:ext>
            </a:extLst>
          </p:cNvPr>
          <p:cNvSpPr>
            <a:spLocks noGrp="1"/>
          </p:cNvSpPr>
          <p:nvPr>
            <p:ph type="title"/>
          </p:nvPr>
        </p:nvSpPr>
        <p:spPr>
          <a:xfrm>
            <a:off x="477981" y="1122363"/>
            <a:ext cx="4023360" cy="3204134"/>
          </a:xfrm>
        </p:spPr>
        <p:txBody>
          <a:bodyPr vert="horz" lIns="91440" tIns="45720" rIns="91440" bIns="45720" rtlCol="0" anchor="b">
            <a:normAutofit fontScale="90000"/>
          </a:bodyPr>
          <a:lstStyle/>
          <a:p>
            <a:r>
              <a:rPr lang="en-US" sz="3100" b="1" dirty="0"/>
              <a:t>Exercise</a:t>
            </a:r>
            <a:br>
              <a:rPr lang="en-US" sz="3100" dirty="0"/>
            </a:br>
            <a:r>
              <a:rPr lang="en-GB" sz="3100" dirty="0"/>
              <a:t>Have a look at the SDGs and / or the Agenda 2063 Goals:</a:t>
            </a:r>
            <a:br>
              <a:rPr lang="en-GB" sz="3100" dirty="0"/>
            </a:br>
            <a:br>
              <a:rPr lang="en-GB" sz="3100" dirty="0"/>
            </a:br>
            <a:r>
              <a:rPr lang="en-GB" sz="3100" dirty="0"/>
              <a:t>Which ones relate most to your work? Why?</a:t>
            </a:r>
            <a:br>
              <a:rPr lang="en-GB" sz="4800" dirty="0"/>
            </a:br>
            <a:endParaRPr lang="en-US" sz="4800" dirty="0"/>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FD2D7CCE-5EBA-6B95-37F4-22941396F950}"/>
              </a:ext>
            </a:extLst>
          </p:cNvPr>
          <p:cNvPicPr>
            <a:picLocks noChangeAspect="1"/>
          </p:cNvPicPr>
          <p:nvPr/>
        </p:nvPicPr>
        <p:blipFill>
          <a:blip r:embed="rId3"/>
          <a:stretch>
            <a:fillRect/>
          </a:stretch>
        </p:blipFill>
        <p:spPr>
          <a:xfrm>
            <a:off x="4677638" y="2240697"/>
            <a:ext cx="7420559" cy="3413454"/>
          </a:xfrm>
          <a:prstGeom prst="rect">
            <a:avLst/>
          </a:prstGeom>
        </p:spPr>
      </p:pic>
      <p:sp>
        <p:nvSpPr>
          <p:cNvPr id="6" name="Slide Number Placeholder 5">
            <a:extLst>
              <a:ext uri="{FF2B5EF4-FFF2-40B4-BE49-F238E27FC236}">
                <a16:creationId xmlns:a16="http://schemas.microsoft.com/office/drawing/2014/main" id="{0FB1022B-15DB-B2C2-35B8-63A0A28C435C}"/>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17</a:t>
            </a:fld>
            <a:endParaRPr lang="en-US">
              <a:solidFill>
                <a:schemeClr val="tx2">
                  <a:lumMod val="50000"/>
                  <a:lumOff val="50000"/>
                </a:schemeClr>
              </a:solidFill>
            </a:endParaRPr>
          </a:p>
        </p:txBody>
      </p:sp>
      <p:pic>
        <p:nvPicPr>
          <p:cNvPr id="8" name="Graphic 3" descr="Clipboard outline">
            <a:extLst>
              <a:ext uri="{FF2B5EF4-FFF2-40B4-BE49-F238E27FC236}">
                <a16:creationId xmlns:a16="http://schemas.microsoft.com/office/drawing/2014/main" id="{88B79E45-3AE4-C4C9-505B-7972ED942A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30505" y="4460404"/>
            <a:ext cx="2462284" cy="2462284"/>
          </a:xfrm>
          <a:prstGeom prst="rect">
            <a:avLst/>
          </a:prstGeom>
        </p:spPr>
      </p:pic>
      <p:grpSp>
        <p:nvGrpSpPr>
          <p:cNvPr id="3" name="Group 2">
            <a:extLst>
              <a:ext uri="{FF2B5EF4-FFF2-40B4-BE49-F238E27FC236}">
                <a16:creationId xmlns:a16="http://schemas.microsoft.com/office/drawing/2014/main" id="{8AB3124E-BB78-BE0A-FE81-CB99F3AABD7B}"/>
              </a:ext>
            </a:extLst>
          </p:cNvPr>
          <p:cNvGrpSpPr/>
          <p:nvPr/>
        </p:nvGrpSpPr>
        <p:grpSpPr>
          <a:xfrm>
            <a:off x="11369860" y="-3696"/>
            <a:ext cx="822140" cy="847296"/>
            <a:chOff x="8600746" y="57953"/>
            <a:chExt cx="822140" cy="847296"/>
          </a:xfrm>
        </p:grpSpPr>
        <p:sp>
          <p:nvSpPr>
            <p:cNvPr id="4" name="Rectangle 3">
              <a:extLst>
                <a:ext uri="{FF2B5EF4-FFF2-40B4-BE49-F238E27FC236}">
                  <a16:creationId xmlns:a16="http://schemas.microsoft.com/office/drawing/2014/main" id="{874ED3E4-15D9-08C8-A0F4-3C93029DBA29}"/>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Rectangle 4">
              <a:extLst>
                <a:ext uri="{FF2B5EF4-FFF2-40B4-BE49-F238E27FC236}">
                  <a16:creationId xmlns:a16="http://schemas.microsoft.com/office/drawing/2014/main" id="{D82C52B9-F236-98C1-40F1-24329B7ED816}"/>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Rectangle 8">
              <a:extLst>
                <a:ext uri="{FF2B5EF4-FFF2-40B4-BE49-F238E27FC236}">
                  <a16:creationId xmlns:a16="http://schemas.microsoft.com/office/drawing/2014/main" id="{F29A9275-FCA4-A1AC-BDB0-5FD378B79FE6}"/>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0" name="Picture 9">
              <a:extLst>
                <a:ext uri="{FF2B5EF4-FFF2-40B4-BE49-F238E27FC236}">
                  <a16:creationId xmlns:a16="http://schemas.microsoft.com/office/drawing/2014/main" id="{C22935F5-2DC8-5F08-3100-03584D4D6475}"/>
                </a:ext>
              </a:extLst>
            </p:cNvPr>
            <p:cNvPicPr>
              <a:picLocks noChangeAspect="1"/>
            </p:cNvPicPr>
            <p:nvPr/>
          </p:nvPicPr>
          <p:blipFill>
            <a:blip r:embed="rId5"/>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110197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Sustainability Challenges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algn="ctr"/>
            <a:r>
              <a:rPr lang="en-US" sz="9600">
                <a:solidFill>
                  <a:prstClr val="white"/>
                </a:solidFill>
                <a:latin typeface="Avenir Next LT Pro"/>
              </a:rPr>
              <a:t>3</a:t>
            </a:r>
            <a:endParaRPr lang="en-US"/>
          </a:p>
        </p:txBody>
      </p:sp>
    </p:spTree>
    <p:extLst>
      <p:ext uri="{BB962C8B-B14F-4D97-AF65-F5344CB8AC3E}">
        <p14:creationId xmlns:p14="http://schemas.microsoft.com/office/powerpoint/2010/main" val="514160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A7100-108D-A213-4851-D756C555C65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400"/>
              <a:t>Where are we going? </a:t>
            </a:r>
            <a:br>
              <a:rPr lang="en-US" sz="4400"/>
            </a:br>
            <a:r>
              <a:rPr lang="en-US" sz="4400"/>
              <a:t>The Great Acceleration since 1950</a:t>
            </a:r>
          </a:p>
        </p:txBody>
      </p:sp>
      <p:sp>
        <p:nvSpPr>
          <p:cNvPr id="28" name="Rectangle 2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screenshot of a computer screen&#10;&#10;Description automatically generated">
            <a:extLst>
              <a:ext uri="{FF2B5EF4-FFF2-40B4-BE49-F238E27FC236}">
                <a16:creationId xmlns:a16="http://schemas.microsoft.com/office/drawing/2014/main" id="{6C277CB7-F1A4-7D3C-7875-462337110ADD}"/>
              </a:ext>
            </a:extLst>
          </p:cNvPr>
          <p:cNvPicPr>
            <a:picLocks noGrp="1" noChangeAspect="1"/>
          </p:cNvPicPr>
          <p:nvPr>
            <p:ph idx="1"/>
          </p:nvPr>
        </p:nvPicPr>
        <p:blipFill rotWithShape="1">
          <a:blip r:embed="rId2"/>
          <a:srcRect l="12824" t="20048" r="8397" b="5250"/>
          <a:stretch/>
        </p:blipFill>
        <p:spPr>
          <a:xfrm>
            <a:off x="4614088" y="1127457"/>
            <a:ext cx="7347404" cy="4451831"/>
          </a:xfrm>
          <a:prstGeom prst="rect">
            <a:avLst/>
          </a:prstGeom>
        </p:spPr>
      </p:pic>
      <p:sp>
        <p:nvSpPr>
          <p:cNvPr id="3" name="TextBox 2">
            <a:extLst>
              <a:ext uri="{FF2B5EF4-FFF2-40B4-BE49-F238E27FC236}">
                <a16:creationId xmlns:a16="http://schemas.microsoft.com/office/drawing/2014/main" id="{72F6E607-916B-DA0E-94AB-7D3E38136D6F}"/>
              </a:ext>
            </a:extLst>
          </p:cNvPr>
          <p:cNvSpPr txBox="1"/>
          <p:nvPr/>
        </p:nvSpPr>
        <p:spPr>
          <a:xfrm>
            <a:off x="673395" y="6444476"/>
            <a:ext cx="72994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Steffen et al., 2015</a:t>
            </a:r>
          </a:p>
        </p:txBody>
      </p:sp>
    </p:spTree>
    <p:extLst>
      <p:ext uri="{BB962C8B-B14F-4D97-AF65-F5344CB8AC3E}">
        <p14:creationId xmlns:p14="http://schemas.microsoft.com/office/powerpoint/2010/main" val="3313885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A38C-9DD3-6219-E923-71A53F873E97}"/>
            </a:ext>
          </a:extLst>
        </p:cNvPr>
        <p:cNvGrpSpPr/>
        <p:nvPr/>
      </p:nvGrpSpPr>
      <p:grpSpPr>
        <a:xfrm>
          <a:off x="0" y="0"/>
          <a:ext cx="0" cy="0"/>
          <a:chOff x="0" y="0"/>
          <a:chExt cx="0" cy="0"/>
        </a:xfrm>
      </p:grpSpPr>
      <p:sp>
        <p:nvSpPr>
          <p:cNvPr id="17" name="Titel 20">
            <a:extLst>
              <a:ext uri="{FF2B5EF4-FFF2-40B4-BE49-F238E27FC236}">
                <a16:creationId xmlns:a16="http://schemas.microsoft.com/office/drawing/2014/main" id="{EBB639D2-297E-0B86-8E59-F35AFD3C4A87}"/>
              </a:ext>
            </a:extLst>
          </p:cNvPr>
          <p:cNvSpPr>
            <a:spLocks noGrp="1"/>
          </p:cNvSpPr>
          <p:nvPr>
            <p:ph type="title"/>
          </p:nvPr>
        </p:nvSpPr>
        <p:spPr/>
        <p:txBody>
          <a:bodyPr anchor="t">
            <a:noAutofit/>
          </a:bodyPr>
          <a:lstStyle/>
          <a:p>
            <a:r>
              <a:rPr lang="de-CH" sz="3200" dirty="0"/>
              <a:t>Global </a:t>
            </a:r>
            <a:r>
              <a:rPr lang="de-CH" sz="3200" dirty="0" err="1"/>
              <a:t>risk</a:t>
            </a:r>
            <a:r>
              <a:rPr lang="de-CH" sz="3200" dirty="0"/>
              <a:t> </a:t>
            </a:r>
            <a:r>
              <a:rPr lang="de-CH" sz="3200" dirty="0" err="1"/>
              <a:t>landscape</a:t>
            </a:r>
            <a:r>
              <a:rPr lang="de-CH" sz="3200" dirty="0"/>
              <a:t>: </a:t>
            </a:r>
            <a:r>
              <a:rPr lang="de-CH" sz="3200" dirty="0" err="1"/>
              <a:t>perception</a:t>
            </a:r>
            <a:r>
              <a:rPr lang="de-CH" sz="3200" dirty="0"/>
              <a:t> </a:t>
            </a:r>
            <a:r>
              <a:rPr lang="de-CH" sz="3200" dirty="0" err="1"/>
              <a:t>survey</a:t>
            </a:r>
            <a:endParaRPr lang="de-CH" sz="3200" dirty="0"/>
          </a:p>
        </p:txBody>
      </p:sp>
      <p:sp>
        <p:nvSpPr>
          <p:cNvPr id="10" name="Content Placeholder 9">
            <a:extLst>
              <a:ext uri="{FF2B5EF4-FFF2-40B4-BE49-F238E27FC236}">
                <a16:creationId xmlns:a16="http://schemas.microsoft.com/office/drawing/2014/main" id="{1951FA3B-F3A7-AF91-8C6F-ACA6C77A026C}"/>
              </a:ext>
            </a:extLst>
          </p:cNvPr>
          <p:cNvSpPr>
            <a:spLocks noGrp="1"/>
          </p:cNvSpPr>
          <p:nvPr>
            <p:ph idx="1"/>
          </p:nvPr>
        </p:nvSpPr>
        <p:spPr/>
        <p:txBody>
          <a:bodyPr/>
          <a:lstStyle/>
          <a:p>
            <a:endParaRPr lang="aa-ET"/>
          </a:p>
        </p:txBody>
      </p:sp>
      <p:sp>
        <p:nvSpPr>
          <p:cNvPr id="2" name="Slide Number Placeholder 1">
            <a:extLst>
              <a:ext uri="{FF2B5EF4-FFF2-40B4-BE49-F238E27FC236}">
                <a16:creationId xmlns:a16="http://schemas.microsoft.com/office/drawing/2014/main" id="{66F5D355-B23D-FEEE-0C28-65C8077B24B1}"/>
              </a:ext>
            </a:extLst>
          </p:cNvPr>
          <p:cNvSpPr>
            <a:spLocks noGrp="1"/>
          </p:cNvSpPr>
          <p:nvPr>
            <p:ph type="sldNum" sz="quarter" idx="12"/>
          </p:nvPr>
        </p:nvSpPr>
        <p:spPr/>
        <p:txBody>
          <a:bodyPr/>
          <a:lstStyle/>
          <a:p>
            <a:fld id="{9C819A1E-7CFD-44ED-A7EE-35C8DB5FAD42}" type="slidenum">
              <a:rPr lang="de-CH" noProof="0" smtClean="0"/>
              <a:pPr/>
              <a:t>20</a:t>
            </a:fld>
            <a:endParaRPr lang="de-CH" noProof="0"/>
          </a:p>
        </p:txBody>
      </p:sp>
      <p:pic>
        <p:nvPicPr>
          <p:cNvPr id="9" name="Picture 8">
            <a:extLst>
              <a:ext uri="{FF2B5EF4-FFF2-40B4-BE49-F238E27FC236}">
                <a16:creationId xmlns:a16="http://schemas.microsoft.com/office/drawing/2014/main" id="{29751B24-B7C6-9DE9-AFE8-4BB46C4B19DC}"/>
              </a:ext>
            </a:extLst>
          </p:cNvPr>
          <p:cNvPicPr>
            <a:picLocks noChangeAspect="1"/>
          </p:cNvPicPr>
          <p:nvPr/>
        </p:nvPicPr>
        <p:blipFill>
          <a:blip r:embed="rId3"/>
          <a:stretch>
            <a:fillRect/>
          </a:stretch>
        </p:blipFill>
        <p:spPr>
          <a:xfrm>
            <a:off x="591912" y="1462266"/>
            <a:ext cx="5077368" cy="3903159"/>
          </a:xfrm>
          <a:prstGeom prst="rect">
            <a:avLst/>
          </a:prstGeom>
        </p:spPr>
      </p:pic>
      <p:sp>
        <p:nvSpPr>
          <p:cNvPr id="19" name="TextBox 18">
            <a:extLst>
              <a:ext uri="{FF2B5EF4-FFF2-40B4-BE49-F238E27FC236}">
                <a16:creationId xmlns:a16="http://schemas.microsoft.com/office/drawing/2014/main" id="{69147978-075E-DA73-DDDA-C4211D252E1B}"/>
              </a:ext>
            </a:extLst>
          </p:cNvPr>
          <p:cNvSpPr txBox="1"/>
          <p:nvPr/>
        </p:nvSpPr>
        <p:spPr>
          <a:xfrm>
            <a:off x="591912" y="5395735"/>
            <a:ext cx="2663253" cy="646331"/>
          </a:xfrm>
          <a:prstGeom prst="rect">
            <a:avLst/>
          </a:prstGeom>
          <a:noFill/>
        </p:spPr>
        <p:txBody>
          <a:bodyPr wrap="square">
            <a:spAutoFit/>
          </a:bodyPr>
          <a:lstStyle/>
          <a:p>
            <a:r>
              <a:rPr lang="en-GB" b="1" i="0" dirty="0">
                <a:effectLst/>
                <a:latin typeface="ZurichSans-Light"/>
                <a:hlinkClick r:id="rId4"/>
              </a:rPr>
              <a:t>Global Risks Perception Survey</a:t>
            </a:r>
            <a:r>
              <a:rPr lang="en-GB" b="1" i="0" dirty="0">
                <a:effectLst/>
                <a:latin typeface="ZurichSans-Light"/>
              </a:rPr>
              <a:t> – 2023 </a:t>
            </a:r>
            <a:endParaRPr lang="aa-ET" b="1" dirty="0"/>
          </a:p>
        </p:txBody>
      </p:sp>
      <p:pic>
        <p:nvPicPr>
          <p:cNvPr id="3" name="Picture 2">
            <a:extLst>
              <a:ext uri="{FF2B5EF4-FFF2-40B4-BE49-F238E27FC236}">
                <a16:creationId xmlns:a16="http://schemas.microsoft.com/office/drawing/2014/main" id="{0F597DF1-74D7-B740-FDF1-24CEC74F7B9F}"/>
              </a:ext>
            </a:extLst>
          </p:cNvPr>
          <p:cNvPicPr>
            <a:picLocks noChangeAspect="1"/>
          </p:cNvPicPr>
          <p:nvPr/>
        </p:nvPicPr>
        <p:blipFill>
          <a:blip r:embed="rId5"/>
          <a:stretch>
            <a:fillRect/>
          </a:stretch>
        </p:blipFill>
        <p:spPr>
          <a:xfrm>
            <a:off x="5981251" y="1462265"/>
            <a:ext cx="5378824" cy="3921937"/>
          </a:xfrm>
          <a:prstGeom prst="rect">
            <a:avLst/>
          </a:prstGeom>
        </p:spPr>
      </p:pic>
      <p:sp>
        <p:nvSpPr>
          <p:cNvPr id="4" name="TextBox 3">
            <a:extLst>
              <a:ext uri="{FF2B5EF4-FFF2-40B4-BE49-F238E27FC236}">
                <a16:creationId xmlns:a16="http://schemas.microsoft.com/office/drawing/2014/main" id="{2330F2AC-B42B-5EC3-5875-F9D849B042B1}"/>
              </a:ext>
            </a:extLst>
          </p:cNvPr>
          <p:cNvSpPr txBox="1"/>
          <p:nvPr/>
        </p:nvSpPr>
        <p:spPr>
          <a:xfrm>
            <a:off x="5981251" y="5395735"/>
            <a:ext cx="3023084" cy="646331"/>
          </a:xfrm>
          <a:prstGeom prst="rect">
            <a:avLst/>
          </a:prstGeom>
          <a:noFill/>
        </p:spPr>
        <p:txBody>
          <a:bodyPr wrap="square">
            <a:spAutoFit/>
          </a:bodyPr>
          <a:lstStyle/>
          <a:p>
            <a:r>
              <a:rPr lang="en-GB" b="1" i="0" dirty="0">
                <a:effectLst/>
                <a:latin typeface="ZurichSans-Light"/>
                <a:hlinkClick r:id="rId6"/>
              </a:rPr>
              <a:t>Global Risks Perception Survey </a:t>
            </a:r>
            <a:r>
              <a:rPr lang="en-GB" b="1" i="0" dirty="0">
                <a:effectLst/>
                <a:latin typeface="ZurichSans-Light"/>
              </a:rPr>
              <a:t>– 2024 </a:t>
            </a:r>
            <a:endParaRPr lang="aa-ET" b="1" dirty="0"/>
          </a:p>
        </p:txBody>
      </p:sp>
    </p:spTree>
    <p:extLst>
      <p:ext uri="{BB962C8B-B14F-4D97-AF65-F5344CB8AC3E}">
        <p14:creationId xmlns:p14="http://schemas.microsoft.com/office/powerpoint/2010/main" val="2067350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E15D-FA8A-ACA4-AC58-5B9AA65FBC75}"/>
              </a:ext>
            </a:extLst>
          </p:cNvPr>
          <p:cNvSpPr>
            <a:spLocks noGrp="1"/>
          </p:cNvSpPr>
          <p:nvPr>
            <p:ph type="title"/>
          </p:nvPr>
        </p:nvSpPr>
        <p:spPr/>
        <p:txBody>
          <a:bodyPr/>
          <a:lstStyle/>
          <a:p>
            <a:r>
              <a:rPr lang="en-GB" dirty="0"/>
              <a:t>Current risk landscape</a:t>
            </a:r>
          </a:p>
        </p:txBody>
      </p:sp>
      <p:sp>
        <p:nvSpPr>
          <p:cNvPr id="6" name="Slide Number Placeholder 5">
            <a:extLst>
              <a:ext uri="{FF2B5EF4-FFF2-40B4-BE49-F238E27FC236}">
                <a16:creationId xmlns:a16="http://schemas.microsoft.com/office/drawing/2014/main" id="{5FE63EBB-8CC7-E550-D299-41BC51DBED10}"/>
              </a:ext>
            </a:extLst>
          </p:cNvPr>
          <p:cNvSpPr>
            <a:spLocks noGrp="1"/>
          </p:cNvSpPr>
          <p:nvPr>
            <p:ph type="sldNum" sz="quarter" idx="12"/>
          </p:nvPr>
        </p:nvSpPr>
        <p:spPr/>
        <p:txBody>
          <a:bodyPr/>
          <a:lstStyle/>
          <a:p>
            <a:fld id="{A65A5C87-DF58-40C8-B092-1DE63DB4547E}" type="slidenum">
              <a:rPr lang="en-US" smtClean="0"/>
              <a:t>21</a:t>
            </a:fld>
            <a:endParaRPr lang="en-US"/>
          </a:p>
        </p:txBody>
      </p:sp>
      <p:sp>
        <p:nvSpPr>
          <p:cNvPr id="3" name="TextBox 2">
            <a:extLst>
              <a:ext uri="{FF2B5EF4-FFF2-40B4-BE49-F238E27FC236}">
                <a16:creationId xmlns:a16="http://schemas.microsoft.com/office/drawing/2014/main" id="{2143E25D-773D-8A4D-AA5B-AFDB28CF45F1}"/>
              </a:ext>
            </a:extLst>
          </p:cNvPr>
          <p:cNvSpPr txBox="1"/>
          <p:nvPr/>
        </p:nvSpPr>
        <p:spPr>
          <a:xfrm>
            <a:off x="423535" y="6444476"/>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World Economic Forum Global Risks Perception Survey 2023-2024</a:t>
            </a:r>
          </a:p>
        </p:txBody>
      </p:sp>
      <p:pic>
        <p:nvPicPr>
          <p:cNvPr id="9" name="Picture 8">
            <a:extLst>
              <a:ext uri="{FF2B5EF4-FFF2-40B4-BE49-F238E27FC236}">
                <a16:creationId xmlns:a16="http://schemas.microsoft.com/office/drawing/2014/main" id="{B17EFD28-4413-3563-B057-4091B2C18135}"/>
              </a:ext>
            </a:extLst>
          </p:cNvPr>
          <p:cNvPicPr>
            <a:picLocks noChangeAspect="1"/>
          </p:cNvPicPr>
          <p:nvPr/>
        </p:nvPicPr>
        <p:blipFill>
          <a:blip r:embed="rId2"/>
          <a:stretch>
            <a:fillRect/>
          </a:stretch>
        </p:blipFill>
        <p:spPr>
          <a:xfrm>
            <a:off x="541401" y="1728216"/>
            <a:ext cx="9874757" cy="4426177"/>
          </a:xfrm>
          <a:prstGeom prst="rect">
            <a:avLst/>
          </a:prstGeom>
        </p:spPr>
      </p:pic>
    </p:spTree>
    <p:extLst>
      <p:ext uri="{BB962C8B-B14F-4D97-AF65-F5344CB8AC3E}">
        <p14:creationId xmlns:p14="http://schemas.microsoft.com/office/powerpoint/2010/main" val="2518194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D4060E-BC60-425C-BC31-1A135A53B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2A7CD-9989-74AC-6149-0813B44EAD7F}"/>
              </a:ext>
            </a:extLst>
          </p:cNvPr>
          <p:cNvSpPr>
            <a:spLocks noGrp="1"/>
          </p:cNvSpPr>
          <p:nvPr>
            <p:ph type="title"/>
          </p:nvPr>
        </p:nvSpPr>
        <p:spPr>
          <a:xfrm>
            <a:off x="1115568" y="416504"/>
            <a:ext cx="10168128" cy="1179576"/>
          </a:xfrm>
        </p:spPr>
        <p:txBody>
          <a:bodyPr>
            <a:normAutofit/>
          </a:bodyPr>
          <a:lstStyle/>
          <a:p>
            <a:r>
              <a:rPr lang="en-GB" sz="3600" dirty="0"/>
              <a:t>Global risks ranked: short-term</a:t>
            </a:r>
            <a:endParaRPr lang="aa-ET" sz="3600" dirty="0"/>
          </a:p>
        </p:txBody>
      </p:sp>
      <p:pic>
        <p:nvPicPr>
          <p:cNvPr id="15" name="Content Placeholder 14" descr="A screenshot of a computer screen&#10;&#10;Description automatically generated">
            <a:extLst>
              <a:ext uri="{FF2B5EF4-FFF2-40B4-BE49-F238E27FC236}">
                <a16:creationId xmlns:a16="http://schemas.microsoft.com/office/drawing/2014/main" id="{EB1C7EA5-571D-4E28-ACD5-5E75A59775B9}"/>
              </a:ext>
            </a:extLst>
          </p:cNvPr>
          <p:cNvPicPr>
            <a:picLocks noGrp="1" noChangeAspect="1"/>
          </p:cNvPicPr>
          <p:nvPr>
            <p:ph idx="1"/>
          </p:nvPr>
        </p:nvPicPr>
        <p:blipFill>
          <a:blip r:embed="rId3"/>
          <a:srcRect l="15176" t="12708" r="38828" b="6935"/>
          <a:stretch/>
        </p:blipFill>
        <p:spPr>
          <a:xfrm>
            <a:off x="1351721" y="2113722"/>
            <a:ext cx="3332922" cy="3878308"/>
          </a:xfrm>
        </p:spPr>
      </p:pic>
      <p:sp>
        <p:nvSpPr>
          <p:cNvPr id="6" name="Slide Number Placeholder 5">
            <a:extLst>
              <a:ext uri="{FF2B5EF4-FFF2-40B4-BE49-F238E27FC236}">
                <a16:creationId xmlns:a16="http://schemas.microsoft.com/office/drawing/2014/main" id="{4E77443F-3D2C-CC1D-3283-5025E1ED06D2}"/>
              </a:ext>
            </a:extLst>
          </p:cNvPr>
          <p:cNvSpPr>
            <a:spLocks noGrp="1"/>
          </p:cNvSpPr>
          <p:nvPr>
            <p:ph type="sldNum" sz="quarter" idx="12"/>
          </p:nvPr>
        </p:nvSpPr>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22</a:t>
            </a:fld>
            <a:endParaRPr lang="en-US"/>
          </a:p>
        </p:txBody>
      </p:sp>
      <p:sp>
        <p:nvSpPr>
          <p:cNvPr id="16" name="TextBox 15">
            <a:extLst>
              <a:ext uri="{FF2B5EF4-FFF2-40B4-BE49-F238E27FC236}">
                <a16:creationId xmlns:a16="http://schemas.microsoft.com/office/drawing/2014/main" id="{CC5400CF-D226-1C04-0AD9-9ADC0295891F}"/>
              </a:ext>
            </a:extLst>
          </p:cNvPr>
          <p:cNvSpPr txBox="1"/>
          <p:nvPr/>
        </p:nvSpPr>
        <p:spPr>
          <a:xfrm>
            <a:off x="1351721" y="6108025"/>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2022-2023</a:t>
            </a:r>
          </a:p>
        </p:txBody>
      </p:sp>
      <p:pic>
        <p:nvPicPr>
          <p:cNvPr id="4" name="Picture 3">
            <a:extLst>
              <a:ext uri="{FF2B5EF4-FFF2-40B4-BE49-F238E27FC236}">
                <a16:creationId xmlns:a16="http://schemas.microsoft.com/office/drawing/2014/main" id="{2B201A1F-D282-16C3-DC33-47B3331259EF}"/>
              </a:ext>
            </a:extLst>
          </p:cNvPr>
          <p:cNvPicPr>
            <a:picLocks noChangeAspect="1"/>
          </p:cNvPicPr>
          <p:nvPr/>
        </p:nvPicPr>
        <p:blipFill>
          <a:blip r:embed="rId4"/>
          <a:srcRect l="20335" t="17085" r="38792" b="13679"/>
          <a:stretch/>
        </p:blipFill>
        <p:spPr>
          <a:xfrm>
            <a:off x="7395898" y="2196548"/>
            <a:ext cx="3656415" cy="3409122"/>
          </a:xfrm>
          <a:prstGeom prst="rect">
            <a:avLst/>
          </a:prstGeom>
        </p:spPr>
      </p:pic>
      <p:pic>
        <p:nvPicPr>
          <p:cNvPr id="3" name="Picture 2">
            <a:extLst>
              <a:ext uri="{FF2B5EF4-FFF2-40B4-BE49-F238E27FC236}">
                <a16:creationId xmlns:a16="http://schemas.microsoft.com/office/drawing/2014/main" id="{B213CDC3-41F7-0A38-3691-3922275E57D2}"/>
              </a:ext>
            </a:extLst>
          </p:cNvPr>
          <p:cNvPicPr>
            <a:picLocks noChangeAspect="1"/>
          </p:cNvPicPr>
          <p:nvPr/>
        </p:nvPicPr>
        <p:blipFill>
          <a:blip r:embed="rId4"/>
          <a:srcRect t="17422" r="85094" b="47580"/>
          <a:stretch/>
        </p:blipFill>
        <p:spPr>
          <a:xfrm>
            <a:off x="5082063" y="2379685"/>
            <a:ext cx="1404108" cy="1814628"/>
          </a:xfrm>
          <a:prstGeom prst="rect">
            <a:avLst/>
          </a:prstGeom>
        </p:spPr>
      </p:pic>
      <p:sp>
        <p:nvSpPr>
          <p:cNvPr id="5" name="TextBox 4">
            <a:extLst>
              <a:ext uri="{FF2B5EF4-FFF2-40B4-BE49-F238E27FC236}">
                <a16:creationId xmlns:a16="http://schemas.microsoft.com/office/drawing/2014/main" id="{E863412F-54F9-40D6-98C5-9EC82AE3718D}"/>
              </a:ext>
            </a:extLst>
          </p:cNvPr>
          <p:cNvSpPr txBox="1"/>
          <p:nvPr/>
        </p:nvSpPr>
        <p:spPr>
          <a:xfrm>
            <a:off x="7348329" y="5892581"/>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2023-2024</a:t>
            </a:r>
          </a:p>
        </p:txBody>
      </p:sp>
    </p:spTree>
    <p:extLst>
      <p:ext uri="{BB962C8B-B14F-4D97-AF65-F5344CB8AC3E}">
        <p14:creationId xmlns:p14="http://schemas.microsoft.com/office/powerpoint/2010/main" val="982944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462086-E4F7-1CC1-4C05-330DD56A0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622F8-D72D-4E02-0280-C4746B86D200}"/>
              </a:ext>
            </a:extLst>
          </p:cNvPr>
          <p:cNvSpPr>
            <a:spLocks noGrp="1"/>
          </p:cNvSpPr>
          <p:nvPr>
            <p:ph type="title"/>
          </p:nvPr>
        </p:nvSpPr>
        <p:spPr>
          <a:xfrm>
            <a:off x="1115568" y="416504"/>
            <a:ext cx="10168128" cy="1179576"/>
          </a:xfrm>
        </p:spPr>
        <p:txBody>
          <a:bodyPr>
            <a:normAutofit/>
          </a:bodyPr>
          <a:lstStyle/>
          <a:p>
            <a:r>
              <a:rPr lang="en-GB" sz="3600" dirty="0"/>
              <a:t>Global risks ranked: long-term</a:t>
            </a:r>
            <a:endParaRPr lang="aa-ET" sz="3600" dirty="0"/>
          </a:p>
        </p:txBody>
      </p:sp>
      <p:sp>
        <p:nvSpPr>
          <p:cNvPr id="6" name="Slide Number Placeholder 5">
            <a:extLst>
              <a:ext uri="{FF2B5EF4-FFF2-40B4-BE49-F238E27FC236}">
                <a16:creationId xmlns:a16="http://schemas.microsoft.com/office/drawing/2014/main" id="{F1277F49-65B3-752B-1E68-1DFAF2D10B81}"/>
              </a:ext>
            </a:extLst>
          </p:cNvPr>
          <p:cNvSpPr>
            <a:spLocks noGrp="1"/>
          </p:cNvSpPr>
          <p:nvPr>
            <p:ph type="sldNum" sz="quarter" idx="12"/>
          </p:nvPr>
        </p:nvSpPr>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23</a:t>
            </a:fld>
            <a:endParaRPr lang="en-US"/>
          </a:p>
        </p:txBody>
      </p:sp>
      <p:sp>
        <p:nvSpPr>
          <p:cNvPr id="16" name="TextBox 15">
            <a:extLst>
              <a:ext uri="{FF2B5EF4-FFF2-40B4-BE49-F238E27FC236}">
                <a16:creationId xmlns:a16="http://schemas.microsoft.com/office/drawing/2014/main" id="{FF453533-B676-56F9-14E4-E5D2AF129030}"/>
              </a:ext>
            </a:extLst>
          </p:cNvPr>
          <p:cNvSpPr txBox="1"/>
          <p:nvPr/>
        </p:nvSpPr>
        <p:spPr>
          <a:xfrm>
            <a:off x="1351721" y="6108025"/>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2022-2023</a:t>
            </a:r>
          </a:p>
        </p:txBody>
      </p:sp>
      <p:pic>
        <p:nvPicPr>
          <p:cNvPr id="3" name="Picture 2">
            <a:extLst>
              <a:ext uri="{FF2B5EF4-FFF2-40B4-BE49-F238E27FC236}">
                <a16:creationId xmlns:a16="http://schemas.microsoft.com/office/drawing/2014/main" id="{44119FC8-7972-CA03-534C-8F1902DF85FF}"/>
              </a:ext>
            </a:extLst>
          </p:cNvPr>
          <p:cNvPicPr>
            <a:picLocks noChangeAspect="1"/>
          </p:cNvPicPr>
          <p:nvPr/>
        </p:nvPicPr>
        <p:blipFill>
          <a:blip r:embed="rId3"/>
          <a:srcRect t="17422" r="85094" b="47580"/>
          <a:stretch/>
        </p:blipFill>
        <p:spPr>
          <a:xfrm>
            <a:off x="5082063" y="2379685"/>
            <a:ext cx="1404108" cy="1814628"/>
          </a:xfrm>
          <a:prstGeom prst="rect">
            <a:avLst/>
          </a:prstGeom>
        </p:spPr>
      </p:pic>
      <p:sp>
        <p:nvSpPr>
          <p:cNvPr id="5" name="TextBox 4">
            <a:extLst>
              <a:ext uri="{FF2B5EF4-FFF2-40B4-BE49-F238E27FC236}">
                <a16:creationId xmlns:a16="http://schemas.microsoft.com/office/drawing/2014/main" id="{B29E4308-E972-BB5A-3287-3F831DD0ED41}"/>
              </a:ext>
            </a:extLst>
          </p:cNvPr>
          <p:cNvSpPr txBox="1"/>
          <p:nvPr/>
        </p:nvSpPr>
        <p:spPr>
          <a:xfrm>
            <a:off x="7348329" y="5892581"/>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2023-2024</a:t>
            </a:r>
          </a:p>
        </p:txBody>
      </p:sp>
      <p:pic>
        <p:nvPicPr>
          <p:cNvPr id="9" name="Content Placeholder 14" descr="A screenshot of a computer screen&#10;&#10;Description automatically generated">
            <a:extLst>
              <a:ext uri="{FF2B5EF4-FFF2-40B4-BE49-F238E27FC236}">
                <a16:creationId xmlns:a16="http://schemas.microsoft.com/office/drawing/2014/main" id="{E3A79AEE-82BB-3F71-8910-C9FDE76A1D9E}"/>
              </a:ext>
            </a:extLst>
          </p:cNvPr>
          <p:cNvPicPr>
            <a:picLocks noGrp="1" noChangeAspect="1"/>
          </p:cNvPicPr>
          <p:nvPr>
            <p:ph idx="1"/>
          </p:nvPr>
        </p:nvPicPr>
        <p:blipFill>
          <a:blip r:embed="rId4"/>
          <a:srcRect l="59525" t="12708" r="1428" b="6935"/>
          <a:stretch/>
        </p:blipFill>
        <p:spPr>
          <a:xfrm>
            <a:off x="1510749" y="2107096"/>
            <a:ext cx="2829339" cy="3878308"/>
          </a:xfrm>
        </p:spPr>
      </p:pic>
      <p:pic>
        <p:nvPicPr>
          <p:cNvPr id="10" name="Picture 9">
            <a:extLst>
              <a:ext uri="{FF2B5EF4-FFF2-40B4-BE49-F238E27FC236}">
                <a16:creationId xmlns:a16="http://schemas.microsoft.com/office/drawing/2014/main" id="{CA8890F0-21C5-B58D-47EC-133C31F57B52}"/>
              </a:ext>
            </a:extLst>
          </p:cNvPr>
          <p:cNvPicPr>
            <a:picLocks noChangeAspect="1"/>
          </p:cNvPicPr>
          <p:nvPr/>
        </p:nvPicPr>
        <p:blipFill>
          <a:blip r:embed="rId3"/>
          <a:srcRect l="61497" t="17056" r="-2370" b="13709"/>
          <a:stretch/>
        </p:blipFill>
        <p:spPr>
          <a:xfrm>
            <a:off x="7395898" y="2196548"/>
            <a:ext cx="3656415" cy="3409122"/>
          </a:xfrm>
          <a:prstGeom prst="rect">
            <a:avLst/>
          </a:prstGeom>
        </p:spPr>
      </p:pic>
    </p:spTree>
    <p:extLst>
      <p:ext uri="{BB962C8B-B14F-4D97-AF65-F5344CB8AC3E}">
        <p14:creationId xmlns:p14="http://schemas.microsoft.com/office/powerpoint/2010/main" val="1877519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33D078E-4DD3-9221-8CBE-27A982322005}"/>
              </a:ext>
            </a:extLst>
          </p:cNvPr>
          <p:cNvSpPr>
            <a:spLocks noGrp="1"/>
          </p:cNvSpPr>
          <p:nvPr>
            <p:ph type="sldNum" sz="quarter" idx="12"/>
          </p:nvPr>
        </p:nvSpPr>
        <p:spPr/>
        <p:txBody>
          <a:bodyPr/>
          <a:lstStyle/>
          <a:p>
            <a:fld id="{A65A5C87-DF58-40C8-B092-1DE63DB4547E}" type="slidenum">
              <a:rPr lang="en-US" dirty="0" smtClean="0"/>
              <a:t>24</a:t>
            </a:fld>
            <a:endParaRPr lang="en-US"/>
          </a:p>
        </p:txBody>
      </p:sp>
      <p:pic>
        <p:nvPicPr>
          <p:cNvPr id="7" name="Picture 6" descr="A screen shot of a chart&#10;&#10;Description automatically generated">
            <a:extLst>
              <a:ext uri="{FF2B5EF4-FFF2-40B4-BE49-F238E27FC236}">
                <a16:creationId xmlns:a16="http://schemas.microsoft.com/office/drawing/2014/main" id="{FB90D013-A453-007C-08C6-D0E1237A3B1A}"/>
              </a:ext>
            </a:extLst>
          </p:cNvPr>
          <p:cNvPicPr>
            <a:picLocks noChangeAspect="1"/>
          </p:cNvPicPr>
          <p:nvPr/>
        </p:nvPicPr>
        <p:blipFill>
          <a:blip r:embed="rId2"/>
          <a:stretch>
            <a:fillRect/>
          </a:stretch>
        </p:blipFill>
        <p:spPr>
          <a:xfrm>
            <a:off x="1060537" y="107514"/>
            <a:ext cx="8724378" cy="5755712"/>
          </a:xfrm>
          <a:prstGeom prst="rect">
            <a:avLst/>
          </a:prstGeom>
        </p:spPr>
      </p:pic>
      <p:sp>
        <p:nvSpPr>
          <p:cNvPr id="2" name="TextBox 1">
            <a:extLst>
              <a:ext uri="{FF2B5EF4-FFF2-40B4-BE49-F238E27FC236}">
                <a16:creationId xmlns:a16="http://schemas.microsoft.com/office/drawing/2014/main" id="{9C88E577-789D-2336-DB7E-C970B67E0A9F}"/>
              </a:ext>
            </a:extLst>
          </p:cNvPr>
          <p:cNvSpPr txBox="1"/>
          <p:nvPr/>
        </p:nvSpPr>
        <p:spPr>
          <a:xfrm>
            <a:off x="374108" y="6400412"/>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Global Sustainable Development Report (GSDR), 2023</a:t>
            </a:r>
          </a:p>
        </p:txBody>
      </p:sp>
    </p:spTree>
    <p:extLst>
      <p:ext uri="{BB962C8B-B14F-4D97-AF65-F5344CB8AC3E}">
        <p14:creationId xmlns:p14="http://schemas.microsoft.com/office/powerpoint/2010/main" val="781839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155894-F1B0-E880-DB99-ED2CAC46D251}"/>
              </a:ext>
            </a:extLst>
          </p:cNvPr>
          <p:cNvSpPr>
            <a:spLocks noGrp="1"/>
          </p:cNvSpPr>
          <p:nvPr>
            <p:ph type="sldNum" sz="quarter" idx="12"/>
          </p:nvPr>
        </p:nvSpPr>
        <p:spPr/>
        <p:txBody>
          <a:bodyPr/>
          <a:lstStyle/>
          <a:p>
            <a:fld id="{A65A5C87-DF58-40C8-B092-1DE63DB4547E}" type="slidenum">
              <a:rPr lang="en-US" smtClean="0"/>
              <a:t>25</a:t>
            </a:fld>
            <a:endParaRPr lang="en-US"/>
          </a:p>
        </p:txBody>
      </p:sp>
      <p:pic>
        <p:nvPicPr>
          <p:cNvPr id="5" name="Picture 4">
            <a:extLst>
              <a:ext uri="{FF2B5EF4-FFF2-40B4-BE49-F238E27FC236}">
                <a16:creationId xmlns:a16="http://schemas.microsoft.com/office/drawing/2014/main" id="{A1452020-3A3D-33E3-B4E9-60EC24957433}"/>
              </a:ext>
            </a:extLst>
          </p:cNvPr>
          <p:cNvPicPr>
            <a:picLocks noChangeAspect="1"/>
          </p:cNvPicPr>
          <p:nvPr/>
        </p:nvPicPr>
        <p:blipFill>
          <a:blip r:embed="rId2"/>
          <a:stretch>
            <a:fillRect/>
          </a:stretch>
        </p:blipFill>
        <p:spPr>
          <a:xfrm>
            <a:off x="1311058" y="59710"/>
            <a:ext cx="8025007" cy="6206224"/>
          </a:xfrm>
          <a:prstGeom prst="rect">
            <a:avLst/>
          </a:prstGeom>
        </p:spPr>
      </p:pic>
      <p:sp>
        <p:nvSpPr>
          <p:cNvPr id="7" name="TextBox 6">
            <a:extLst>
              <a:ext uri="{FF2B5EF4-FFF2-40B4-BE49-F238E27FC236}">
                <a16:creationId xmlns:a16="http://schemas.microsoft.com/office/drawing/2014/main" id="{28267078-632B-FCD4-A1CF-A071EDBB38BD}"/>
              </a:ext>
            </a:extLst>
          </p:cNvPr>
          <p:cNvSpPr txBox="1"/>
          <p:nvPr/>
        </p:nvSpPr>
        <p:spPr>
          <a:xfrm>
            <a:off x="374108" y="6400412"/>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Global Sustainable Development Report (GSDR), 2023</a:t>
            </a:r>
          </a:p>
        </p:txBody>
      </p:sp>
    </p:spTree>
    <p:extLst>
      <p:ext uri="{BB962C8B-B14F-4D97-AF65-F5344CB8AC3E}">
        <p14:creationId xmlns:p14="http://schemas.microsoft.com/office/powerpoint/2010/main" val="2746135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Grp="1" noChangeArrowheads="1"/>
          </p:cNvSpPr>
          <p:nvPr>
            <p:ph type="title"/>
          </p:nvPr>
        </p:nvSpPr>
        <p:spPr bwMode="auto">
          <a:xfrm>
            <a:off x="711201" y="282381"/>
            <a:ext cx="6621463" cy="817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r>
              <a:rPr lang="de-DE" altLang="en-US" err="1"/>
              <a:t>Context</a:t>
            </a:r>
            <a:r>
              <a:rPr lang="de-DE" altLang="en-US"/>
              <a:t> </a:t>
            </a:r>
            <a:r>
              <a:rPr lang="de-DE" altLang="en-US" err="1"/>
              <a:t>matters</a:t>
            </a:r>
            <a:endParaRPr lang="de-DE" altLang="en-US"/>
          </a:p>
        </p:txBody>
      </p:sp>
      <p:pic>
        <p:nvPicPr>
          <p:cNvPr id="9" name="Grafik 2">
            <a:extLst>
              <a:ext uri="{FF2B5EF4-FFF2-40B4-BE49-F238E27FC236}">
                <a16:creationId xmlns:a16="http://schemas.microsoft.com/office/drawing/2014/main" id="{52C1A897-73DF-41B3-82EF-D6398004FDAD}"/>
              </a:ext>
            </a:extLst>
          </p:cNvPr>
          <p:cNvPicPr>
            <a:picLocks noChangeAspect="1"/>
          </p:cNvPicPr>
          <p:nvPr/>
        </p:nvPicPr>
        <p:blipFill>
          <a:blip r:embed="rId3"/>
          <a:stretch>
            <a:fillRect/>
          </a:stretch>
        </p:blipFill>
        <p:spPr>
          <a:xfrm>
            <a:off x="2063553" y="1047228"/>
            <a:ext cx="5754359" cy="5541235"/>
          </a:xfrm>
          <a:prstGeom prst="rect">
            <a:avLst/>
          </a:prstGeom>
        </p:spPr>
      </p:pic>
      <p:cxnSp>
        <p:nvCxnSpPr>
          <p:cNvPr id="15" name="Straight Arrow Connector 14">
            <a:extLst>
              <a:ext uri="{FF2B5EF4-FFF2-40B4-BE49-F238E27FC236}">
                <a16:creationId xmlns:a16="http://schemas.microsoft.com/office/drawing/2014/main" id="{4CCC1CB1-B5FF-4E3E-B240-ECADF75A9FEF}"/>
              </a:ext>
            </a:extLst>
          </p:cNvPr>
          <p:cNvCxnSpPr>
            <a:cxnSpLocks noChangeShapeType="1"/>
          </p:cNvCxnSpPr>
          <p:nvPr/>
        </p:nvCxnSpPr>
        <p:spPr bwMode="auto">
          <a:xfrm flipH="1">
            <a:off x="4175789" y="1700808"/>
            <a:ext cx="2112232" cy="0"/>
          </a:xfrm>
          <a:prstGeom prst="straightConnector1">
            <a:avLst/>
          </a:prstGeom>
          <a:noFill/>
          <a:ln w="76200" algn="ctr">
            <a:solidFill>
              <a:schemeClr val="accent3">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12A29478-C50C-42DB-9346-9D05ABCF2A85}"/>
              </a:ext>
            </a:extLst>
          </p:cNvPr>
          <p:cNvCxnSpPr>
            <a:cxnSpLocks noChangeShapeType="1"/>
          </p:cNvCxnSpPr>
          <p:nvPr/>
        </p:nvCxnSpPr>
        <p:spPr bwMode="auto">
          <a:xfrm flipH="1" flipV="1">
            <a:off x="3423529" y="2948948"/>
            <a:ext cx="1456" cy="2027537"/>
          </a:xfrm>
          <a:prstGeom prst="straightConnector1">
            <a:avLst/>
          </a:prstGeom>
          <a:noFill/>
          <a:ln w="76200" algn="ctr">
            <a:solidFill>
              <a:schemeClr val="accent3">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a:extLst>
              <a:ext uri="{FF2B5EF4-FFF2-40B4-BE49-F238E27FC236}">
                <a16:creationId xmlns:a16="http://schemas.microsoft.com/office/drawing/2014/main" id="{5DBB8C80-90C3-FE2D-AC58-067528DCA15B}"/>
              </a:ext>
            </a:extLst>
          </p:cNvPr>
          <p:cNvSpPr txBox="1"/>
          <p:nvPr/>
        </p:nvSpPr>
        <p:spPr>
          <a:xfrm>
            <a:off x="2797342" y="1844841"/>
            <a:ext cx="14397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chemeClr val="accent3">
                    <a:lumMod val="75000"/>
                  </a:schemeClr>
                </a:solidFill>
              </a:rPr>
              <a:t>Where we need to be</a:t>
            </a:r>
          </a:p>
        </p:txBody>
      </p:sp>
      <p:sp>
        <p:nvSpPr>
          <p:cNvPr id="3" name="TextBox 2">
            <a:extLst>
              <a:ext uri="{FF2B5EF4-FFF2-40B4-BE49-F238E27FC236}">
                <a16:creationId xmlns:a16="http://schemas.microsoft.com/office/drawing/2014/main" id="{84FF13C9-01A4-65BE-7E56-3FEF0B275158}"/>
              </a:ext>
            </a:extLst>
          </p:cNvPr>
          <p:cNvSpPr txBox="1"/>
          <p:nvPr/>
        </p:nvSpPr>
        <p:spPr>
          <a:xfrm>
            <a:off x="386465" y="6521980"/>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Fanning et al., 2022</a:t>
            </a:r>
          </a:p>
        </p:txBody>
      </p:sp>
    </p:spTree>
    <p:extLst>
      <p:ext uri="{BB962C8B-B14F-4D97-AF65-F5344CB8AC3E}">
        <p14:creationId xmlns:p14="http://schemas.microsoft.com/office/powerpoint/2010/main" val="383744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34BB03-BC82-84B8-1966-85DA5F46CCE0}"/>
              </a:ext>
            </a:extLst>
          </p:cNvPr>
          <p:cNvSpPr>
            <a:spLocks noGrp="1"/>
          </p:cNvSpPr>
          <p:nvPr>
            <p:ph type="title"/>
          </p:nvPr>
        </p:nvSpPr>
        <p:spPr>
          <a:xfrm>
            <a:off x="411480" y="987552"/>
            <a:ext cx="4485861" cy="1088136"/>
          </a:xfrm>
        </p:spPr>
        <p:txBody>
          <a:bodyPr anchor="b">
            <a:normAutofit/>
          </a:bodyPr>
          <a:lstStyle/>
          <a:p>
            <a:r>
              <a:rPr lang="en-GB" sz="2400" dirty="0">
                <a:ea typeface="+mj-lt"/>
                <a:cs typeface="+mj-lt"/>
              </a:rPr>
              <a:t>Sustainability challenges and risks in your national and local context</a:t>
            </a:r>
            <a:endParaRPr lang="en-US" sz="2400" dirty="0"/>
          </a:p>
        </p:txBody>
      </p:sp>
      <p:sp>
        <p:nvSpPr>
          <p:cNvPr id="28" name="Rectangle 27">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292896C-6701-58CC-DE0D-03DE0C527613}"/>
              </a:ext>
            </a:extLst>
          </p:cNvPr>
          <p:cNvSpPr>
            <a:spLocks noGrp="1"/>
          </p:cNvSpPr>
          <p:nvPr>
            <p:ph idx="1"/>
          </p:nvPr>
        </p:nvSpPr>
        <p:spPr>
          <a:xfrm>
            <a:off x="411479" y="2688336"/>
            <a:ext cx="4498848" cy="3584448"/>
          </a:xfrm>
        </p:spPr>
        <p:txBody>
          <a:bodyPr vert="horz" lIns="91440" tIns="45720" rIns="91440" bIns="45720" rtlCol="0" anchor="t">
            <a:normAutofit/>
          </a:bodyPr>
          <a:lstStyle/>
          <a:p>
            <a:pPr marL="0" indent="0">
              <a:lnSpc>
                <a:spcPct val="100000"/>
              </a:lnSpc>
              <a:buNone/>
            </a:pPr>
            <a:r>
              <a:rPr lang="en-GB" sz="1600" b="1" dirty="0">
                <a:ea typeface="+mn-lt"/>
                <a:cs typeface="+mn-lt"/>
              </a:rPr>
              <a:t>Individual reflection</a:t>
            </a:r>
            <a:r>
              <a:rPr lang="en-GB" sz="1600" dirty="0">
                <a:ea typeface="+mn-lt"/>
                <a:cs typeface="+mn-lt"/>
              </a:rPr>
              <a:t> on the most pressing sustainability challenges and risks you / your country is facing. What does it mean in the local context? (5 minutes)</a:t>
            </a:r>
            <a:endParaRPr lang="en-US" sz="1600" dirty="0"/>
          </a:p>
          <a:p>
            <a:pPr marL="0" indent="0">
              <a:lnSpc>
                <a:spcPct val="100000"/>
              </a:lnSpc>
              <a:buNone/>
            </a:pPr>
            <a:r>
              <a:rPr lang="en-GB" sz="1600" b="1" dirty="0"/>
              <a:t>Group discussion</a:t>
            </a:r>
            <a:r>
              <a:rPr lang="en-GB" sz="1600" dirty="0"/>
              <a:t> on solutions to the most pressing sustainability challenges and risks identified in </a:t>
            </a:r>
            <a:r>
              <a:rPr lang="en-CH" sz="1600" dirty="0"/>
              <a:t>our</a:t>
            </a:r>
            <a:r>
              <a:rPr lang="en-GB" sz="1600" dirty="0"/>
              <a:t> specific contexts. Do you know local sustainability initiatives (challenges and solutions)? (5 minutes). </a:t>
            </a:r>
            <a:endParaRPr lang="en-US" sz="1600" dirty="0"/>
          </a:p>
          <a:p>
            <a:pPr marL="0" indent="0">
              <a:lnSpc>
                <a:spcPct val="100000"/>
              </a:lnSpc>
              <a:buNone/>
            </a:pPr>
            <a:r>
              <a:rPr lang="en-GB" sz="1600" b="1" dirty="0"/>
              <a:t>Groups share in the plenary</a:t>
            </a:r>
            <a:r>
              <a:rPr lang="en-GB" sz="1600" dirty="0"/>
              <a:t> local sustainability initiatives (challenges and solutions) (10 minutes) </a:t>
            </a:r>
          </a:p>
        </p:txBody>
      </p:sp>
      <p:pic>
        <p:nvPicPr>
          <p:cNvPr id="8" name="Picture 7" descr="hand holding ball">
            <a:extLst>
              <a:ext uri="{FF2B5EF4-FFF2-40B4-BE49-F238E27FC236}">
                <a16:creationId xmlns:a16="http://schemas.microsoft.com/office/drawing/2014/main" id="{8405C4DB-B28F-7474-D451-7CF8E979EDB8}"/>
              </a:ext>
            </a:extLst>
          </p:cNvPr>
          <p:cNvPicPr>
            <a:picLocks noChangeAspect="1"/>
          </p:cNvPicPr>
          <p:nvPr/>
        </p:nvPicPr>
        <p:blipFill rotWithShape="1">
          <a:blip r:embed="rId3"/>
          <a:srcRect l="19497" r="13752"/>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6" name="Slide Number Placeholder 5">
            <a:extLst>
              <a:ext uri="{FF2B5EF4-FFF2-40B4-BE49-F238E27FC236}">
                <a16:creationId xmlns:a16="http://schemas.microsoft.com/office/drawing/2014/main" id="{E0DE594E-2914-A193-0BBE-589D75052CE1}"/>
              </a:ext>
            </a:extLst>
          </p:cNvPr>
          <p:cNvSpPr>
            <a:spLocks noGrp="1"/>
          </p:cNvSpPr>
          <p:nvPr>
            <p:ph type="sldNum" sz="quarter" idx="12"/>
          </p:nvPr>
        </p:nvSpPr>
        <p:spPr>
          <a:xfrm>
            <a:off x="9037321" y="6356350"/>
            <a:ext cx="2743200" cy="365125"/>
          </a:xfrm>
        </p:spPr>
        <p:txBody>
          <a:bodyPr>
            <a:normAutofit/>
          </a:bodyPr>
          <a:lstStyle/>
          <a:p>
            <a:pPr>
              <a:spcAft>
                <a:spcPts val="600"/>
              </a:spcAft>
            </a:pPr>
            <a:fld id="{A65A5C87-DF58-40C8-B092-1DE63DB4547E}" type="slidenum">
              <a:rPr lang="en-US">
                <a:solidFill>
                  <a:srgbClr val="FFFFFF"/>
                </a:solidFill>
              </a:rPr>
              <a:pPr>
                <a:spcAft>
                  <a:spcPts val="600"/>
                </a:spcAft>
              </a:pPr>
              <a:t>27</a:t>
            </a:fld>
            <a:endParaRPr lang="en-US">
              <a:solidFill>
                <a:srgbClr val="FFFFFF"/>
              </a:solidFill>
            </a:endParaRPr>
          </a:p>
        </p:txBody>
      </p:sp>
      <p:grpSp>
        <p:nvGrpSpPr>
          <p:cNvPr id="10" name="Group 9">
            <a:extLst>
              <a:ext uri="{FF2B5EF4-FFF2-40B4-BE49-F238E27FC236}">
                <a16:creationId xmlns:a16="http://schemas.microsoft.com/office/drawing/2014/main" id="{A3804C38-EC4D-6092-F1E7-6E6360CA3EEF}"/>
              </a:ext>
            </a:extLst>
          </p:cNvPr>
          <p:cNvGrpSpPr/>
          <p:nvPr/>
        </p:nvGrpSpPr>
        <p:grpSpPr>
          <a:xfrm>
            <a:off x="11369860" y="-3696"/>
            <a:ext cx="822140" cy="847296"/>
            <a:chOff x="8600746" y="57953"/>
            <a:chExt cx="822140" cy="847296"/>
          </a:xfrm>
        </p:grpSpPr>
        <p:sp>
          <p:nvSpPr>
            <p:cNvPr id="11" name="Rectangle 10">
              <a:extLst>
                <a:ext uri="{FF2B5EF4-FFF2-40B4-BE49-F238E27FC236}">
                  <a16:creationId xmlns:a16="http://schemas.microsoft.com/office/drawing/2014/main" id="{51B78835-B41D-2478-7834-E2FFD37D8779}"/>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Rectangle 11">
              <a:extLst>
                <a:ext uri="{FF2B5EF4-FFF2-40B4-BE49-F238E27FC236}">
                  <a16:creationId xmlns:a16="http://schemas.microsoft.com/office/drawing/2014/main" id="{D503CCAE-671C-DCF5-E207-636427C1FA19}"/>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Rectangle 12">
              <a:extLst>
                <a:ext uri="{FF2B5EF4-FFF2-40B4-BE49-F238E27FC236}">
                  <a16:creationId xmlns:a16="http://schemas.microsoft.com/office/drawing/2014/main" id="{CA62A129-5442-24CC-4CE5-228D47D98451}"/>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4" name="Picture 13">
              <a:extLst>
                <a:ext uri="{FF2B5EF4-FFF2-40B4-BE49-F238E27FC236}">
                  <a16:creationId xmlns:a16="http://schemas.microsoft.com/office/drawing/2014/main" id="{F39C059B-1696-B91A-544A-5F09575277E1}"/>
                </a:ext>
              </a:extLst>
            </p:cNvPr>
            <p:cNvPicPr>
              <a:picLocks noChangeAspect="1"/>
            </p:cNvPicPr>
            <p:nvPr/>
          </p:nvPicPr>
          <p:blipFill>
            <a:blip r:embed="rId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3776190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Sustainability Theories and </a:t>
            </a:r>
            <a:br>
              <a:rPr lang="en-US"/>
            </a:br>
            <a:r>
              <a:rPr lang="en-US"/>
              <a:t>UN Conferences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algn="ctr"/>
            <a:r>
              <a:rPr lang="en-US" sz="9600">
                <a:solidFill>
                  <a:prstClr val="white"/>
                </a:solidFill>
                <a:latin typeface="Avenir Next LT Pro"/>
              </a:rPr>
              <a:t>4</a:t>
            </a:r>
            <a:endParaRPr lang="en-US"/>
          </a:p>
        </p:txBody>
      </p:sp>
    </p:spTree>
    <p:extLst>
      <p:ext uri="{BB962C8B-B14F-4D97-AF65-F5344CB8AC3E}">
        <p14:creationId xmlns:p14="http://schemas.microsoft.com/office/powerpoint/2010/main" val="2009847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3B4014-1A23-F9CF-15FC-51BB2A34EA4D}"/>
              </a:ext>
            </a:extLst>
          </p:cNvPr>
          <p:cNvSpPr>
            <a:spLocks noGrp="1"/>
          </p:cNvSpPr>
          <p:nvPr>
            <p:ph type="title"/>
          </p:nvPr>
        </p:nvSpPr>
        <p:spPr>
          <a:xfrm>
            <a:off x="901690" y="405575"/>
            <a:ext cx="10598462" cy="1371600"/>
          </a:xfrm>
        </p:spPr>
        <p:txBody>
          <a:bodyPr vert="horz" lIns="91440" tIns="45720" rIns="91440" bIns="45720" rtlCol="0" anchor="ctr">
            <a:normAutofit fontScale="90000"/>
          </a:bodyPr>
          <a:lstStyle/>
          <a:p>
            <a:r>
              <a:rPr lang="en-US"/>
              <a:t>Selected Sustainability Theories and International Milestones: A Timeline from 1970 Onwards</a:t>
            </a:r>
          </a:p>
        </p:txBody>
      </p:sp>
      <p:sp>
        <p:nvSpPr>
          <p:cNvPr id="21" name="Rectangle 2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5FF3A5F-AFA1-B2B6-092A-D91BADB3D292}"/>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29</a:t>
            </a:fld>
            <a:endParaRPr lang="en-US">
              <a:solidFill>
                <a:schemeClr val="tx2">
                  <a:lumMod val="50000"/>
                  <a:lumOff val="50000"/>
                </a:schemeClr>
              </a:solidFill>
            </a:endParaRPr>
          </a:p>
        </p:txBody>
      </p:sp>
      <p:graphicFrame>
        <p:nvGraphicFramePr>
          <p:cNvPr id="8" name="Table 7">
            <a:extLst>
              <a:ext uri="{FF2B5EF4-FFF2-40B4-BE49-F238E27FC236}">
                <a16:creationId xmlns:a16="http://schemas.microsoft.com/office/drawing/2014/main" id="{2D791481-FA04-554A-6CD1-3DEFB3BB88F7}"/>
              </a:ext>
            </a:extLst>
          </p:cNvPr>
          <p:cNvGraphicFramePr>
            <a:graphicFrameLocks noGrp="1"/>
          </p:cNvGraphicFramePr>
          <p:nvPr>
            <p:extLst>
              <p:ext uri="{D42A27DB-BD31-4B8C-83A1-F6EECF244321}">
                <p14:modId xmlns:p14="http://schemas.microsoft.com/office/powerpoint/2010/main" val="2561138258"/>
              </p:ext>
            </p:extLst>
          </p:nvPr>
        </p:nvGraphicFramePr>
        <p:xfrm>
          <a:off x="579137" y="3316956"/>
          <a:ext cx="11517129" cy="1579178"/>
        </p:xfrm>
        <a:graphic>
          <a:graphicData uri="http://schemas.openxmlformats.org/drawingml/2006/table">
            <a:tbl>
              <a:tblPr firstRow="1" bandRow="1">
                <a:tableStyleId>{5C22544A-7EE6-4342-B048-85BDC9FD1C3A}</a:tableStyleId>
              </a:tblPr>
              <a:tblGrid>
                <a:gridCol w="956517">
                  <a:extLst>
                    <a:ext uri="{9D8B030D-6E8A-4147-A177-3AD203B41FA5}">
                      <a16:colId xmlns:a16="http://schemas.microsoft.com/office/drawing/2014/main" val="850591420"/>
                    </a:ext>
                  </a:extLst>
                </a:gridCol>
                <a:gridCol w="612743">
                  <a:extLst>
                    <a:ext uri="{9D8B030D-6E8A-4147-A177-3AD203B41FA5}">
                      <a16:colId xmlns:a16="http://schemas.microsoft.com/office/drawing/2014/main" val="3018115885"/>
                    </a:ext>
                  </a:extLst>
                </a:gridCol>
                <a:gridCol w="612743">
                  <a:extLst>
                    <a:ext uri="{9D8B030D-6E8A-4147-A177-3AD203B41FA5}">
                      <a16:colId xmlns:a16="http://schemas.microsoft.com/office/drawing/2014/main" val="3923400446"/>
                    </a:ext>
                  </a:extLst>
                </a:gridCol>
                <a:gridCol w="932957">
                  <a:extLst>
                    <a:ext uri="{9D8B030D-6E8A-4147-A177-3AD203B41FA5}">
                      <a16:colId xmlns:a16="http://schemas.microsoft.com/office/drawing/2014/main" val="2614994202"/>
                    </a:ext>
                  </a:extLst>
                </a:gridCol>
                <a:gridCol w="484909">
                  <a:extLst>
                    <a:ext uri="{9D8B030D-6E8A-4147-A177-3AD203B41FA5}">
                      <a16:colId xmlns:a16="http://schemas.microsoft.com/office/drawing/2014/main" val="2598533359"/>
                    </a:ext>
                  </a:extLst>
                </a:gridCol>
                <a:gridCol w="1048217">
                  <a:extLst>
                    <a:ext uri="{9D8B030D-6E8A-4147-A177-3AD203B41FA5}">
                      <a16:colId xmlns:a16="http://schemas.microsoft.com/office/drawing/2014/main" val="3889631199"/>
                    </a:ext>
                  </a:extLst>
                </a:gridCol>
                <a:gridCol w="415636">
                  <a:extLst>
                    <a:ext uri="{9D8B030D-6E8A-4147-A177-3AD203B41FA5}">
                      <a16:colId xmlns:a16="http://schemas.microsoft.com/office/drawing/2014/main" val="2899899315"/>
                    </a:ext>
                  </a:extLst>
                </a:gridCol>
                <a:gridCol w="1117491">
                  <a:extLst>
                    <a:ext uri="{9D8B030D-6E8A-4147-A177-3AD203B41FA5}">
                      <a16:colId xmlns:a16="http://schemas.microsoft.com/office/drawing/2014/main" val="2459959844"/>
                    </a:ext>
                  </a:extLst>
                </a:gridCol>
                <a:gridCol w="186904">
                  <a:extLst>
                    <a:ext uri="{9D8B030D-6E8A-4147-A177-3AD203B41FA5}">
                      <a16:colId xmlns:a16="http://schemas.microsoft.com/office/drawing/2014/main" val="378541868"/>
                    </a:ext>
                  </a:extLst>
                </a:gridCol>
                <a:gridCol w="938846">
                  <a:extLst>
                    <a:ext uri="{9D8B030D-6E8A-4147-A177-3AD203B41FA5}">
                      <a16:colId xmlns:a16="http://schemas.microsoft.com/office/drawing/2014/main" val="2512061536"/>
                    </a:ext>
                  </a:extLst>
                </a:gridCol>
                <a:gridCol w="842646">
                  <a:extLst>
                    <a:ext uri="{9D8B030D-6E8A-4147-A177-3AD203B41FA5}">
                      <a16:colId xmlns:a16="http://schemas.microsoft.com/office/drawing/2014/main" val="2225544826"/>
                    </a:ext>
                  </a:extLst>
                </a:gridCol>
                <a:gridCol w="677728">
                  <a:extLst>
                    <a:ext uri="{9D8B030D-6E8A-4147-A177-3AD203B41FA5}">
                      <a16:colId xmlns:a16="http://schemas.microsoft.com/office/drawing/2014/main" val="3800597913"/>
                    </a:ext>
                  </a:extLst>
                </a:gridCol>
                <a:gridCol w="677728">
                  <a:extLst>
                    <a:ext uri="{9D8B030D-6E8A-4147-A177-3AD203B41FA5}">
                      <a16:colId xmlns:a16="http://schemas.microsoft.com/office/drawing/2014/main" val="934631439"/>
                    </a:ext>
                  </a:extLst>
                </a:gridCol>
                <a:gridCol w="186904">
                  <a:extLst>
                    <a:ext uri="{9D8B030D-6E8A-4147-A177-3AD203B41FA5}">
                      <a16:colId xmlns:a16="http://schemas.microsoft.com/office/drawing/2014/main" val="718195819"/>
                    </a:ext>
                  </a:extLst>
                </a:gridCol>
                <a:gridCol w="186904">
                  <a:extLst>
                    <a:ext uri="{9D8B030D-6E8A-4147-A177-3AD203B41FA5}">
                      <a16:colId xmlns:a16="http://schemas.microsoft.com/office/drawing/2014/main" val="3949453000"/>
                    </a:ext>
                  </a:extLst>
                </a:gridCol>
                <a:gridCol w="501033">
                  <a:extLst>
                    <a:ext uri="{9D8B030D-6E8A-4147-A177-3AD203B41FA5}">
                      <a16:colId xmlns:a16="http://schemas.microsoft.com/office/drawing/2014/main" val="3692356135"/>
                    </a:ext>
                  </a:extLst>
                </a:gridCol>
                <a:gridCol w="186904">
                  <a:extLst>
                    <a:ext uri="{9D8B030D-6E8A-4147-A177-3AD203B41FA5}">
                      <a16:colId xmlns:a16="http://schemas.microsoft.com/office/drawing/2014/main" val="2165453425"/>
                    </a:ext>
                  </a:extLst>
                </a:gridCol>
                <a:gridCol w="186904">
                  <a:extLst>
                    <a:ext uri="{9D8B030D-6E8A-4147-A177-3AD203B41FA5}">
                      <a16:colId xmlns:a16="http://schemas.microsoft.com/office/drawing/2014/main" val="3106271227"/>
                    </a:ext>
                  </a:extLst>
                </a:gridCol>
                <a:gridCol w="186904">
                  <a:extLst>
                    <a:ext uri="{9D8B030D-6E8A-4147-A177-3AD203B41FA5}">
                      <a16:colId xmlns:a16="http://schemas.microsoft.com/office/drawing/2014/main" val="1385892832"/>
                    </a:ext>
                  </a:extLst>
                </a:gridCol>
                <a:gridCol w="576511">
                  <a:extLst>
                    <a:ext uri="{9D8B030D-6E8A-4147-A177-3AD203B41FA5}">
                      <a16:colId xmlns:a16="http://schemas.microsoft.com/office/drawing/2014/main" val="260615804"/>
                    </a:ext>
                  </a:extLst>
                </a:gridCol>
              </a:tblGrid>
              <a:tr h="658552">
                <a:tc>
                  <a:txBody>
                    <a:bodyPr/>
                    <a:lstStyle/>
                    <a:p>
                      <a:pPr algn="ctr" fontAlgn="ctr"/>
                      <a:r>
                        <a:rPr lang="en-GB" sz="1300" b="0" i="0" u="none" strike="noStrike" dirty="0">
                          <a:solidFill>
                            <a:srgbClr val="000000"/>
                          </a:solidFill>
                          <a:effectLst/>
                          <a:latin typeface="+mn-lt"/>
                        </a:rPr>
                        <a:t>Limits to Growth</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gridSpan="2">
                  <a:txBody>
                    <a:bodyPr/>
                    <a:lstStyle/>
                    <a:p>
                      <a:pPr algn="ctr" fontAlgn="ctr"/>
                      <a:r>
                        <a:rPr lang="en-GB" sz="1300" b="0" i="0" u="none" strike="noStrike">
                          <a:solidFill>
                            <a:srgbClr val="000000"/>
                          </a:solidFill>
                          <a:effectLst/>
                          <a:latin typeface="+mn-lt"/>
                        </a:rPr>
                        <a:t>Emergence of 3 Circles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hMerge="1">
                  <a:txBody>
                    <a:bodyPr/>
                    <a:lstStyle/>
                    <a:p>
                      <a:endParaRPr lang="en-GB"/>
                    </a:p>
                  </a:txBody>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FF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Planetary Boundaries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Doughnut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extLst>
                  <a:ext uri="{0D108BD9-81ED-4DB2-BD59-A6C34878D82A}">
                    <a16:rowId xmlns:a16="http://schemas.microsoft.com/office/drawing/2014/main" val="3162891506"/>
                  </a:ext>
                </a:extLst>
              </a:tr>
              <a:tr h="256383">
                <a:tc>
                  <a:txBody>
                    <a:bodyPr/>
                    <a:lstStyle/>
                    <a:p>
                      <a:pPr algn="ctr" fontAlgn="ctr"/>
                      <a:r>
                        <a:rPr lang="en-GB" sz="1300" b="1" i="0" u="none" strike="noStrike">
                          <a:solidFill>
                            <a:srgbClr val="000000"/>
                          </a:solidFill>
                          <a:effectLst/>
                          <a:latin typeface="+mn-lt"/>
                        </a:rPr>
                        <a:t>1972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1987</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1992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2009</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2015</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dirty="0">
                          <a:solidFill>
                            <a:srgbClr val="000000"/>
                          </a:solidFill>
                          <a:effectLst/>
                          <a:latin typeface="+mn-lt"/>
                        </a:rPr>
                        <a:t>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extLst>
                  <a:ext uri="{0D108BD9-81ED-4DB2-BD59-A6C34878D82A}">
                    <a16:rowId xmlns:a16="http://schemas.microsoft.com/office/drawing/2014/main" val="1267257915"/>
                  </a:ext>
                </a:extLst>
              </a:tr>
              <a:tr h="664243">
                <a:tc>
                  <a:txBody>
                    <a:bodyPr/>
                    <a:lstStyle/>
                    <a:p>
                      <a:pPr algn="ctr" fontAlgn="ctr"/>
                      <a:r>
                        <a:rPr lang="en-GB" sz="1300" b="0" i="0" u="none" strike="noStrike">
                          <a:solidFill>
                            <a:srgbClr val="000000"/>
                          </a:solidFill>
                          <a:effectLst/>
                          <a:latin typeface="+mn-lt"/>
                        </a:rPr>
                        <a:t>UN Conference Stockholm</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Brundtland Report</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Earth Summit Rio de Janeiro</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Millennium Development Goals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Rio +20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  </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extLst>
                  <a:ext uri="{0D108BD9-81ED-4DB2-BD59-A6C34878D82A}">
                    <a16:rowId xmlns:a16="http://schemas.microsoft.com/office/drawing/2014/main" val="2207046841"/>
                  </a:ext>
                </a:extLst>
              </a:tr>
            </a:tbl>
          </a:graphicData>
        </a:graphic>
      </p:graphicFrame>
      <p:pic>
        <p:nvPicPr>
          <p:cNvPr id="10" name="Grafik 101" descr="A diagram of a circle&#10;&#10;Description automatically generated">
            <a:extLst>
              <a:ext uri="{FF2B5EF4-FFF2-40B4-BE49-F238E27FC236}">
                <a16:creationId xmlns:a16="http://schemas.microsoft.com/office/drawing/2014/main" id="{AFDEEEEE-9FC1-18BF-87B7-F58666E29319}"/>
              </a:ext>
            </a:extLst>
          </p:cNvPr>
          <p:cNvPicPr>
            <a:picLocks noChangeAspect="1"/>
          </p:cNvPicPr>
          <p:nvPr/>
        </p:nvPicPr>
        <p:blipFill>
          <a:blip r:embed="rId3">
            <a:extLst>
              <a:ext uri="{28A0092B-C50C-407E-A947-70E740481C1C}">
                <a14:useLocalDpi xmlns:a14="http://schemas.microsoft.com/office/drawing/2010/main" val="0"/>
              </a:ext>
            </a:extLst>
          </a:blip>
          <a:srcRect l="10886" r="11111"/>
          <a:stretch>
            <a:fillRect/>
          </a:stretch>
        </p:blipFill>
        <p:spPr bwMode="auto">
          <a:xfrm>
            <a:off x="1930140" y="2155877"/>
            <a:ext cx="1117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Grafik 90" descr="A circular chart with different colored shapes&#10;&#10;Description automatically generated">
            <a:extLst>
              <a:ext uri="{FF2B5EF4-FFF2-40B4-BE49-F238E27FC236}">
                <a16:creationId xmlns:a16="http://schemas.microsoft.com/office/drawing/2014/main" id="{94B24C0E-20BD-ECFD-D31A-4D1EEC260A3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58845" y="2207559"/>
            <a:ext cx="977900" cy="99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Inhaltsplatzhalter 4" descr="A circular chart with text&#10;&#10;Description automatically generated">
            <a:extLst>
              <a:ext uri="{FF2B5EF4-FFF2-40B4-BE49-F238E27FC236}">
                <a16:creationId xmlns:a16="http://schemas.microsoft.com/office/drawing/2014/main" id="{D0ADC958-EE0D-E68C-C703-929D37C909E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39982" y="2149164"/>
            <a:ext cx="1126067"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Grafik 100">
            <a:extLst>
              <a:ext uri="{FF2B5EF4-FFF2-40B4-BE49-F238E27FC236}">
                <a16:creationId xmlns:a16="http://schemas.microsoft.com/office/drawing/2014/main" id="{9DEDB1DA-3203-1A38-5421-FE1D012273B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629" y="2203960"/>
            <a:ext cx="937684" cy="95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fik 67" descr="Ein Bild, das Text, Person, drinnen enthält.&#10;&#10;Automatisch generierte Beschreibung">
            <a:extLst>
              <a:ext uri="{FF2B5EF4-FFF2-40B4-BE49-F238E27FC236}">
                <a16:creationId xmlns:a16="http://schemas.microsoft.com/office/drawing/2014/main" id="{BA97190F-69AB-1103-2232-1B7D72DDFF0D}"/>
              </a:ext>
            </a:extLst>
          </p:cNvPr>
          <p:cNvPicPr>
            <a:picLocks noChangeAspect="1"/>
          </p:cNvPicPr>
          <p:nvPr/>
        </p:nvPicPr>
        <p:blipFill>
          <a:blip r:embed="rId7">
            <a:extLst>
              <a:ext uri="{28A0092B-C50C-407E-A947-70E740481C1C}">
                <a14:useLocalDpi xmlns:a14="http://schemas.microsoft.com/office/drawing/2010/main" val="0"/>
              </a:ext>
            </a:extLst>
          </a:blip>
          <a:srcRect b="19827"/>
          <a:stretch>
            <a:fillRect/>
          </a:stretch>
        </p:blipFill>
        <p:spPr bwMode="auto">
          <a:xfrm>
            <a:off x="548341" y="5140874"/>
            <a:ext cx="1051984"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Grafik 75" descr="Ein Bild, das Person, drinnen, Musik, Mann enthält.&#10;&#10;Automatisch generierte Beschreibung">
            <a:extLst>
              <a:ext uri="{FF2B5EF4-FFF2-40B4-BE49-F238E27FC236}">
                <a16:creationId xmlns:a16="http://schemas.microsoft.com/office/drawing/2014/main" id="{F435A858-F032-8898-3AF5-7E509C8AD37B}"/>
              </a:ext>
            </a:extLst>
          </p:cNvPr>
          <p:cNvPicPr>
            <a:picLocks noChangeAspect="1"/>
          </p:cNvPicPr>
          <p:nvPr/>
        </p:nvPicPr>
        <p:blipFill>
          <a:blip r:embed="rId8">
            <a:extLst>
              <a:ext uri="{28A0092B-C50C-407E-A947-70E740481C1C}">
                <a14:useLocalDpi xmlns:a14="http://schemas.microsoft.com/office/drawing/2010/main" val="0"/>
              </a:ext>
            </a:extLst>
          </a:blip>
          <a:srcRect l="23550" t="4552" r="34715" b="25360"/>
          <a:stretch>
            <a:fillRect/>
          </a:stretch>
        </p:blipFill>
        <p:spPr bwMode="auto">
          <a:xfrm>
            <a:off x="2645462" y="5144235"/>
            <a:ext cx="1003300"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Grafik 80" descr="A colorful circle with many squares&#10;&#10;Description automatically generated">
            <a:extLst>
              <a:ext uri="{FF2B5EF4-FFF2-40B4-BE49-F238E27FC236}">
                <a16:creationId xmlns:a16="http://schemas.microsoft.com/office/drawing/2014/main" id="{8CADA1F0-8047-16DF-6FA6-D525524F152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419719" y="5082774"/>
            <a:ext cx="735821" cy="745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Grafik 138">
            <a:extLst>
              <a:ext uri="{FF2B5EF4-FFF2-40B4-BE49-F238E27FC236}">
                <a16:creationId xmlns:a16="http://schemas.microsoft.com/office/drawing/2014/main" id="{5D14C2C9-8484-0AA9-05C6-2FDDF7F0DE8D}"/>
              </a:ext>
            </a:extLst>
          </p:cNvPr>
          <p:cNvPicPr>
            <a:picLocks noChangeAspect="1"/>
          </p:cNvPicPr>
          <p:nvPr/>
        </p:nvPicPr>
        <p:blipFill>
          <a:blip r:embed="rId10">
            <a:extLst>
              <a:ext uri="{28A0092B-C50C-407E-A947-70E740481C1C}">
                <a14:useLocalDpi xmlns:a14="http://schemas.microsoft.com/office/drawing/2010/main" val="0"/>
              </a:ext>
            </a:extLst>
          </a:blip>
          <a:srcRect l="4242" r="3265"/>
          <a:stretch>
            <a:fillRect/>
          </a:stretch>
        </p:blipFill>
        <p:spPr bwMode="auto">
          <a:xfrm>
            <a:off x="4095479" y="5176433"/>
            <a:ext cx="132291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descr="A purple square with white text&#10;&#10;Description automatically generated">
            <a:extLst>
              <a:ext uri="{FF2B5EF4-FFF2-40B4-BE49-F238E27FC236}">
                <a16:creationId xmlns:a16="http://schemas.microsoft.com/office/drawing/2014/main" id="{F27CF911-E548-BC46-ADCB-46964AEC762E}"/>
              </a:ext>
            </a:extLst>
          </p:cNvPr>
          <p:cNvPicPr>
            <a:picLocks noChangeAspect="1"/>
          </p:cNvPicPr>
          <p:nvPr/>
        </p:nvPicPr>
        <p:blipFill>
          <a:blip r:embed="rId11"/>
          <a:stretch>
            <a:fillRect/>
          </a:stretch>
        </p:blipFill>
        <p:spPr>
          <a:xfrm>
            <a:off x="8643433" y="5140759"/>
            <a:ext cx="770524" cy="634164"/>
          </a:xfrm>
          <a:prstGeom prst="rect">
            <a:avLst/>
          </a:prstGeom>
        </p:spPr>
      </p:pic>
      <p:pic>
        <p:nvPicPr>
          <p:cNvPr id="38" name="Picture 37" descr="Civil society groups gear up for MDG closing, push for inclusive growth">
            <a:extLst>
              <a:ext uri="{FF2B5EF4-FFF2-40B4-BE49-F238E27FC236}">
                <a16:creationId xmlns:a16="http://schemas.microsoft.com/office/drawing/2014/main" id="{A7B46CC3-26D2-594E-1B4C-E34053A0D012}"/>
              </a:ext>
            </a:extLst>
          </p:cNvPr>
          <p:cNvPicPr>
            <a:picLocks noChangeAspect="1"/>
          </p:cNvPicPr>
          <p:nvPr/>
        </p:nvPicPr>
        <p:blipFill rotWithShape="1">
          <a:blip r:embed="rId12"/>
          <a:srcRect l="22041" t="4530" r="23265" b="5575"/>
          <a:stretch/>
        </p:blipFill>
        <p:spPr>
          <a:xfrm>
            <a:off x="5845124" y="5082567"/>
            <a:ext cx="715953" cy="1377066"/>
          </a:xfrm>
          <a:prstGeom prst="rect">
            <a:avLst/>
          </a:prstGeom>
        </p:spPr>
      </p:pic>
      <p:graphicFrame>
        <p:nvGraphicFramePr>
          <p:cNvPr id="42" name="Table 41">
            <a:extLst>
              <a:ext uri="{FF2B5EF4-FFF2-40B4-BE49-F238E27FC236}">
                <a16:creationId xmlns:a16="http://schemas.microsoft.com/office/drawing/2014/main" id="{58B30A1C-E754-6EE0-89B4-B870CB43587D}"/>
              </a:ext>
            </a:extLst>
          </p:cNvPr>
          <p:cNvGraphicFramePr>
            <a:graphicFrameLocks noGrp="1"/>
          </p:cNvGraphicFramePr>
          <p:nvPr>
            <p:extLst>
              <p:ext uri="{D42A27DB-BD31-4B8C-83A1-F6EECF244321}">
                <p14:modId xmlns:p14="http://schemas.microsoft.com/office/powerpoint/2010/main" val="1405577073"/>
              </p:ext>
            </p:extLst>
          </p:nvPr>
        </p:nvGraphicFramePr>
        <p:xfrm>
          <a:off x="87229" y="2047640"/>
          <a:ext cx="430184" cy="4376970"/>
        </p:xfrm>
        <a:graphic>
          <a:graphicData uri="http://schemas.openxmlformats.org/drawingml/2006/table">
            <a:tbl>
              <a:tblPr firstRow="1" bandRow="1">
                <a:tableStyleId>{5C22544A-7EE6-4342-B048-85BDC9FD1C3A}</a:tableStyleId>
              </a:tblPr>
              <a:tblGrid>
                <a:gridCol w="430184">
                  <a:extLst>
                    <a:ext uri="{9D8B030D-6E8A-4147-A177-3AD203B41FA5}">
                      <a16:colId xmlns:a16="http://schemas.microsoft.com/office/drawing/2014/main" val="901676741"/>
                    </a:ext>
                  </a:extLst>
                </a:gridCol>
              </a:tblGrid>
              <a:tr h="1928812">
                <a:tc>
                  <a:txBody>
                    <a:bodyPr/>
                    <a:lstStyle/>
                    <a:p>
                      <a:pPr algn="ctr" fontAlgn="ctr"/>
                      <a:r>
                        <a:rPr lang="en-GB" sz="1400" b="1" i="0" u="none" strike="noStrike">
                          <a:solidFill>
                            <a:srgbClr val="000000"/>
                          </a:solidFill>
                          <a:effectLst/>
                          <a:latin typeface="+mn-lt"/>
                        </a:rPr>
                        <a:t>Theory</a:t>
                      </a:r>
                    </a:p>
                  </a:txBody>
                  <a:tcPr marL="9525" marR="9525" marT="9525" marB="0" vert="vert270" anchor="ctr">
                    <a:lnL>
                      <a:noFill/>
                    </a:lnL>
                    <a:lnR>
                      <a:noFill/>
                    </a:lnR>
                    <a:lnT>
                      <a:noFill/>
                    </a:lnT>
                    <a:lnB>
                      <a:noFill/>
                    </a:lnB>
                    <a:solidFill>
                      <a:srgbClr val="BEEBFA"/>
                    </a:solidFill>
                  </a:tcPr>
                </a:tc>
                <a:extLst>
                  <a:ext uri="{0D108BD9-81ED-4DB2-BD59-A6C34878D82A}">
                    <a16:rowId xmlns:a16="http://schemas.microsoft.com/office/drawing/2014/main" val="2750132008"/>
                  </a:ext>
                </a:extLst>
              </a:tr>
              <a:tr h="263945">
                <a:tc>
                  <a:txBody>
                    <a:bodyPr/>
                    <a:lstStyle/>
                    <a:p>
                      <a:pPr algn="ctr" fontAlgn="ctr"/>
                      <a:r>
                        <a:rPr lang="en-GB" sz="1300" b="1" i="0" u="none" strike="noStrike">
                          <a:solidFill>
                            <a:srgbClr val="000000"/>
                          </a:solidFill>
                          <a:effectLst/>
                          <a:latin typeface="+mn-lt"/>
                        </a:rPr>
                        <a:t>Year</a:t>
                      </a:r>
                    </a:p>
                  </a:txBody>
                  <a:tcPr marL="9525" marR="9525" marT="9525" marB="0" anchor="ctr">
                    <a:lnL>
                      <a:noFill/>
                    </a:lnL>
                    <a:lnR>
                      <a:noFill/>
                    </a:lnR>
                    <a:lnT>
                      <a:noFill/>
                    </a:lnT>
                    <a:lnB>
                      <a:noFill/>
                    </a:lnB>
                    <a:solidFill>
                      <a:srgbClr val="FFCCA6"/>
                    </a:solidFill>
                  </a:tcPr>
                </a:tc>
                <a:extLst>
                  <a:ext uri="{0D108BD9-81ED-4DB2-BD59-A6C34878D82A}">
                    <a16:rowId xmlns:a16="http://schemas.microsoft.com/office/drawing/2014/main" val="3946218633"/>
                  </a:ext>
                </a:extLst>
              </a:tr>
              <a:tr h="2184213">
                <a:tc>
                  <a:txBody>
                    <a:bodyPr/>
                    <a:lstStyle/>
                    <a:p>
                      <a:pPr algn="ctr" fontAlgn="ctr"/>
                      <a:r>
                        <a:rPr lang="en-GB" sz="1400" b="1" i="0" u="none" strike="noStrike">
                          <a:solidFill>
                            <a:srgbClr val="000000"/>
                          </a:solidFill>
                          <a:effectLst/>
                          <a:latin typeface="+mn-lt"/>
                        </a:rPr>
                        <a:t>International Milestones</a:t>
                      </a:r>
                    </a:p>
                  </a:txBody>
                  <a:tcPr marL="9525" marR="9525" marT="9525" marB="0" vert="vert270" anchor="ctr">
                    <a:lnL>
                      <a:noFill/>
                    </a:lnL>
                    <a:lnR>
                      <a:noFill/>
                    </a:lnR>
                    <a:lnT>
                      <a:noFill/>
                    </a:lnT>
                    <a:lnB>
                      <a:noFill/>
                    </a:lnB>
                    <a:solidFill>
                      <a:srgbClr val="4EADF3"/>
                    </a:solidFill>
                  </a:tcPr>
                </a:tc>
                <a:extLst>
                  <a:ext uri="{0D108BD9-81ED-4DB2-BD59-A6C34878D82A}">
                    <a16:rowId xmlns:a16="http://schemas.microsoft.com/office/drawing/2014/main" val="123929707"/>
                  </a:ext>
                </a:extLst>
              </a:tr>
            </a:tbl>
          </a:graphicData>
        </a:graphic>
      </p:graphicFrame>
      <p:pic>
        <p:nvPicPr>
          <p:cNvPr id="7" name="Picture 6" descr="UIMF at the United Nations Conference on Sustainable Development, RIO+ ...">
            <a:extLst>
              <a:ext uri="{FF2B5EF4-FFF2-40B4-BE49-F238E27FC236}">
                <a16:creationId xmlns:a16="http://schemas.microsoft.com/office/drawing/2014/main" id="{810DF336-B1BA-B3A3-8102-CDE235D37C3D}"/>
              </a:ext>
            </a:extLst>
          </p:cNvPr>
          <p:cNvPicPr>
            <a:picLocks noChangeAspect="1"/>
          </p:cNvPicPr>
          <p:nvPr/>
        </p:nvPicPr>
        <p:blipFill>
          <a:blip r:embed="rId13"/>
          <a:stretch>
            <a:fillRect/>
          </a:stretch>
        </p:blipFill>
        <p:spPr>
          <a:xfrm>
            <a:off x="7387813" y="5135295"/>
            <a:ext cx="1156536" cy="552153"/>
          </a:xfrm>
          <a:prstGeom prst="rect">
            <a:avLst/>
          </a:prstGeom>
        </p:spPr>
      </p:pic>
      <p:grpSp>
        <p:nvGrpSpPr>
          <p:cNvPr id="3" name="Group 2">
            <a:extLst>
              <a:ext uri="{FF2B5EF4-FFF2-40B4-BE49-F238E27FC236}">
                <a16:creationId xmlns:a16="http://schemas.microsoft.com/office/drawing/2014/main" id="{AF64709E-51CE-B337-1B2A-49D770F5C923}"/>
              </a:ext>
            </a:extLst>
          </p:cNvPr>
          <p:cNvGrpSpPr/>
          <p:nvPr/>
        </p:nvGrpSpPr>
        <p:grpSpPr>
          <a:xfrm>
            <a:off x="11369860" y="-3696"/>
            <a:ext cx="822140" cy="847296"/>
            <a:chOff x="8600746" y="57953"/>
            <a:chExt cx="822140" cy="847296"/>
          </a:xfrm>
        </p:grpSpPr>
        <p:sp>
          <p:nvSpPr>
            <p:cNvPr id="4" name="Rectangle 3">
              <a:extLst>
                <a:ext uri="{FF2B5EF4-FFF2-40B4-BE49-F238E27FC236}">
                  <a16:creationId xmlns:a16="http://schemas.microsoft.com/office/drawing/2014/main" id="{3A2DC48D-9814-EDC8-0E28-2653EF42B1CE}"/>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Rectangle 4">
              <a:extLst>
                <a:ext uri="{FF2B5EF4-FFF2-40B4-BE49-F238E27FC236}">
                  <a16:creationId xmlns:a16="http://schemas.microsoft.com/office/drawing/2014/main" id="{465E04E6-85EA-D0C5-CCCE-312AD94E5D4F}"/>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Rectangle 8">
              <a:extLst>
                <a:ext uri="{FF2B5EF4-FFF2-40B4-BE49-F238E27FC236}">
                  <a16:creationId xmlns:a16="http://schemas.microsoft.com/office/drawing/2014/main" id="{5171D29B-F836-A603-C404-5BC8963A8898}"/>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1" name="Picture 10">
              <a:extLst>
                <a:ext uri="{FF2B5EF4-FFF2-40B4-BE49-F238E27FC236}">
                  <a16:creationId xmlns:a16="http://schemas.microsoft.com/office/drawing/2014/main" id="{B025909B-434A-EDCB-05A1-2AF726A597AB}"/>
                </a:ext>
              </a:extLst>
            </p:cNvPr>
            <p:cNvPicPr>
              <a:picLocks noChangeAspect="1"/>
            </p:cNvPicPr>
            <p:nvPr/>
          </p:nvPicPr>
          <p:blipFill>
            <a:blip r:embed="rId1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2188968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ABDE1A9-0C99-41BC-2BA2-600C4E4D439F}"/>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F8F1C7E9-ECD3-895A-6FFF-F0F1CD1C0706}"/>
              </a:ext>
            </a:extLst>
          </p:cNvPr>
          <p:cNvSpPr>
            <a:spLocks noGrp="1"/>
          </p:cNvSpPr>
          <p:nvPr>
            <p:ph type="sldNum" sz="quarter" idx="12"/>
          </p:nvPr>
        </p:nvSpPr>
        <p:spPr/>
        <p:txBody>
          <a:bodyPr/>
          <a:lstStyle/>
          <a:p>
            <a:fld id="{A65A5C87-DF58-40C8-B092-1DE63DB4547E}" type="slidenum">
              <a:rPr lang="en-US" smtClean="0"/>
              <a:t>30</a:t>
            </a:fld>
            <a:endParaRPr lang="en-US"/>
          </a:p>
        </p:txBody>
      </p:sp>
      <p:pic>
        <p:nvPicPr>
          <p:cNvPr id="7" name="Picture 6" descr="A map of the world&#10;&#10;Description automatically generated">
            <a:extLst>
              <a:ext uri="{FF2B5EF4-FFF2-40B4-BE49-F238E27FC236}">
                <a16:creationId xmlns:a16="http://schemas.microsoft.com/office/drawing/2014/main" id="{03EDC47C-036A-C7A3-54CF-786D86F3D810}"/>
              </a:ext>
            </a:extLst>
          </p:cNvPr>
          <p:cNvPicPr>
            <a:picLocks noChangeAspect="1"/>
          </p:cNvPicPr>
          <p:nvPr/>
        </p:nvPicPr>
        <p:blipFill rotWithShape="1">
          <a:blip r:embed="rId2"/>
          <a:srcRect t="2045" r="-91" b="204"/>
          <a:stretch/>
        </p:blipFill>
        <p:spPr>
          <a:xfrm>
            <a:off x="-156882" y="768538"/>
            <a:ext cx="12360107" cy="5354597"/>
          </a:xfrm>
          <a:prstGeom prst="rect">
            <a:avLst/>
          </a:prstGeom>
        </p:spPr>
      </p:pic>
      <p:sp>
        <p:nvSpPr>
          <p:cNvPr id="2" name="TextBox 1">
            <a:extLst>
              <a:ext uri="{FF2B5EF4-FFF2-40B4-BE49-F238E27FC236}">
                <a16:creationId xmlns:a16="http://schemas.microsoft.com/office/drawing/2014/main" id="{E80C80C1-1972-32FC-A915-9BF934739FD0}"/>
              </a:ext>
            </a:extLst>
          </p:cNvPr>
          <p:cNvSpPr txBox="1"/>
          <p:nvPr/>
        </p:nvSpPr>
        <p:spPr>
          <a:xfrm>
            <a:off x="11279186" y="6080125"/>
            <a:ext cx="261937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PBL 2017</a:t>
            </a:r>
          </a:p>
        </p:txBody>
      </p:sp>
    </p:spTree>
    <p:extLst>
      <p:ext uri="{BB962C8B-B14F-4D97-AF65-F5344CB8AC3E}">
        <p14:creationId xmlns:p14="http://schemas.microsoft.com/office/powerpoint/2010/main" val="1563055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CA1D-161A-C34B-B72B-E53D3281E391}"/>
              </a:ext>
            </a:extLst>
          </p:cNvPr>
          <p:cNvSpPr>
            <a:spLocks noGrp="1"/>
          </p:cNvSpPr>
          <p:nvPr>
            <p:ph type="title"/>
          </p:nvPr>
        </p:nvSpPr>
        <p:spPr>
          <a:xfrm>
            <a:off x="822191" y="678633"/>
            <a:ext cx="4485861" cy="1088136"/>
          </a:xfrm>
        </p:spPr>
        <p:txBody>
          <a:bodyPr anchor="b">
            <a:normAutofit/>
          </a:bodyPr>
          <a:lstStyle/>
          <a:p>
            <a:r>
              <a:rPr lang="en-US" sz="2400"/>
              <a:t>United Nations Conference on the Environment, 1972 Stockholm</a:t>
            </a:r>
          </a:p>
        </p:txBody>
      </p:sp>
      <p:sp>
        <p:nvSpPr>
          <p:cNvPr id="3" name="Content Placeholder 2">
            <a:extLst>
              <a:ext uri="{FF2B5EF4-FFF2-40B4-BE49-F238E27FC236}">
                <a16:creationId xmlns:a16="http://schemas.microsoft.com/office/drawing/2014/main" id="{637691D2-9B05-0A17-A054-A18F38B6E1E5}"/>
              </a:ext>
            </a:extLst>
          </p:cNvPr>
          <p:cNvSpPr>
            <a:spLocks noGrp="1"/>
          </p:cNvSpPr>
          <p:nvPr>
            <p:ph idx="1"/>
          </p:nvPr>
        </p:nvSpPr>
        <p:spPr>
          <a:xfrm>
            <a:off x="411479" y="2688336"/>
            <a:ext cx="4498848" cy="3584448"/>
          </a:xfrm>
        </p:spPr>
        <p:txBody>
          <a:bodyPr vert="horz" lIns="91440" tIns="45720" rIns="91440" bIns="45720" rtlCol="0" anchor="t">
            <a:normAutofit/>
          </a:bodyPr>
          <a:lstStyle/>
          <a:p>
            <a:r>
              <a:rPr lang="en-US" sz="1700"/>
              <a:t>Motto: only one Earth</a:t>
            </a:r>
          </a:p>
          <a:p>
            <a:r>
              <a:rPr lang="en-US" sz="1700"/>
              <a:t>The relationship between ecology and development are intensively discussed, which was relatively new in the international arena.</a:t>
            </a:r>
          </a:p>
          <a:p>
            <a:r>
              <a:rPr lang="en-US" sz="1700"/>
              <a:t>Beginning of environmental education.</a:t>
            </a:r>
          </a:p>
          <a:p>
            <a:endParaRPr lang="en-US" sz="1700"/>
          </a:p>
        </p:txBody>
      </p:sp>
      <p:pic>
        <p:nvPicPr>
          <p:cNvPr id="7" name="Picture 6" descr="A group of people in a large room&#10;&#10;Description automatically generated">
            <a:extLst>
              <a:ext uri="{FF2B5EF4-FFF2-40B4-BE49-F238E27FC236}">
                <a16:creationId xmlns:a16="http://schemas.microsoft.com/office/drawing/2014/main" id="{5FE253DB-30E6-F076-2C2B-002DAD0F9C69}"/>
              </a:ext>
            </a:extLst>
          </p:cNvPr>
          <p:cNvPicPr>
            <a:picLocks noChangeAspect="1"/>
          </p:cNvPicPr>
          <p:nvPr/>
        </p:nvPicPr>
        <p:blipFill rotWithShape="1">
          <a:blip r:embed="rId2"/>
          <a:srcRect l="27428" r="22132" b="-1"/>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6" name="Slide Number Placeholder 5">
            <a:extLst>
              <a:ext uri="{FF2B5EF4-FFF2-40B4-BE49-F238E27FC236}">
                <a16:creationId xmlns:a16="http://schemas.microsoft.com/office/drawing/2014/main" id="{E00FF6EF-CBEC-6626-96EA-7AD729B629A8}"/>
              </a:ext>
            </a:extLst>
          </p:cNvPr>
          <p:cNvSpPr>
            <a:spLocks noGrp="1"/>
          </p:cNvSpPr>
          <p:nvPr>
            <p:ph type="sldNum" sz="quarter" idx="12"/>
          </p:nvPr>
        </p:nvSpPr>
        <p:spPr>
          <a:xfrm>
            <a:off x="9037321" y="6356350"/>
            <a:ext cx="2743200" cy="365125"/>
          </a:xfrm>
        </p:spPr>
        <p:txBody>
          <a:bodyPr>
            <a:normAutofit/>
          </a:bodyPr>
          <a:lstStyle/>
          <a:p>
            <a:pPr>
              <a:spcAft>
                <a:spcPts val="600"/>
              </a:spcAft>
            </a:pPr>
            <a:fld id="{A65A5C87-DF58-40C8-B092-1DE63DB4547E}" type="slidenum">
              <a:rPr lang="en-US">
                <a:solidFill>
                  <a:srgbClr val="FFFFFF"/>
                </a:solidFill>
              </a:rPr>
              <a:pPr>
                <a:spcAft>
                  <a:spcPts val="600"/>
                </a:spcAft>
              </a:pPr>
              <a:t>31</a:t>
            </a:fld>
            <a:endParaRPr lang="en-US">
              <a:solidFill>
                <a:srgbClr val="FFFFFF"/>
              </a:solidFill>
            </a:endParaRPr>
          </a:p>
        </p:txBody>
      </p:sp>
    </p:spTree>
    <p:extLst>
      <p:ext uri="{BB962C8B-B14F-4D97-AF65-F5344CB8AC3E}">
        <p14:creationId xmlns:p14="http://schemas.microsoft.com/office/powerpoint/2010/main" val="1555690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BE889E9-99DF-6E57-6090-D1B618821C2B}"/>
              </a:ext>
            </a:extLst>
          </p:cNvPr>
          <p:cNvSpPr>
            <a:spLocks noGrp="1"/>
          </p:cNvSpPr>
          <p:nvPr>
            <p:ph type="title"/>
          </p:nvPr>
        </p:nvSpPr>
        <p:spPr/>
        <p:txBody>
          <a:bodyPr>
            <a:norm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defRPr/>
            </a:pPr>
            <a:r>
              <a:rPr lang="en-GB" dirty="0">
                <a:latin typeface="+mn-lt"/>
              </a:rPr>
              <a:t>1972 - The limits to growth</a:t>
            </a:r>
          </a:p>
        </p:txBody>
      </p:sp>
      <p:sp>
        <p:nvSpPr>
          <p:cNvPr id="39938" name="Text Placeholder 24">
            <a:extLst>
              <a:ext uri="{FF2B5EF4-FFF2-40B4-BE49-F238E27FC236}">
                <a16:creationId xmlns:a16="http://schemas.microsoft.com/office/drawing/2014/main" id="{07F0CD95-0362-ECF7-CF53-A836649A2B70}"/>
              </a:ext>
            </a:extLst>
          </p:cNvPr>
          <p:cNvSpPr>
            <a:spLocks noGrp="1"/>
          </p:cNvSpPr>
          <p:nvPr>
            <p:ph idx="1"/>
          </p:nvPr>
        </p:nvSpPr>
        <p:spPr bwMode="auto">
          <a:xfrm>
            <a:off x="4982632" y="2478024"/>
            <a:ext cx="6301063" cy="36941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normAutofit lnSpcReduction="10000"/>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spcBef>
                <a:spcPct val="0"/>
              </a:spcBef>
            </a:pPr>
            <a:r>
              <a:rPr lang="en-GB" altLang="en-US">
                <a:latin typeface="+mn-lt"/>
              </a:rPr>
              <a:t>The Club of Rome = group of scientists, partly based at the MIT</a:t>
            </a:r>
          </a:p>
          <a:p>
            <a:pPr marL="0" indent="0">
              <a:spcBef>
                <a:spcPct val="0"/>
              </a:spcBef>
              <a:buNone/>
            </a:pPr>
            <a:endParaRPr lang="en-GB" altLang="en-US">
              <a:latin typeface="+mn-lt"/>
            </a:endParaRPr>
          </a:p>
          <a:p>
            <a:pPr>
              <a:spcBef>
                <a:spcPct val="0"/>
              </a:spcBef>
            </a:pPr>
            <a:r>
              <a:rPr lang="en-GB" altLang="en-US">
                <a:latin typeface="+mn-lt"/>
              </a:rPr>
              <a:t>Computer models</a:t>
            </a:r>
          </a:p>
          <a:p>
            <a:pPr>
              <a:spcBef>
                <a:spcPct val="0"/>
              </a:spcBef>
            </a:pPr>
            <a:endParaRPr lang="en-GB" altLang="en-US">
              <a:latin typeface="+mn-lt"/>
            </a:endParaRPr>
          </a:p>
          <a:p>
            <a:pPr>
              <a:spcBef>
                <a:spcPct val="0"/>
              </a:spcBef>
            </a:pPr>
            <a:r>
              <a:rPr lang="en-GB" altLang="en-US">
                <a:latin typeface="+mn-lt"/>
              </a:rPr>
              <a:t>Showing potential scenarios for the world considering limited resources and different policy scenarios</a:t>
            </a:r>
          </a:p>
          <a:p>
            <a:pPr>
              <a:spcBef>
                <a:spcPct val="0"/>
              </a:spcBef>
            </a:pPr>
            <a:endParaRPr lang="en-GB" altLang="en-US"/>
          </a:p>
        </p:txBody>
      </p:sp>
      <p:pic>
        <p:nvPicPr>
          <p:cNvPr id="39941" name="Grafik 8">
            <a:extLst>
              <a:ext uri="{FF2B5EF4-FFF2-40B4-BE49-F238E27FC236}">
                <a16:creationId xmlns:a16="http://schemas.microsoft.com/office/drawing/2014/main" id="{CF9BEDC6-4DE5-98B8-E6F2-96B44337A0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418" y="1818218"/>
            <a:ext cx="4222749" cy="4294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hteck 9">
            <a:extLst>
              <a:ext uri="{FF2B5EF4-FFF2-40B4-BE49-F238E27FC236}">
                <a16:creationId xmlns:a16="http://schemas.microsoft.com/office/drawing/2014/main" id="{06F4D3AD-4228-0C7C-F68E-5F5A7AD98FD3}"/>
              </a:ext>
            </a:extLst>
          </p:cNvPr>
          <p:cNvSpPr>
            <a:spLocks noChangeArrowheads="1"/>
          </p:cNvSpPr>
          <p:nvPr/>
        </p:nvSpPr>
        <p:spPr bwMode="auto">
          <a:xfrm>
            <a:off x="5254067" y="6032361"/>
            <a:ext cx="46460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r>
              <a:rPr lang="de-CH" altLang="en-US" sz="1200" dirty="0">
                <a:latin typeface="+mn-lt"/>
                <a:ea typeface="Calibri"/>
                <a:cs typeface="Arial"/>
              </a:rPr>
              <a:t>Meadows et al. 1972, </a:t>
            </a:r>
            <a:r>
              <a:rPr lang="de-CH" altLang="en-US" sz="1200" dirty="0" err="1">
                <a:latin typeface="+mn-lt"/>
                <a:ea typeface="Calibri"/>
                <a:cs typeface="Arial"/>
              </a:rPr>
              <a:t>Caradonna</a:t>
            </a:r>
            <a:r>
              <a:rPr lang="de-CH" altLang="en-US" sz="1200" dirty="0">
                <a:latin typeface="+mn-lt"/>
                <a:ea typeface="Calibri"/>
                <a:cs typeface="Arial"/>
              </a:rPr>
              <a:t> 2014</a:t>
            </a:r>
          </a:p>
        </p:txBody>
      </p:sp>
      <p:sp>
        <p:nvSpPr>
          <p:cNvPr id="39943" name="Rechteck 10">
            <a:extLst>
              <a:ext uri="{FF2B5EF4-FFF2-40B4-BE49-F238E27FC236}">
                <a16:creationId xmlns:a16="http://schemas.microsoft.com/office/drawing/2014/main" id="{07899EA4-3BA6-4B2B-C3CF-65F21C32A7B1}"/>
              </a:ext>
            </a:extLst>
          </p:cNvPr>
          <p:cNvSpPr>
            <a:spLocks noChangeArrowheads="1"/>
          </p:cNvSpPr>
          <p:nvPr/>
        </p:nvSpPr>
        <p:spPr bwMode="auto">
          <a:xfrm>
            <a:off x="759884" y="6112934"/>
            <a:ext cx="39518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r>
              <a:rPr lang="de-CH" altLang="en-US" sz="1200">
                <a:latin typeface="+mn-lt"/>
                <a:ea typeface="Calibri" panose="020F0502020204030204" pitchFamily="34" charset="0"/>
                <a:cs typeface="Arial" panose="020B0604020202020204" pitchFamily="34" charset="0"/>
              </a:rPr>
              <a:t>Meadows et al. 1972:124</a:t>
            </a:r>
            <a:endParaRPr lang="en-GB" altLang="en-US" sz="1200">
              <a:latin typeface="+mn-lt"/>
              <a:ea typeface="Calibri" panose="020F050202020403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descr="Figure 28: Confederation's 3-dimensional concept">
            <a:extLst>
              <a:ext uri="{FF2B5EF4-FFF2-40B4-BE49-F238E27FC236}">
                <a16:creationId xmlns:a16="http://schemas.microsoft.com/office/drawing/2014/main" id="{60087F09-092B-E1AD-AD3F-AA814BEC09E8}"/>
              </a:ext>
            </a:extLst>
          </p:cNvPr>
          <p:cNvPicPr>
            <a:picLocks noChangeAspect="1"/>
          </p:cNvPicPr>
          <p:nvPr/>
        </p:nvPicPr>
        <p:blipFill>
          <a:blip r:embed="rId3"/>
          <a:stretch>
            <a:fillRect/>
          </a:stretch>
        </p:blipFill>
        <p:spPr>
          <a:xfrm>
            <a:off x="2005263" y="2150162"/>
            <a:ext cx="5754998" cy="4652481"/>
          </a:xfrm>
          <a:prstGeom prst="rect">
            <a:avLst/>
          </a:prstGeom>
        </p:spPr>
      </p:pic>
      <p:sp>
        <p:nvSpPr>
          <p:cNvPr id="7" name="TextBox 6">
            <a:extLst>
              <a:ext uri="{FF2B5EF4-FFF2-40B4-BE49-F238E27FC236}">
                <a16:creationId xmlns:a16="http://schemas.microsoft.com/office/drawing/2014/main" id="{B8BCE57F-06F8-3512-4404-EDE0A617C4F2}"/>
              </a:ext>
            </a:extLst>
          </p:cNvPr>
          <p:cNvSpPr txBox="1"/>
          <p:nvPr/>
        </p:nvSpPr>
        <p:spPr>
          <a:xfrm>
            <a:off x="566041" y="6525644"/>
            <a:ext cx="40922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Hermes 2023 based on ARE 2001</a:t>
            </a:r>
          </a:p>
        </p:txBody>
      </p:sp>
      <p:sp>
        <p:nvSpPr>
          <p:cNvPr id="2" name="Title 1">
            <a:extLst>
              <a:ext uri="{FF2B5EF4-FFF2-40B4-BE49-F238E27FC236}">
                <a16:creationId xmlns:a16="http://schemas.microsoft.com/office/drawing/2014/main" id="{0381872F-3463-08F7-96D0-747B913E006D}"/>
              </a:ext>
            </a:extLst>
          </p:cNvPr>
          <p:cNvSpPr>
            <a:spLocks noGrp="1"/>
          </p:cNvSpPr>
          <p:nvPr>
            <p:ph type="title"/>
          </p:nvPr>
        </p:nvSpPr>
        <p:spPr/>
        <p:txBody>
          <a:bodyPr>
            <a:normAutofit fontScale="90000"/>
          </a:bodyPr>
          <a:lstStyle/>
          <a:p>
            <a:r>
              <a:rPr lang="de-CH"/>
              <a:t>Emerging </a:t>
            </a:r>
            <a:r>
              <a:rPr lang="de-CH" err="1"/>
              <a:t>understanding</a:t>
            </a:r>
            <a:r>
              <a:rPr lang="de-CH"/>
              <a:t> </a:t>
            </a:r>
            <a:r>
              <a:rPr lang="de-CH" err="1"/>
              <a:t>of</a:t>
            </a:r>
            <a:r>
              <a:rPr lang="de-CH"/>
              <a:t> </a:t>
            </a:r>
            <a:r>
              <a:rPr lang="de-CH" err="1"/>
              <a:t>Sustainable</a:t>
            </a:r>
            <a:r>
              <a:rPr lang="de-CH"/>
              <a:t> Development in </a:t>
            </a:r>
            <a:r>
              <a:rPr lang="de-CH" err="1"/>
              <a:t>the</a:t>
            </a:r>
            <a:r>
              <a:rPr lang="de-CH"/>
              <a:t> 1970s</a:t>
            </a:r>
            <a:endParaRPr lang="aa-E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ECAB1E8-8195-4748-BE71-FF806D868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text rectangle">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1A3902-D0A6-7608-FD25-354F85C5E0CC}"/>
              </a:ext>
            </a:extLst>
          </p:cNvPr>
          <p:cNvSpPr>
            <a:spLocks noGrp="1"/>
          </p:cNvSpPr>
          <p:nvPr>
            <p:ph type="title"/>
          </p:nvPr>
        </p:nvSpPr>
        <p:spPr>
          <a:xfrm>
            <a:off x="841247" y="978619"/>
            <a:ext cx="3410712" cy="1106424"/>
          </a:xfrm>
        </p:spPr>
        <p:txBody>
          <a:bodyPr>
            <a:normAutofit/>
          </a:bodyPr>
          <a:lstStyle/>
          <a:p>
            <a:r>
              <a:rPr lang="en-GB" sz="2400"/>
              <a:t>Criticism on the concept of Sustainable Development</a:t>
            </a:r>
            <a:endParaRPr lang="aa-ET" sz="2400"/>
          </a:p>
        </p:txBody>
      </p:sp>
      <p:sp>
        <p:nvSpPr>
          <p:cNvPr id="16" name="!!accent">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F5E5E89-416F-3241-34DC-82686D1BA99C}"/>
              </a:ext>
            </a:extLst>
          </p:cNvPr>
          <p:cNvSpPr>
            <a:spLocks noGrp="1"/>
          </p:cNvSpPr>
          <p:nvPr>
            <p:ph idx="1"/>
          </p:nvPr>
        </p:nvSpPr>
        <p:spPr>
          <a:xfrm>
            <a:off x="841247" y="2359152"/>
            <a:ext cx="3410712" cy="3425043"/>
          </a:xfrm>
        </p:spPr>
        <p:txBody>
          <a:bodyPr>
            <a:normAutofit/>
          </a:bodyPr>
          <a:lstStyle/>
          <a:p>
            <a:r>
              <a:rPr lang="en-GB" sz="1700"/>
              <a:t>Conceptually fuzzy</a:t>
            </a:r>
          </a:p>
          <a:p>
            <a:r>
              <a:rPr lang="en-GB" sz="1700"/>
              <a:t>No priorities – all is important, economy, environment, society</a:t>
            </a:r>
          </a:p>
          <a:p>
            <a:r>
              <a:rPr lang="en-GB" sz="1700"/>
              <a:t>Mix between methods and goals</a:t>
            </a:r>
          </a:p>
          <a:p>
            <a:r>
              <a:rPr lang="en-GB" sz="1700"/>
              <a:t>A concept everyone can agree to but that lacks specificity</a:t>
            </a:r>
          </a:p>
          <a:p>
            <a:endParaRPr lang="aa-ET" sz="1700"/>
          </a:p>
        </p:txBody>
      </p:sp>
      <p:pic>
        <p:nvPicPr>
          <p:cNvPr id="7" name="Picture 6">
            <a:extLst>
              <a:ext uri="{FF2B5EF4-FFF2-40B4-BE49-F238E27FC236}">
                <a16:creationId xmlns:a16="http://schemas.microsoft.com/office/drawing/2014/main" id="{75CC1231-CF9E-EFE0-6480-FA8BC452ADBF}"/>
              </a:ext>
            </a:extLst>
          </p:cNvPr>
          <p:cNvPicPr>
            <a:picLocks noChangeAspect="1"/>
          </p:cNvPicPr>
          <p:nvPr/>
        </p:nvPicPr>
        <p:blipFill rotWithShape="1">
          <a:blip r:embed="rId2"/>
          <a:srcRect l="1871" r="-2" b="-2"/>
          <a:stretch/>
        </p:blipFill>
        <p:spPr>
          <a:xfrm>
            <a:off x="5124450" y="634382"/>
            <a:ext cx="6657213" cy="5495162"/>
          </a:xfrm>
          <a:prstGeom prst="rect">
            <a:avLst/>
          </a:prstGeom>
        </p:spPr>
      </p:pic>
      <p:sp>
        <p:nvSpPr>
          <p:cNvPr id="6" name="Slide Number Placeholder 5">
            <a:extLst>
              <a:ext uri="{FF2B5EF4-FFF2-40B4-BE49-F238E27FC236}">
                <a16:creationId xmlns:a16="http://schemas.microsoft.com/office/drawing/2014/main" id="{4127E06E-0A66-0147-E936-DE3BEE382742}"/>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smtClean="0"/>
              <a:pPr>
                <a:spcAft>
                  <a:spcPts val="600"/>
                </a:spcAft>
              </a:pPr>
              <a:t>34</a:t>
            </a:fld>
            <a:endParaRPr lang="en-US"/>
          </a:p>
        </p:txBody>
      </p:sp>
      <p:sp>
        <p:nvSpPr>
          <p:cNvPr id="8" name="TextBox 7">
            <a:extLst>
              <a:ext uri="{FF2B5EF4-FFF2-40B4-BE49-F238E27FC236}">
                <a16:creationId xmlns:a16="http://schemas.microsoft.com/office/drawing/2014/main" id="{B5790AFD-80E8-5FE5-DDAF-3009A03A0E36}"/>
              </a:ext>
            </a:extLst>
          </p:cNvPr>
          <p:cNvSpPr txBox="1"/>
          <p:nvPr/>
        </p:nvSpPr>
        <p:spPr>
          <a:xfrm>
            <a:off x="6471245" y="6261913"/>
            <a:ext cx="40922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Hermes 2023 based on ARE 2001</a:t>
            </a:r>
          </a:p>
        </p:txBody>
      </p:sp>
    </p:spTree>
    <p:extLst>
      <p:ext uri="{BB962C8B-B14F-4D97-AF65-F5344CB8AC3E}">
        <p14:creationId xmlns:p14="http://schemas.microsoft.com/office/powerpoint/2010/main" val="2355513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258" name="Rectangle 53257">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260" name="Rectangle 53259">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62" name="Rectangle 53261">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264" name="Rectangle 53263">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1">
            <a:extLst>
              <a:ext uri="{FF2B5EF4-FFF2-40B4-BE49-F238E27FC236}">
                <a16:creationId xmlns:a16="http://schemas.microsoft.com/office/drawing/2014/main" id="{A084E22D-E551-AFA2-1C69-5F721DE1A244}"/>
              </a:ext>
            </a:extLst>
          </p:cNvPr>
          <p:cNvSpPr txBox="1">
            <a:spLocks/>
          </p:cNvSpPr>
          <p:nvPr/>
        </p:nvSpPr>
        <p:spPr>
          <a:xfrm>
            <a:off x="841248" y="251312"/>
            <a:ext cx="10506456" cy="1010264"/>
          </a:xfrm>
          <a:prstGeom prst="rect">
            <a:avLst/>
          </a:prstGeom>
        </p:spPr>
        <p:txBody>
          <a:bodyPr vert="horz" lIns="91440" tIns="45720" rIns="91440" bIns="45720" rtlCol="0" anchor="ctr">
            <a:norm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eaLnBrk="1" hangingPunct="1">
              <a:lnSpc>
                <a:spcPct val="90000"/>
              </a:lnSpc>
              <a:spcAft>
                <a:spcPts val="600"/>
              </a:spcAft>
              <a:defRPr/>
            </a:pPr>
            <a:r>
              <a:rPr lang="en-US" sz="3100" dirty="0">
                <a:latin typeface="+mj-lt"/>
                <a:ea typeface="+mj-ea"/>
                <a:cs typeface="+mj-cs"/>
              </a:rPr>
              <a:t>1992 </a:t>
            </a:r>
            <a:r>
              <a:rPr lang="en-US" sz="3100" dirty="0">
                <a:latin typeface="Calibri"/>
                <a:ea typeface="Calibri"/>
                <a:cs typeface="Calibri"/>
              </a:rPr>
              <a:t>“</a:t>
            </a:r>
            <a:r>
              <a:rPr lang="en-US" sz="3100" dirty="0">
                <a:latin typeface="+mj-lt"/>
                <a:ea typeface="+mj-ea"/>
                <a:cs typeface="+mj-cs"/>
              </a:rPr>
              <a:t>Earth Summit“ - The United Nations Conference on Environment and Development (UNCED)</a:t>
            </a:r>
          </a:p>
        </p:txBody>
      </p:sp>
      <p:sp>
        <p:nvSpPr>
          <p:cNvPr id="53266" name="Rectangle 53265">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68" name="Rectangle 53267">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51" name="Inhaltsplatzhalter 2">
            <a:extLst>
              <a:ext uri="{FF2B5EF4-FFF2-40B4-BE49-F238E27FC236}">
                <a16:creationId xmlns:a16="http://schemas.microsoft.com/office/drawing/2014/main" id="{2A27DE8E-70D6-E4D6-14D3-75E052FF2090}"/>
              </a:ext>
            </a:extLst>
          </p:cNvPr>
          <p:cNvSpPr txBox="1">
            <a:spLocks/>
          </p:cNvSpPr>
          <p:nvPr/>
        </p:nvSpPr>
        <p:spPr bwMode="auto">
          <a:xfrm>
            <a:off x="838200" y="2323858"/>
            <a:ext cx="2927442" cy="3237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marL="342900" indent="-342900" defTabSz="804672">
              <a:lnSpc>
                <a:spcPct val="90000"/>
              </a:lnSpc>
              <a:spcBef>
                <a:spcPts val="1173"/>
              </a:spcBef>
              <a:buFont typeface="Arial" panose="020B0604020202020204" pitchFamily="34" charset="0"/>
              <a:buChar char="•"/>
            </a:pPr>
            <a:r>
              <a:rPr lang="en-GB" altLang="en-US" sz="2300" kern="1200" dirty="0">
                <a:latin typeface="+mn-lt"/>
                <a:ea typeface="+mn-ea"/>
                <a:cs typeface="Arial"/>
              </a:rPr>
              <a:t>20 years after Stockholm</a:t>
            </a:r>
          </a:p>
          <a:p>
            <a:pPr marL="342900" indent="-342900" defTabSz="804672">
              <a:lnSpc>
                <a:spcPct val="90000"/>
              </a:lnSpc>
              <a:spcBef>
                <a:spcPts val="1173"/>
              </a:spcBef>
              <a:buFont typeface="Arial" panose="020B0604020202020204" pitchFamily="34" charset="0"/>
              <a:buChar char="•"/>
            </a:pPr>
            <a:r>
              <a:rPr lang="en-GB" altLang="en-US" sz="2300" kern="1200" dirty="0">
                <a:latin typeface="+mn-lt"/>
                <a:ea typeface="+mn-ea"/>
                <a:cs typeface="Arial"/>
              </a:rPr>
              <a:t>179 countries represented</a:t>
            </a:r>
            <a:endParaRPr lang="en-GB" altLang="en-US" sz="2300" kern="1200" dirty="0">
              <a:latin typeface="+mn-lt"/>
              <a:cs typeface="Arial"/>
            </a:endParaRPr>
          </a:p>
          <a:p>
            <a:pPr marL="342900" indent="-342900" defTabSz="804672">
              <a:lnSpc>
                <a:spcPct val="90000"/>
              </a:lnSpc>
              <a:spcBef>
                <a:spcPts val="1173"/>
              </a:spcBef>
              <a:buFont typeface="Arial" panose="020B0604020202020204" pitchFamily="34" charset="0"/>
              <a:buChar char="•"/>
            </a:pPr>
            <a:r>
              <a:rPr lang="en-GB" altLang="en-US" sz="2300" kern="1200" dirty="0">
                <a:latin typeface="+mn-lt"/>
                <a:ea typeface="+mn-ea"/>
                <a:cs typeface="Arial"/>
              </a:rPr>
              <a:t>A </a:t>
            </a:r>
            <a:r>
              <a:rPr lang="en-GB" altLang="en-US" sz="2300" dirty="0">
                <a:latin typeface="+mn-lt"/>
                <a:cs typeface="Arial"/>
              </a:rPr>
              <a:t>North-South </a:t>
            </a:r>
            <a:r>
              <a:rPr lang="en-GB" altLang="en-US" sz="2300" kern="1200" dirty="0">
                <a:latin typeface="+mn-lt"/>
                <a:ea typeface="+mn-ea"/>
                <a:cs typeface="Arial"/>
              </a:rPr>
              <a:t>divide</a:t>
            </a:r>
            <a:r>
              <a:rPr lang="en-GB" altLang="en-US" sz="2300" dirty="0">
                <a:latin typeface="+mn-lt"/>
                <a:cs typeface="Arial"/>
              </a:rPr>
              <a:t> </a:t>
            </a:r>
            <a:endParaRPr lang="en-GB" altLang="en-US" sz="2300" kern="1200" dirty="0">
              <a:latin typeface="+mn-lt"/>
              <a:cs typeface="Arial" panose="020B0604020202020204" pitchFamily="34" charset="0"/>
            </a:endParaRPr>
          </a:p>
          <a:p>
            <a:pPr defTabSz="804672">
              <a:lnSpc>
                <a:spcPct val="90000"/>
              </a:lnSpc>
              <a:spcBef>
                <a:spcPts val="1173"/>
              </a:spcBef>
            </a:pPr>
            <a:endParaRPr lang="en-GB" altLang="en-US" sz="3285" kern="1200">
              <a:solidFill>
                <a:schemeClr val="tx1"/>
              </a:solidFill>
              <a:latin typeface="Calibri" panose="020F0502020204030204" pitchFamily="34" charset="0"/>
              <a:ea typeface="+mn-ea"/>
              <a:cs typeface="+mn-cs"/>
            </a:endParaRPr>
          </a:p>
          <a:p>
            <a:pPr>
              <a:lnSpc>
                <a:spcPct val="90000"/>
              </a:lnSpc>
              <a:spcBef>
                <a:spcPts val="1333"/>
              </a:spcBef>
              <a:buFont typeface="Arial" panose="020B0604020202020204" pitchFamily="34" charset="0"/>
              <a:buNone/>
            </a:pPr>
            <a:endParaRPr lang="en-GB" altLang="en-US" sz="3733"/>
          </a:p>
        </p:txBody>
      </p:sp>
      <p:pic>
        <p:nvPicPr>
          <p:cNvPr id="53252" name="Grafik 6">
            <a:extLst>
              <a:ext uri="{FF2B5EF4-FFF2-40B4-BE49-F238E27FC236}">
                <a16:creationId xmlns:a16="http://schemas.microsoft.com/office/drawing/2014/main" id="{81A82E30-B852-44FF-2A3D-B22BE08E2FA9}"/>
              </a:ext>
            </a:extLst>
          </p:cNvPr>
          <p:cNvPicPr>
            <a:picLocks noChangeAspect="1"/>
          </p:cNvPicPr>
          <p:nvPr/>
        </p:nvPicPr>
        <p:blipFill>
          <a:blip r:embed="rId3">
            <a:extLst>
              <a:ext uri="{28A0092B-C50C-407E-A947-70E740481C1C}">
                <a14:useLocalDpi xmlns:a14="http://schemas.microsoft.com/office/drawing/2010/main" val="0"/>
              </a:ext>
            </a:extLst>
          </a:blip>
          <a:srcRect l="4242" r="3265"/>
          <a:stretch>
            <a:fillRect/>
          </a:stretch>
        </p:blipFill>
        <p:spPr bwMode="auto">
          <a:xfrm>
            <a:off x="3726159" y="2353940"/>
            <a:ext cx="7618497" cy="30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Textfeld 4">
            <a:extLst>
              <a:ext uri="{FF2B5EF4-FFF2-40B4-BE49-F238E27FC236}">
                <a16:creationId xmlns:a16="http://schemas.microsoft.com/office/drawing/2014/main" id="{D8D65651-7ACE-EBA8-45E3-0A6C7EF4F2C4}"/>
              </a:ext>
            </a:extLst>
          </p:cNvPr>
          <p:cNvSpPr txBox="1">
            <a:spLocks noChangeArrowheads="1"/>
          </p:cNvSpPr>
          <p:nvPr/>
        </p:nvSpPr>
        <p:spPr bwMode="auto">
          <a:xfrm>
            <a:off x="3639203" y="5477136"/>
            <a:ext cx="73458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defTabSz="804672">
              <a:spcAft>
                <a:spcPts val="600"/>
              </a:spcAft>
            </a:pPr>
            <a:r>
              <a:rPr lang="de-CH" altLang="en-US" sz="1200" kern="1200">
                <a:solidFill>
                  <a:srgbClr val="555555"/>
                </a:solidFill>
                <a:latin typeface="+mn-lt"/>
                <a:ea typeface="+mn-ea"/>
                <a:cs typeface="+mn-cs"/>
              </a:rPr>
              <a:t>Group </a:t>
            </a:r>
            <a:r>
              <a:rPr lang="de-CH" altLang="en-US" sz="1200" kern="1200" err="1">
                <a:solidFill>
                  <a:srgbClr val="555555"/>
                </a:solidFill>
                <a:latin typeface="+mn-lt"/>
                <a:ea typeface="+mn-ea"/>
                <a:cs typeface="+mn-cs"/>
              </a:rPr>
              <a:t>photo</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of</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world</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leaders</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meeting</a:t>
            </a:r>
            <a:r>
              <a:rPr lang="de-CH" altLang="en-US" sz="1200" kern="1200">
                <a:solidFill>
                  <a:srgbClr val="555555"/>
                </a:solidFill>
                <a:latin typeface="+mn-lt"/>
                <a:ea typeface="+mn-ea"/>
                <a:cs typeface="+mn-cs"/>
              </a:rPr>
              <a:t> at </a:t>
            </a:r>
            <a:r>
              <a:rPr lang="de-CH" altLang="en-US" sz="1200" kern="1200" err="1">
                <a:solidFill>
                  <a:srgbClr val="555555"/>
                </a:solidFill>
                <a:latin typeface="+mn-lt"/>
                <a:ea typeface="+mn-ea"/>
                <a:cs typeface="+mn-cs"/>
              </a:rPr>
              <a:t>the</a:t>
            </a:r>
            <a:r>
              <a:rPr lang="de-CH" altLang="en-US" sz="1200" kern="1200">
                <a:solidFill>
                  <a:srgbClr val="555555"/>
                </a:solidFill>
                <a:latin typeface="+mn-lt"/>
                <a:ea typeface="+mn-ea"/>
                <a:cs typeface="+mn-cs"/>
              </a:rPr>
              <a:t> 'Earth Summit' in Rio de Janeiro, Brazil, 13 June 1992. UN </a:t>
            </a:r>
            <a:r>
              <a:rPr lang="de-CH" altLang="en-US" sz="1200" kern="1200" err="1">
                <a:solidFill>
                  <a:srgbClr val="555555"/>
                </a:solidFill>
                <a:latin typeface="+mn-lt"/>
                <a:ea typeface="+mn-ea"/>
                <a:cs typeface="+mn-cs"/>
              </a:rPr>
              <a:t>Photo</a:t>
            </a:r>
            <a:r>
              <a:rPr lang="de-CH" altLang="en-US" sz="1200" kern="1200">
                <a:solidFill>
                  <a:srgbClr val="555555"/>
                </a:solidFill>
                <a:latin typeface="+mn-lt"/>
                <a:ea typeface="+mn-ea"/>
                <a:cs typeface="+mn-cs"/>
              </a:rPr>
              <a:t>/</a:t>
            </a:r>
            <a:r>
              <a:rPr lang="de-CH" altLang="en-US" sz="1200" kern="1200" err="1">
                <a:solidFill>
                  <a:srgbClr val="555555"/>
                </a:solidFill>
                <a:latin typeface="+mn-lt"/>
                <a:ea typeface="+mn-ea"/>
                <a:cs typeface="+mn-cs"/>
              </a:rPr>
              <a:t>Michos</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Tzovaras</a:t>
            </a:r>
            <a:r>
              <a:rPr lang="de-CH" altLang="en-US" sz="1200" kern="1200">
                <a:solidFill>
                  <a:srgbClr val="555555"/>
                </a:solidFill>
                <a:latin typeface="+mn-lt"/>
                <a:ea typeface="+mn-ea"/>
                <a:cs typeface="+mn-cs"/>
              </a:rPr>
              <a:t>, https://www.un.org/en/conferences/environment/rio1992 </a:t>
            </a:r>
            <a:endParaRPr lang="en-GB" altLang="en-US" sz="1200">
              <a:solidFill>
                <a:schemeClr val="bg1"/>
              </a:solidFill>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91CB6-7C79-127B-49EF-4109270A0F46}"/>
              </a:ext>
            </a:extLst>
          </p:cNvPr>
          <p:cNvSpPr>
            <a:spLocks noGrp="1"/>
          </p:cNvSpPr>
          <p:nvPr>
            <p:ph type="title"/>
          </p:nvPr>
        </p:nvSpPr>
        <p:spPr/>
        <p:txBody>
          <a:bodyPr>
            <a:normAutofit fontScale="90000"/>
          </a:bodyPr>
          <a:lstStyle/>
          <a:p>
            <a:r>
              <a:rPr lang="en-GB"/>
              <a:t>Five important documents, opened for signature or adopted in Rio 1992</a:t>
            </a:r>
            <a:endParaRPr lang="aa-ET"/>
          </a:p>
        </p:txBody>
      </p:sp>
      <p:sp>
        <p:nvSpPr>
          <p:cNvPr id="3" name="Content Placeholder 2">
            <a:extLst>
              <a:ext uri="{FF2B5EF4-FFF2-40B4-BE49-F238E27FC236}">
                <a16:creationId xmlns:a16="http://schemas.microsoft.com/office/drawing/2014/main" id="{D30E7948-EAD2-2AEF-1C42-CD9E803D8938}"/>
              </a:ext>
            </a:extLst>
          </p:cNvPr>
          <p:cNvSpPr>
            <a:spLocks noGrp="1"/>
          </p:cNvSpPr>
          <p:nvPr>
            <p:ph idx="1"/>
          </p:nvPr>
        </p:nvSpPr>
        <p:spPr/>
        <p:txBody>
          <a:bodyPr>
            <a:normAutofit fontScale="77500" lnSpcReduction="20000"/>
          </a:bodyPr>
          <a:lstStyle/>
          <a:p>
            <a:pPr marL="514350" indent="-514350">
              <a:buFont typeface="+mj-lt"/>
              <a:buAutoNum type="arabicPeriod"/>
            </a:pPr>
            <a:r>
              <a:rPr lang="en-GB"/>
              <a:t>United Nations Framework Convention on Climate Change - UNFCCC</a:t>
            </a:r>
          </a:p>
          <a:p>
            <a:pPr marL="514350" indent="-514350">
              <a:buFont typeface="+mj-lt"/>
              <a:buAutoNum type="arabicPeriod"/>
            </a:pPr>
            <a:r>
              <a:rPr lang="en-GB"/>
              <a:t>Convention on Biological Diversity</a:t>
            </a:r>
          </a:p>
          <a:p>
            <a:pPr marL="514350" indent="-514350">
              <a:buFont typeface="+mj-lt"/>
              <a:buAutoNum type="arabicPeriod"/>
            </a:pPr>
            <a:r>
              <a:rPr lang="en-GB"/>
              <a:t>Rio Declaration on the Environment and Development</a:t>
            </a:r>
          </a:p>
          <a:p>
            <a:pPr marL="514350" indent="-514350">
              <a:buFont typeface="+mj-lt"/>
              <a:buAutoNum type="arabicPeriod"/>
            </a:pPr>
            <a:r>
              <a:rPr lang="en-GB"/>
              <a:t>Agenda 21</a:t>
            </a:r>
          </a:p>
          <a:p>
            <a:pPr marL="514350" indent="-514350">
              <a:buFont typeface="+mj-lt"/>
              <a:buAutoNum type="arabicPeriod"/>
            </a:pPr>
            <a:r>
              <a:rPr lang="en-GB"/>
              <a:t>Statement of Principles on Forests</a:t>
            </a:r>
          </a:p>
          <a:p>
            <a:pPr marL="0" indent="0">
              <a:buNone/>
            </a:pPr>
            <a:endParaRPr lang="en-GB"/>
          </a:p>
          <a:p>
            <a:pPr marL="0" indent="0">
              <a:buNone/>
            </a:pPr>
            <a:r>
              <a:rPr lang="en-GB"/>
              <a:t>+ the Preparation on the United Nation Convention to Combat Desertification (UNCCD)</a:t>
            </a:r>
          </a:p>
          <a:p>
            <a:pPr marL="514350" indent="-514350">
              <a:buFont typeface="+mj-lt"/>
              <a:buAutoNum type="arabicPeriod"/>
            </a:pPr>
            <a:endParaRPr lang="aa-ET"/>
          </a:p>
        </p:txBody>
      </p:sp>
      <p:sp>
        <p:nvSpPr>
          <p:cNvPr id="6" name="Slide Number Placeholder 5">
            <a:extLst>
              <a:ext uri="{FF2B5EF4-FFF2-40B4-BE49-F238E27FC236}">
                <a16:creationId xmlns:a16="http://schemas.microsoft.com/office/drawing/2014/main" id="{1BDA491C-ABD2-F0BE-24CB-E78C70D63F4D}"/>
              </a:ext>
            </a:extLst>
          </p:cNvPr>
          <p:cNvSpPr>
            <a:spLocks noGrp="1"/>
          </p:cNvSpPr>
          <p:nvPr>
            <p:ph type="sldNum" sz="quarter" idx="12"/>
          </p:nvPr>
        </p:nvSpPr>
        <p:spPr/>
        <p:txBody>
          <a:bodyPr/>
          <a:lstStyle/>
          <a:p>
            <a:fld id="{A65A5C87-DF58-40C8-B092-1DE63DB4547E}" type="slidenum">
              <a:rPr lang="en-US" smtClean="0"/>
              <a:t>36</a:t>
            </a:fld>
            <a:endParaRPr lang="en-US"/>
          </a:p>
        </p:txBody>
      </p:sp>
    </p:spTree>
    <p:extLst>
      <p:ext uri="{BB962C8B-B14F-4D97-AF65-F5344CB8AC3E}">
        <p14:creationId xmlns:p14="http://schemas.microsoft.com/office/powerpoint/2010/main" val="4143079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feld 20">
            <a:extLst>
              <a:ext uri="{FF2B5EF4-FFF2-40B4-BE49-F238E27FC236}">
                <a16:creationId xmlns:a16="http://schemas.microsoft.com/office/drawing/2014/main" id="{462B419C-B6EE-AB73-A8AF-2945CEDFC369}"/>
              </a:ext>
            </a:extLst>
          </p:cNvPr>
          <p:cNvSpPr txBox="1"/>
          <p:nvPr/>
        </p:nvSpPr>
        <p:spPr>
          <a:xfrm>
            <a:off x="3795364" y="2198967"/>
            <a:ext cx="7856635" cy="4185761"/>
          </a:xfrm>
          <a:prstGeom prst="rect">
            <a:avLst/>
          </a:prstGeom>
          <a:noFill/>
        </p:spPr>
        <p:txBody>
          <a:bodyPr wrap="square" lIns="91440" tIns="45720" rIns="91440" bIns="45720" anchor="t">
            <a:spAutoFit/>
          </a:bodyPr>
          <a:lstStyle/>
          <a:p>
            <a:pPr>
              <a:defRPr/>
            </a:pPr>
            <a:r>
              <a:rPr lang="en-GB" sz="2200">
                <a:cs typeface="Arial"/>
              </a:rPr>
              <a:t>The 55</a:t>
            </a:r>
            <a:r>
              <a:rPr lang="en-GB" sz="2200" baseline="30000">
                <a:cs typeface="Arial"/>
              </a:rPr>
              <a:t>th</a:t>
            </a:r>
            <a:r>
              <a:rPr lang="en-GB" sz="2200">
                <a:cs typeface="Arial"/>
              </a:rPr>
              <a:t> session of the General Assembly of the UN adopted the Millennium Declaration including for the year 2015, the</a:t>
            </a:r>
            <a:r>
              <a:rPr lang="en-GB" sz="2200" b="1">
                <a:cs typeface="Arial"/>
              </a:rPr>
              <a:t> </a:t>
            </a:r>
            <a:r>
              <a:rPr lang="en-GB" sz="2400" b="1">
                <a:cs typeface="Arial"/>
              </a:rPr>
              <a:t>8 Millennium Development Goals</a:t>
            </a:r>
            <a:r>
              <a:rPr lang="en-GB" sz="2200">
                <a:cs typeface="Arial"/>
              </a:rPr>
              <a:t>:</a:t>
            </a:r>
            <a:r>
              <a:rPr lang="en-GB" sz="2200" b="1">
                <a:cs typeface="Arial"/>
              </a:rPr>
              <a:t> </a:t>
            </a:r>
            <a:endParaRPr lang="en-GB" sz="2200">
              <a:cs typeface="Arial" panose="020B0604020202020204" pitchFamily="34" charset="0"/>
            </a:endParaRPr>
          </a:p>
          <a:p>
            <a:pPr>
              <a:defRPr/>
            </a:pPr>
            <a:endParaRPr lang="en-GB" sz="2200" b="1">
              <a:cs typeface="Arial"/>
            </a:endParaRPr>
          </a:p>
          <a:p>
            <a:pPr marL="342265" indent="-342265">
              <a:buFont typeface="+mj-lt"/>
              <a:buAutoNum type="arabicPeriod"/>
              <a:defRPr/>
            </a:pPr>
            <a:r>
              <a:rPr lang="en-GB" sz="2200">
                <a:cs typeface="Arial"/>
              </a:rPr>
              <a:t> Eradicate extreme poverty and hunger</a:t>
            </a:r>
          </a:p>
          <a:p>
            <a:pPr marL="342265" indent="-342265">
              <a:buFont typeface="+mj-lt"/>
              <a:buAutoNum type="arabicPeriod"/>
              <a:defRPr/>
            </a:pPr>
            <a:r>
              <a:rPr lang="en-GB" sz="2200">
                <a:cs typeface="Arial"/>
              </a:rPr>
              <a:t> Achieve universal primary education</a:t>
            </a:r>
          </a:p>
          <a:p>
            <a:pPr marL="342265" indent="-342265">
              <a:buFont typeface="+mj-lt"/>
              <a:buAutoNum type="arabicPeriod"/>
              <a:defRPr/>
            </a:pPr>
            <a:r>
              <a:rPr lang="en-GB" sz="2200">
                <a:cs typeface="Arial"/>
              </a:rPr>
              <a:t> Promote gender equality and empower women</a:t>
            </a:r>
          </a:p>
          <a:p>
            <a:pPr marL="342265" indent="-342265">
              <a:buFont typeface="+mj-lt"/>
              <a:buAutoNum type="arabicPeriod"/>
              <a:defRPr/>
            </a:pPr>
            <a:r>
              <a:rPr lang="en-GB" sz="2200">
                <a:cs typeface="Arial"/>
              </a:rPr>
              <a:t> Reduce child mortality</a:t>
            </a:r>
          </a:p>
          <a:p>
            <a:pPr marL="342265" indent="-342265">
              <a:buFont typeface="+mj-lt"/>
              <a:buAutoNum type="arabicPeriod"/>
              <a:defRPr/>
            </a:pPr>
            <a:r>
              <a:rPr lang="en-GB" sz="2200">
                <a:cs typeface="Arial"/>
              </a:rPr>
              <a:t> Improve maternal health</a:t>
            </a:r>
          </a:p>
          <a:p>
            <a:pPr marL="342265" indent="-342265">
              <a:buFont typeface="+mj-lt"/>
              <a:buAutoNum type="arabicPeriod"/>
              <a:defRPr/>
            </a:pPr>
            <a:r>
              <a:rPr lang="en-GB" sz="2200">
                <a:cs typeface="Arial"/>
              </a:rPr>
              <a:t> Combat HIV/AIDS, malaria, and other diseases</a:t>
            </a:r>
          </a:p>
          <a:p>
            <a:pPr marL="342265" indent="-342265">
              <a:buFont typeface="+mj-lt"/>
              <a:buAutoNum type="arabicPeriod"/>
              <a:defRPr/>
            </a:pPr>
            <a:r>
              <a:rPr lang="en-GB" sz="2200">
                <a:cs typeface="Arial"/>
              </a:rPr>
              <a:t> Ensure environmental sustainability</a:t>
            </a:r>
          </a:p>
          <a:p>
            <a:pPr marL="342265" indent="-342265">
              <a:buFont typeface="+mj-lt"/>
              <a:buAutoNum type="arabicPeriod"/>
              <a:defRPr/>
            </a:pPr>
            <a:r>
              <a:rPr lang="en-GB" sz="2200">
                <a:cs typeface="Arial"/>
              </a:rPr>
              <a:t> Develop a global partnership for development</a:t>
            </a:r>
          </a:p>
        </p:txBody>
      </p:sp>
      <p:sp>
        <p:nvSpPr>
          <p:cNvPr id="22" name="Rechteck 21">
            <a:extLst>
              <a:ext uri="{FF2B5EF4-FFF2-40B4-BE49-F238E27FC236}">
                <a16:creationId xmlns:a16="http://schemas.microsoft.com/office/drawing/2014/main" id="{FAFC0B8E-76F9-68B7-36AE-3F3192E086FE}"/>
              </a:ext>
            </a:extLst>
          </p:cNvPr>
          <p:cNvSpPr/>
          <p:nvPr/>
        </p:nvSpPr>
        <p:spPr>
          <a:xfrm>
            <a:off x="94964" y="6518301"/>
            <a:ext cx="3038332" cy="276999"/>
          </a:xfrm>
          <a:prstGeom prst="rect">
            <a:avLst/>
          </a:prstGeom>
        </p:spPr>
        <p:txBody>
          <a:bodyPr wrap="none">
            <a:spAutoFit/>
          </a:bodyPr>
          <a:lstStyle/>
          <a:p>
            <a:pPr>
              <a:defRPr/>
            </a:pPr>
            <a:r>
              <a:rPr lang="en-US" sz="1200">
                <a:ea typeface="Calibri" panose="020F0502020204030204" pitchFamily="34" charset="0"/>
                <a:cs typeface="Arial" panose="020B0604020202020204" pitchFamily="34" charset="0"/>
              </a:rPr>
              <a:t>(United Nations General Assembly 2000)</a:t>
            </a:r>
            <a:endParaRPr lang="de-CH" sz="1200">
              <a:ea typeface="Calibri" panose="020F0502020204030204" pitchFamily="34" charset="0"/>
              <a:cs typeface="Arial" panose="020B0604020202020204" pitchFamily="34" charset="0"/>
            </a:endParaRPr>
          </a:p>
        </p:txBody>
      </p:sp>
      <p:pic>
        <p:nvPicPr>
          <p:cNvPr id="16" name="Inhaltsplatzhalter 4">
            <a:extLst>
              <a:ext uri="{FF2B5EF4-FFF2-40B4-BE49-F238E27FC236}">
                <a16:creationId xmlns:a16="http://schemas.microsoft.com/office/drawing/2014/main" id="{25CF8F72-100D-5BF9-B7A4-80046DD338EC}"/>
              </a:ext>
            </a:extLst>
          </p:cNvPr>
          <p:cNvPicPr>
            <a:picLocks noChangeAspect="1"/>
          </p:cNvPicPr>
          <p:nvPr/>
        </p:nvPicPr>
        <p:blipFill>
          <a:blip r:embed="rId3"/>
          <a:stretch>
            <a:fillRect/>
          </a:stretch>
        </p:blipFill>
        <p:spPr>
          <a:xfrm>
            <a:off x="11749617" y="541867"/>
            <a:ext cx="2032000" cy="2032000"/>
          </a:xfrm>
        </p:spPr>
      </p:pic>
      <p:pic>
        <p:nvPicPr>
          <p:cNvPr id="18" name="Inhaltsplatzhalter 4">
            <a:extLst>
              <a:ext uri="{FF2B5EF4-FFF2-40B4-BE49-F238E27FC236}">
                <a16:creationId xmlns:a16="http://schemas.microsoft.com/office/drawing/2014/main" id="{B3E39407-D667-9391-ECE2-C2A774C5F374}"/>
              </a:ext>
            </a:extLst>
          </p:cNvPr>
          <p:cNvPicPr>
            <a:picLocks noChangeAspect="1"/>
          </p:cNvPicPr>
          <p:nvPr/>
        </p:nvPicPr>
        <p:blipFill>
          <a:blip r:embed="rId3"/>
          <a:stretch>
            <a:fillRect/>
          </a:stretch>
        </p:blipFill>
        <p:spPr>
          <a:xfrm>
            <a:off x="11952817" y="745067"/>
            <a:ext cx="2032000" cy="2032000"/>
          </a:xfrm>
        </p:spPr>
      </p:pic>
      <p:grpSp>
        <p:nvGrpSpPr>
          <p:cNvPr id="58377" name="Group 3">
            <a:extLst>
              <a:ext uri="{FF2B5EF4-FFF2-40B4-BE49-F238E27FC236}">
                <a16:creationId xmlns:a16="http://schemas.microsoft.com/office/drawing/2014/main" id="{DE684197-CFD7-73A1-6D02-37722425C2D9}"/>
              </a:ext>
            </a:extLst>
          </p:cNvPr>
          <p:cNvGrpSpPr>
            <a:grpSpLocks/>
          </p:cNvGrpSpPr>
          <p:nvPr/>
        </p:nvGrpSpPr>
        <p:grpSpPr bwMode="auto">
          <a:xfrm>
            <a:off x="1114372" y="2201083"/>
            <a:ext cx="2029741" cy="4092162"/>
            <a:chOff x="6608826" y="410397"/>
            <a:chExt cx="2298247" cy="4497098"/>
          </a:xfrm>
        </p:grpSpPr>
        <p:pic>
          <p:nvPicPr>
            <p:cNvPr id="58378" name="Grafik 6">
              <a:extLst>
                <a:ext uri="{FF2B5EF4-FFF2-40B4-BE49-F238E27FC236}">
                  <a16:creationId xmlns:a16="http://schemas.microsoft.com/office/drawing/2014/main" id="{12416D5C-5508-B948-EFF8-32DC69B7F2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64073" y="410397"/>
              <a:ext cx="11430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9" name="Grafik 8">
              <a:extLst>
                <a:ext uri="{FF2B5EF4-FFF2-40B4-BE49-F238E27FC236}">
                  <a16:creationId xmlns:a16="http://schemas.microsoft.com/office/drawing/2014/main" id="{6DBD51AB-FAD4-AB4E-3F1F-D1496E9E4F1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08826" y="153949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0" name="Grafik 10" descr="Ein Bild, das Text enthält.&#10;&#10;Automatisch generierte Beschreibung">
              <a:extLst>
                <a:ext uri="{FF2B5EF4-FFF2-40B4-BE49-F238E27FC236}">
                  <a16:creationId xmlns:a16="http://schemas.microsoft.com/office/drawing/2014/main" id="{BE735B3B-B32B-2B79-EDCB-A4A4C54F224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764073" y="153499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1" name="Grafik 12" descr="Ein Bild, das Text, ClipArt enthält.&#10;&#10;Automatisch generierte Beschreibung">
              <a:extLst>
                <a:ext uri="{FF2B5EF4-FFF2-40B4-BE49-F238E27FC236}">
                  <a16:creationId xmlns:a16="http://schemas.microsoft.com/office/drawing/2014/main" id="{D2282E5F-0BFA-8563-6DE7-2312C1AE3B0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08826" y="2621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2" name="Grafik 14">
              <a:extLst>
                <a:ext uri="{FF2B5EF4-FFF2-40B4-BE49-F238E27FC236}">
                  <a16:creationId xmlns:a16="http://schemas.microsoft.com/office/drawing/2014/main" id="{7660A3B5-03B2-A780-19E3-42EBF7BA7C9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751826" y="2621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3" name="Grafik 16">
              <a:extLst>
                <a:ext uri="{FF2B5EF4-FFF2-40B4-BE49-F238E27FC236}">
                  <a16:creationId xmlns:a16="http://schemas.microsoft.com/office/drawing/2014/main" id="{01E4DE35-00A4-9192-22E2-47182B3CB55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608826" y="3764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4" name="Grafik 18" descr="Ein Bild, das Text enthält.&#10;&#10;Automatisch generierte Beschreibung">
              <a:extLst>
                <a:ext uri="{FF2B5EF4-FFF2-40B4-BE49-F238E27FC236}">
                  <a16:creationId xmlns:a16="http://schemas.microsoft.com/office/drawing/2014/main" id="{A48FF3FF-1CE2-BF63-0339-02B630ED8CB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751826" y="3764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5" name="Inhaltsplatzhalter 4">
              <a:extLst>
                <a:ext uri="{FF2B5EF4-FFF2-40B4-BE49-F238E27FC236}">
                  <a16:creationId xmlns:a16="http://schemas.microsoft.com/office/drawing/2014/main" id="{CFCC133C-91AD-315A-856E-075035F155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0948" y="410397"/>
              <a:ext cx="1118754" cy="1118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Title 2">
            <a:extLst>
              <a:ext uri="{FF2B5EF4-FFF2-40B4-BE49-F238E27FC236}">
                <a16:creationId xmlns:a16="http://schemas.microsoft.com/office/drawing/2014/main" id="{C659148D-D473-50AD-20D5-CA6768CC3D39}"/>
              </a:ext>
            </a:extLst>
          </p:cNvPr>
          <p:cNvSpPr>
            <a:spLocks noGrp="1"/>
          </p:cNvSpPr>
          <p:nvPr>
            <p:ph type="title"/>
          </p:nvPr>
        </p:nvSpPr>
        <p:spPr/>
        <p:txBody>
          <a:bodyPr/>
          <a:lstStyle/>
          <a:p>
            <a:r>
              <a:rPr lang="en-GB"/>
              <a:t>2000 Millennium Development Goals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0DD6D42-E36B-8E52-9D02-180307FB3768}"/>
              </a:ext>
            </a:extLst>
          </p:cNvPr>
          <p:cNvSpPr>
            <a:spLocks noGrp="1"/>
          </p:cNvSpPr>
          <p:nvPr>
            <p:ph type="title"/>
          </p:nvPr>
        </p:nvSpPr>
        <p:spPr/>
        <p:txBody>
          <a:bodyPr/>
          <a:lstStyle/>
          <a:p>
            <a:r>
              <a:rPr lang="en-GB"/>
              <a:t>2009 Planetary Boundaries</a:t>
            </a:r>
          </a:p>
        </p:txBody>
      </p:sp>
      <p:pic>
        <p:nvPicPr>
          <p:cNvPr id="10" name="Picture 9">
            <a:extLst>
              <a:ext uri="{FF2B5EF4-FFF2-40B4-BE49-F238E27FC236}">
                <a16:creationId xmlns:a16="http://schemas.microsoft.com/office/drawing/2014/main" id="{A50AFBA5-9A37-1FA1-CBCA-6F328730FF08}"/>
              </a:ext>
            </a:extLst>
          </p:cNvPr>
          <p:cNvPicPr>
            <a:picLocks noChangeAspect="1"/>
          </p:cNvPicPr>
          <p:nvPr/>
        </p:nvPicPr>
        <p:blipFill>
          <a:blip r:embed="rId3"/>
          <a:stretch>
            <a:fillRect/>
          </a:stretch>
        </p:blipFill>
        <p:spPr>
          <a:xfrm>
            <a:off x="552126" y="2357341"/>
            <a:ext cx="8627389" cy="3764183"/>
          </a:xfrm>
          <a:prstGeom prst="rect">
            <a:avLst/>
          </a:prstGeom>
        </p:spPr>
      </p:pic>
      <p:sp>
        <p:nvSpPr>
          <p:cNvPr id="11" name="TextBox 10">
            <a:extLst>
              <a:ext uri="{FF2B5EF4-FFF2-40B4-BE49-F238E27FC236}">
                <a16:creationId xmlns:a16="http://schemas.microsoft.com/office/drawing/2014/main" id="{521B54B1-C09D-0246-BE7B-883585677D23}"/>
              </a:ext>
            </a:extLst>
          </p:cNvPr>
          <p:cNvSpPr txBox="1"/>
          <p:nvPr/>
        </p:nvSpPr>
        <p:spPr>
          <a:xfrm>
            <a:off x="9492711" y="2728347"/>
            <a:ext cx="243323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Developed in 2009,  the </a:t>
            </a:r>
            <a:r>
              <a:rPr lang="en-GB" b="1"/>
              <a:t>planetary boundaries concept</a:t>
            </a:r>
            <a:r>
              <a:rPr lang="en-GB"/>
              <a:t> presents a set of </a:t>
            </a:r>
            <a:r>
              <a:rPr lang="en-GB" b="1"/>
              <a:t>nine planetary boundaries</a:t>
            </a:r>
            <a:r>
              <a:rPr lang="en-GB"/>
              <a:t> within which humanity can continue to develop and thrive for generations to come. </a:t>
            </a:r>
            <a:endParaRPr lang="en-US"/>
          </a:p>
          <a:p>
            <a:endParaRPr lang="en-GB"/>
          </a:p>
        </p:txBody>
      </p:sp>
      <p:sp>
        <p:nvSpPr>
          <p:cNvPr id="12" name="TextBox 11">
            <a:extLst>
              <a:ext uri="{FF2B5EF4-FFF2-40B4-BE49-F238E27FC236}">
                <a16:creationId xmlns:a16="http://schemas.microsoft.com/office/drawing/2014/main" id="{68A3C2F0-758E-6031-3973-3396F7F88FD9}"/>
              </a:ext>
            </a:extLst>
          </p:cNvPr>
          <p:cNvSpPr txBox="1"/>
          <p:nvPr/>
        </p:nvSpPr>
        <p:spPr>
          <a:xfrm>
            <a:off x="755541" y="6418880"/>
            <a:ext cx="789767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Azote for Stockholm Resilience Centre, based on analysis in Richardson et al 2023</a:t>
            </a:r>
            <a:endParaRPr lang="en-US" sz="1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feld 6">
            <a:extLst>
              <a:ext uri="{FF2B5EF4-FFF2-40B4-BE49-F238E27FC236}">
                <a16:creationId xmlns:a16="http://schemas.microsoft.com/office/drawing/2014/main" id="{E67BEDD4-C329-3793-657B-5AEDB60B299C}"/>
              </a:ext>
            </a:extLst>
          </p:cNvPr>
          <p:cNvSpPr txBox="1">
            <a:spLocks noChangeArrowheads="1"/>
          </p:cNvSpPr>
          <p:nvPr/>
        </p:nvSpPr>
        <p:spPr bwMode="auto">
          <a:xfrm>
            <a:off x="719667" y="2550585"/>
            <a:ext cx="4167717" cy="249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2667"/>
              </a:lnSpc>
              <a:buFont typeface="Arial" panose="020B0604020202020204" pitchFamily="34" charset="0"/>
              <a:buChar char="•"/>
            </a:pPr>
            <a:r>
              <a:rPr lang="en-GB" altLang="en-US" sz="2100">
                <a:latin typeface="+mn-lt"/>
                <a:cs typeface="Arial"/>
              </a:rPr>
              <a:t>Political outcome document: </a:t>
            </a:r>
            <a:r>
              <a:rPr lang="en-GB" altLang="en-US" sz="2100" i="1">
                <a:latin typeface="+mn-lt"/>
                <a:cs typeface="Arial"/>
              </a:rPr>
              <a:t>The Future We Want</a:t>
            </a:r>
            <a:endParaRPr lang="en-US">
              <a:latin typeface="+mn-lt"/>
            </a:endParaRPr>
          </a:p>
          <a:p>
            <a:pPr>
              <a:lnSpc>
                <a:spcPts val="2667"/>
              </a:lnSpc>
              <a:buFont typeface="Arial" panose="020B0604020202020204" pitchFamily="34" charset="0"/>
              <a:buChar char="•"/>
            </a:pPr>
            <a:r>
              <a:rPr lang="en-GB" altLang="en-US" sz="2100">
                <a:latin typeface="+mn-lt"/>
                <a:cs typeface="Arial"/>
              </a:rPr>
              <a:t>Guidelines of green economy policies</a:t>
            </a:r>
          </a:p>
          <a:p>
            <a:pPr>
              <a:lnSpc>
                <a:spcPts val="2667"/>
              </a:lnSpc>
              <a:buFont typeface="Arial" panose="020B0604020202020204" pitchFamily="34" charset="0"/>
              <a:buChar char="•"/>
            </a:pPr>
            <a:r>
              <a:rPr lang="en-GB" altLang="en-US" sz="2100">
                <a:latin typeface="+mn-lt"/>
                <a:cs typeface="Arial"/>
              </a:rPr>
              <a:t>Starting a process to develop a set of SDGs</a:t>
            </a:r>
          </a:p>
          <a:p>
            <a:pPr>
              <a:lnSpc>
                <a:spcPts val="2667"/>
              </a:lnSpc>
              <a:buFont typeface="Arial" panose="020B0604020202020204" pitchFamily="34" charset="0"/>
              <a:buChar char="•"/>
            </a:pPr>
            <a:r>
              <a:rPr lang="en-GB" altLang="en-US" sz="2100">
                <a:latin typeface="+mn-lt"/>
                <a:cs typeface="Arial"/>
              </a:rPr>
              <a:t>...</a:t>
            </a:r>
          </a:p>
        </p:txBody>
      </p:sp>
      <p:pic>
        <p:nvPicPr>
          <p:cNvPr id="64516" name="Grafik 12" descr="Ein Bild, das Text, Person, drinnen, Decke enthält.&#10;&#10;Automatisch generierte Beschreibung">
            <a:extLst>
              <a:ext uri="{FF2B5EF4-FFF2-40B4-BE49-F238E27FC236}">
                <a16:creationId xmlns:a16="http://schemas.microsoft.com/office/drawing/2014/main" id="{4F08A9A9-7A81-95BA-7402-846D753EA6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82407" y="2228145"/>
            <a:ext cx="56642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Grafik 16" descr="Ein Bild, das Text, draußen, Gebäude enthält.&#10;&#10;Automatisch generierte Beschreibung">
            <a:extLst>
              <a:ext uri="{FF2B5EF4-FFF2-40B4-BE49-F238E27FC236}">
                <a16:creationId xmlns:a16="http://schemas.microsoft.com/office/drawing/2014/main" id="{17F41756-7666-07B1-FB6B-E2358924971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9518" y="2143478"/>
            <a:ext cx="5772149" cy="432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feld 17">
            <a:extLst>
              <a:ext uri="{FF2B5EF4-FFF2-40B4-BE49-F238E27FC236}">
                <a16:creationId xmlns:a16="http://schemas.microsoft.com/office/drawing/2014/main" id="{FE993228-A9BA-CFC0-2E6A-B351B2D99C3D}"/>
              </a:ext>
            </a:extLst>
          </p:cNvPr>
          <p:cNvSpPr txBox="1">
            <a:spLocks noChangeArrowheads="1"/>
          </p:cNvSpPr>
          <p:nvPr/>
        </p:nvSpPr>
        <p:spPr bwMode="auto">
          <a:xfrm>
            <a:off x="8995833" y="6387452"/>
            <a:ext cx="32768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GB" altLang="en-US" sz="1200">
                <a:latin typeface="+mn-lt"/>
              </a:rPr>
              <a:t>Photo by Daniel </a:t>
            </a:r>
            <a:r>
              <a:rPr lang="en-GB" altLang="en-US" sz="1200" err="1">
                <a:latin typeface="+mn-lt"/>
              </a:rPr>
              <a:t>Leite</a:t>
            </a:r>
            <a:r>
              <a:rPr lang="en-GB" altLang="en-US" sz="1200">
                <a:latin typeface="+mn-lt"/>
              </a:rPr>
              <a:t>, Rio de Janeiro </a:t>
            </a:r>
            <a:r>
              <a:rPr lang="en-GB" altLang="en-US" sz="1600">
                <a:solidFill>
                  <a:schemeClr val="bg1"/>
                </a:solidFill>
                <a:latin typeface="+mn-lt"/>
              </a:rPr>
              <a:t>2012</a:t>
            </a:r>
          </a:p>
        </p:txBody>
      </p:sp>
      <p:pic>
        <p:nvPicPr>
          <p:cNvPr id="3" name="Picture 2" descr="UIMF at the United Nations Conference on Sustainable Development, RIO+ ...">
            <a:extLst>
              <a:ext uri="{FF2B5EF4-FFF2-40B4-BE49-F238E27FC236}">
                <a16:creationId xmlns:a16="http://schemas.microsoft.com/office/drawing/2014/main" id="{DFC43F5E-DF02-A345-52CB-15DCA6FA3145}"/>
              </a:ext>
            </a:extLst>
          </p:cNvPr>
          <p:cNvPicPr>
            <a:picLocks noChangeAspect="1"/>
          </p:cNvPicPr>
          <p:nvPr/>
        </p:nvPicPr>
        <p:blipFill>
          <a:blip r:embed="rId5"/>
          <a:stretch>
            <a:fillRect/>
          </a:stretch>
        </p:blipFill>
        <p:spPr>
          <a:xfrm>
            <a:off x="856900" y="5269660"/>
            <a:ext cx="2743198" cy="1182847"/>
          </a:xfrm>
          <a:prstGeom prst="rect">
            <a:avLst/>
          </a:prstGeom>
        </p:spPr>
      </p:pic>
      <p:sp>
        <p:nvSpPr>
          <p:cNvPr id="5" name="Title 4">
            <a:extLst>
              <a:ext uri="{FF2B5EF4-FFF2-40B4-BE49-F238E27FC236}">
                <a16:creationId xmlns:a16="http://schemas.microsoft.com/office/drawing/2014/main" id="{77A18056-E07D-F8B7-FE9B-81CA5CB57CC8}"/>
              </a:ext>
            </a:extLst>
          </p:cNvPr>
          <p:cNvSpPr>
            <a:spLocks noGrp="1"/>
          </p:cNvSpPr>
          <p:nvPr>
            <p:ph type="title"/>
          </p:nvPr>
        </p:nvSpPr>
        <p:spPr/>
        <p:txBody>
          <a:bodyPr>
            <a:normAutofit fontScale="90000"/>
          </a:bodyPr>
          <a:lstStyle/>
          <a:p>
            <a:r>
              <a:rPr lang="en-GB"/>
              <a:t>2012 Rio+20 UN Conference on Sustainable Development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B58B9B-F178-D795-99E7-05AACBCC2A5A}"/>
              </a:ext>
            </a:extLst>
          </p:cNvPr>
          <p:cNvSpPr>
            <a:spLocks noGrp="1"/>
          </p:cNvSpPr>
          <p:nvPr>
            <p:ph type="title"/>
          </p:nvPr>
        </p:nvSpPr>
        <p:spPr/>
        <p:txBody>
          <a:bodyPr/>
          <a:lstStyle/>
          <a:p>
            <a:r>
              <a:rPr lang="en-GB"/>
              <a:t>2012 The Doughnut Model</a:t>
            </a:r>
          </a:p>
        </p:txBody>
      </p:sp>
      <p:pic>
        <p:nvPicPr>
          <p:cNvPr id="7" name="Content Placeholder 6" descr="A diagram of a green circle&#10;&#10;Description automatically generated">
            <a:extLst>
              <a:ext uri="{FF2B5EF4-FFF2-40B4-BE49-F238E27FC236}">
                <a16:creationId xmlns:a16="http://schemas.microsoft.com/office/drawing/2014/main" id="{910F4776-3E19-D2DF-F0C9-8B6025485A60}"/>
              </a:ext>
            </a:extLst>
          </p:cNvPr>
          <p:cNvPicPr>
            <a:picLocks noGrp="1" noChangeAspect="1"/>
          </p:cNvPicPr>
          <p:nvPr>
            <p:ph idx="1"/>
          </p:nvPr>
        </p:nvPicPr>
        <p:blipFill>
          <a:blip r:embed="rId3"/>
          <a:stretch>
            <a:fillRect/>
          </a:stretch>
        </p:blipFill>
        <p:spPr>
          <a:xfrm>
            <a:off x="733234" y="1716088"/>
            <a:ext cx="4851606" cy="4696000"/>
          </a:xfrm>
        </p:spPr>
      </p:pic>
      <p:sp>
        <p:nvSpPr>
          <p:cNvPr id="2" name="Foliennummernplatzhalter 1"/>
          <p:cNvSpPr>
            <a:spLocks noGrp="1"/>
          </p:cNvSpPr>
          <p:nvPr>
            <p:ph type="sldNum" sz="quarter" idx="12"/>
          </p:nvPr>
        </p:nvSpPr>
        <p:spPr/>
        <p:txBody>
          <a:bodyPr/>
          <a:lstStyle/>
          <a:p>
            <a:fld id="{5DCECA37-7FCC-45D4-BAD6-B8760F7664F4}" type="slidenum">
              <a:rPr lang="de-CH" smtClean="0"/>
              <a:pPr/>
              <a:t>40</a:t>
            </a:fld>
            <a:endParaRPr lang="de-CH" sz="1400"/>
          </a:p>
        </p:txBody>
      </p:sp>
      <p:sp>
        <p:nvSpPr>
          <p:cNvPr id="5" name="TextBox 13"/>
          <p:cNvSpPr txBox="1"/>
          <p:nvPr/>
        </p:nvSpPr>
        <p:spPr>
          <a:xfrm>
            <a:off x="6593208" y="3092199"/>
            <a:ext cx="4854835" cy="2677656"/>
          </a:xfrm>
          <a:prstGeom prst="rect">
            <a:avLst/>
          </a:prstGeom>
          <a:noFill/>
        </p:spPr>
        <p:txBody>
          <a:bodyPr wrap="square" lIns="91440" tIns="45720" rIns="91440" bIns="45720" rtlCol="0" anchor="t">
            <a:spAutoFit/>
          </a:bodyPr>
          <a:lstStyle/>
          <a:p>
            <a:r>
              <a:rPr lang="en-GB" sz="2400" dirty="0"/>
              <a:t>Different paths of Sustainable Development are possible, as long as they are confined between </a:t>
            </a:r>
            <a:r>
              <a:rPr lang="en-GB" sz="2400" b="1" dirty="0"/>
              <a:t>planetary boundaries </a:t>
            </a:r>
            <a:r>
              <a:rPr lang="en-GB" sz="2400" b="1" i="1" dirty="0"/>
              <a:t>and </a:t>
            </a:r>
            <a:r>
              <a:rPr lang="en-GB" sz="2400" b="1" dirty="0"/>
              <a:t>social foundations</a:t>
            </a:r>
            <a:r>
              <a:rPr lang="en-GB" sz="2400" dirty="0"/>
              <a:t> as "guard rails". These guard rails must be negotiated.</a:t>
            </a:r>
          </a:p>
        </p:txBody>
      </p:sp>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12123" t="3963" b="12884"/>
          <a:stretch/>
        </p:blipFill>
        <p:spPr>
          <a:xfrm>
            <a:off x="8029637" y="722785"/>
            <a:ext cx="3755083" cy="2232248"/>
          </a:xfrm>
          <a:prstGeom prst="rect">
            <a:avLst/>
          </a:prstGeom>
        </p:spPr>
      </p:pic>
      <p:sp>
        <p:nvSpPr>
          <p:cNvPr id="11" name="TextBox 10">
            <a:extLst>
              <a:ext uri="{FF2B5EF4-FFF2-40B4-BE49-F238E27FC236}">
                <a16:creationId xmlns:a16="http://schemas.microsoft.com/office/drawing/2014/main" id="{33575F9F-F4B9-136F-990D-F3706BFB5909}"/>
              </a:ext>
            </a:extLst>
          </p:cNvPr>
          <p:cNvSpPr txBox="1"/>
          <p:nvPr/>
        </p:nvSpPr>
        <p:spPr>
          <a:xfrm>
            <a:off x="529872" y="6444476"/>
            <a:ext cx="275872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Raworth 2012; 2017</a:t>
            </a:r>
          </a:p>
        </p:txBody>
      </p:sp>
    </p:spTree>
    <p:extLst>
      <p:ext uri="{BB962C8B-B14F-4D97-AF65-F5344CB8AC3E}">
        <p14:creationId xmlns:p14="http://schemas.microsoft.com/office/powerpoint/2010/main" val="1199220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444401-2D0B-505D-E498-14789998BA7F}"/>
              </a:ext>
            </a:extLst>
          </p:cNvPr>
          <p:cNvSpPr>
            <a:spLocks noGrp="1"/>
          </p:cNvSpPr>
          <p:nvPr>
            <p:ph type="title"/>
          </p:nvPr>
        </p:nvSpPr>
        <p:spPr/>
        <p:txBody>
          <a:bodyPr/>
          <a:lstStyle/>
          <a:p>
            <a:r>
              <a:rPr lang="en-US"/>
              <a:t>AU Agenda 2063 and UN Agenda 2030</a:t>
            </a:r>
          </a:p>
        </p:txBody>
      </p:sp>
      <p:sp>
        <p:nvSpPr>
          <p:cNvPr id="4" name="Slide Number Placeholder 3">
            <a:extLst>
              <a:ext uri="{FF2B5EF4-FFF2-40B4-BE49-F238E27FC236}">
                <a16:creationId xmlns:a16="http://schemas.microsoft.com/office/drawing/2014/main" id="{56562335-B68C-C165-7FF7-87760328AA24}"/>
              </a:ext>
            </a:extLst>
          </p:cNvPr>
          <p:cNvSpPr>
            <a:spLocks noGrp="1"/>
          </p:cNvSpPr>
          <p:nvPr>
            <p:ph type="sldNum" sz="quarter" idx="12"/>
          </p:nvPr>
        </p:nvSpPr>
        <p:spPr/>
        <p:txBody>
          <a:bodyPr/>
          <a:lstStyle/>
          <a:p>
            <a:fld id="{A65A5C87-DF58-40C8-B092-1DE63DB4547E}" type="slidenum">
              <a:rPr lang="en-US" smtClean="0"/>
              <a:t>41</a:t>
            </a:fld>
            <a:endParaRPr lang="en-US"/>
          </a:p>
        </p:txBody>
      </p:sp>
      <p:pic>
        <p:nvPicPr>
          <p:cNvPr id="8" name="Picture 7" descr="http://dochas.ie/sites/default/files/Sustainable%20Development%20Goals.png">
            <a:extLst>
              <a:ext uri="{FF2B5EF4-FFF2-40B4-BE49-F238E27FC236}">
                <a16:creationId xmlns:a16="http://schemas.microsoft.com/office/drawing/2014/main" id="{F6AB37E5-DE9F-ABA1-2D8B-EEFEC4B19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5134" y="3104119"/>
            <a:ext cx="4689800" cy="2323124"/>
          </a:xfrm>
          <a:prstGeom prst="rect">
            <a:avLst/>
          </a:prstGeom>
          <a:noFill/>
          <a:extLst>
            <a:ext uri="{909E8E84-426E-40DD-AFC4-6F175D3DCCD1}">
              <a14:hiddenFill xmlns:a14="http://schemas.microsoft.com/office/drawing/2010/main">
                <a:solidFill>
                  <a:srgbClr val="FFFFFF"/>
                </a:solidFill>
              </a14:hiddenFill>
            </a:ext>
          </a:extLst>
        </p:spPr>
      </p:pic>
      <p:pic>
        <p:nvPicPr>
          <p:cNvPr id="12" name="Content Placeholder 11" descr="No photo description available.">
            <a:extLst>
              <a:ext uri="{FF2B5EF4-FFF2-40B4-BE49-F238E27FC236}">
                <a16:creationId xmlns:a16="http://schemas.microsoft.com/office/drawing/2014/main" id="{4D1AB8D6-912A-E34D-69B8-35429102541D}"/>
              </a:ext>
            </a:extLst>
          </p:cNvPr>
          <p:cNvPicPr>
            <a:picLocks noGrp="1" noChangeAspect="1"/>
          </p:cNvPicPr>
          <p:nvPr>
            <p:ph idx="1"/>
          </p:nvPr>
        </p:nvPicPr>
        <p:blipFill rotWithShape="1">
          <a:blip r:embed="rId3"/>
          <a:srcRect l="4626" t="14322" r="3559" b="3769"/>
          <a:stretch/>
        </p:blipFill>
        <p:spPr>
          <a:xfrm>
            <a:off x="1183279" y="1838991"/>
            <a:ext cx="3506874" cy="4420230"/>
          </a:xfrm>
        </p:spPr>
      </p:pic>
      <p:grpSp>
        <p:nvGrpSpPr>
          <p:cNvPr id="2" name="Group 1">
            <a:extLst>
              <a:ext uri="{FF2B5EF4-FFF2-40B4-BE49-F238E27FC236}">
                <a16:creationId xmlns:a16="http://schemas.microsoft.com/office/drawing/2014/main" id="{089DA050-5FB9-4E47-6915-13EE4E02AFF7}"/>
              </a:ext>
            </a:extLst>
          </p:cNvPr>
          <p:cNvGrpSpPr/>
          <p:nvPr/>
        </p:nvGrpSpPr>
        <p:grpSpPr>
          <a:xfrm>
            <a:off x="11369860" y="-3696"/>
            <a:ext cx="822140" cy="847296"/>
            <a:chOff x="8600746" y="57953"/>
            <a:chExt cx="822140" cy="847296"/>
          </a:xfrm>
        </p:grpSpPr>
        <p:sp>
          <p:nvSpPr>
            <p:cNvPr id="3" name="Rectangle 2">
              <a:extLst>
                <a:ext uri="{FF2B5EF4-FFF2-40B4-BE49-F238E27FC236}">
                  <a16:creationId xmlns:a16="http://schemas.microsoft.com/office/drawing/2014/main" id="{373EAE17-1F3E-1E22-E660-3CDF947AE98D}"/>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Rectangle 5">
              <a:extLst>
                <a:ext uri="{FF2B5EF4-FFF2-40B4-BE49-F238E27FC236}">
                  <a16:creationId xmlns:a16="http://schemas.microsoft.com/office/drawing/2014/main" id="{F3904AC0-AD6E-6A8F-75A5-07832D45B8EC}"/>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Rectangle 6">
              <a:extLst>
                <a:ext uri="{FF2B5EF4-FFF2-40B4-BE49-F238E27FC236}">
                  <a16:creationId xmlns:a16="http://schemas.microsoft.com/office/drawing/2014/main" id="{701A076D-F09B-E263-0A6E-B999A339717B}"/>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9" name="Picture 8">
              <a:extLst>
                <a:ext uri="{FF2B5EF4-FFF2-40B4-BE49-F238E27FC236}">
                  <a16:creationId xmlns:a16="http://schemas.microsoft.com/office/drawing/2014/main" id="{7A756143-F041-3547-C4A2-EA41E2D80388}"/>
                </a:ext>
              </a:extLst>
            </p:cNvPr>
            <p:cNvPicPr>
              <a:picLocks noChangeAspect="1"/>
            </p:cNvPicPr>
            <p:nvPr/>
          </p:nvPicPr>
          <p:blipFill>
            <a:blip r:embed="rId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128427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1145B-4C84-B66A-13D5-7C619EF3BAD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CBD54C4-86BA-8F0B-1E4A-5884E54B5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F5F5A54-0924-18ED-7F49-5607B48D2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E0AE95D8-3D19-45E9-2193-D3F9CF316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91255B5-D9FD-4BCC-DA34-EE6A163A9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DC6E5E1-8E3C-59B7-2193-DCB52C3A9C6A}"/>
              </a:ext>
            </a:extLst>
          </p:cNvPr>
          <p:cNvSpPr>
            <a:spLocks noGrp="1"/>
          </p:cNvSpPr>
          <p:nvPr>
            <p:ph type="title"/>
          </p:nvPr>
        </p:nvSpPr>
        <p:spPr>
          <a:xfrm>
            <a:off x="901690" y="405575"/>
            <a:ext cx="10598462" cy="1371600"/>
          </a:xfrm>
        </p:spPr>
        <p:txBody>
          <a:bodyPr vert="horz" lIns="91440" tIns="45720" rIns="91440" bIns="45720" rtlCol="0" anchor="ctr">
            <a:normAutofit fontScale="90000"/>
          </a:bodyPr>
          <a:lstStyle/>
          <a:p>
            <a:r>
              <a:rPr lang="en-US"/>
              <a:t>Selected Sustainability Theories and International Milestones: A Timeline from 1970 Onwards</a:t>
            </a:r>
          </a:p>
        </p:txBody>
      </p:sp>
      <p:sp>
        <p:nvSpPr>
          <p:cNvPr id="21" name="Rectangle 20">
            <a:extLst>
              <a:ext uri="{FF2B5EF4-FFF2-40B4-BE49-F238E27FC236}">
                <a16:creationId xmlns:a16="http://schemas.microsoft.com/office/drawing/2014/main" id="{E8C4C7E6-B0B9-6248-A314-51F0963B1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C3DC5D4-763D-5B9F-72A8-2E29865D1918}"/>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42</a:t>
            </a:fld>
            <a:endParaRPr lang="en-US">
              <a:solidFill>
                <a:schemeClr val="tx2">
                  <a:lumMod val="50000"/>
                  <a:lumOff val="50000"/>
                </a:schemeClr>
              </a:solidFill>
            </a:endParaRPr>
          </a:p>
        </p:txBody>
      </p:sp>
      <p:graphicFrame>
        <p:nvGraphicFramePr>
          <p:cNvPr id="8" name="Table 7">
            <a:extLst>
              <a:ext uri="{FF2B5EF4-FFF2-40B4-BE49-F238E27FC236}">
                <a16:creationId xmlns:a16="http://schemas.microsoft.com/office/drawing/2014/main" id="{952FFAB0-CA43-2EED-9D97-904725E010FC}"/>
              </a:ext>
            </a:extLst>
          </p:cNvPr>
          <p:cNvGraphicFramePr>
            <a:graphicFrameLocks noGrp="1"/>
          </p:cNvGraphicFramePr>
          <p:nvPr>
            <p:extLst>
              <p:ext uri="{D42A27DB-BD31-4B8C-83A1-F6EECF244321}">
                <p14:modId xmlns:p14="http://schemas.microsoft.com/office/powerpoint/2010/main" val="2754477577"/>
              </p:ext>
            </p:extLst>
          </p:nvPr>
        </p:nvGraphicFramePr>
        <p:xfrm>
          <a:off x="579137" y="3316956"/>
          <a:ext cx="11517129" cy="1579178"/>
        </p:xfrm>
        <a:graphic>
          <a:graphicData uri="http://schemas.openxmlformats.org/drawingml/2006/table">
            <a:tbl>
              <a:tblPr firstRow="1" bandRow="1">
                <a:tableStyleId>{5C22544A-7EE6-4342-B048-85BDC9FD1C3A}</a:tableStyleId>
              </a:tblPr>
              <a:tblGrid>
                <a:gridCol w="956517">
                  <a:extLst>
                    <a:ext uri="{9D8B030D-6E8A-4147-A177-3AD203B41FA5}">
                      <a16:colId xmlns:a16="http://schemas.microsoft.com/office/drawing/2014/main" val="850591420"/>
                    </a:ext>
                  </a:extLst>
                </a:gridCol>
                <a:gridCol w="612743">
                  <a:extLst>
                    <a:ext uri="{9D8B030D-6E8A-4147-A177-3AD203B41FA5}">
                      <a16:colId xmlns:a16="http://schemas.microsoft.com/office/drawing/2014/main" val="3018115885"/>
                    </a:ext>
                  </a:extLst>
                </a:gridCol>
                <a:gridCol w="612743">
                  <a:extLst>
                    <a:ext uri="{9D8B030D-6E8A-4147-A177-3AD203B41FA5}">
                      <a16:colId xmlns:a16="http://schemas.microsoft.com/office/drawing/2014/main" val="3923400446"/>
                    </a:ext>
                  </a:extLst>
                </a:gridCol>
                <a:gridCol w="932957">
                  <a:extLst>
                    <a:ext uri="{9D8B030D-6E8A-4147-A177-3AD203B41FA5}">
                      <a16:colId xmlns:a16="http://schemas.microsoft.com/office/drawing/2014/main" val="2614994202"/>
                    </a:ext>
                  </a:extLst>
                </a:gridCol>
                <a:gridCol w="484909">
                  <a:extLst>
                    <a:ext uri="{9D8B030D-6E8A-4147-A177-3AD203B41FA5}">
                      <a16:colId xmlns:a16="http://schemas.microsoft.com/office/drawing/2014/main" val="2598533359"/>
                    </a:ext>
                  </a:extLst>
                </a:gridCol>
                <a:gridCol w="1048217">
                  <a:extLst>
                    <a:ext uri="{9D8B030D-6E8A-4147-A177-3AD203B41FA5}">
                      <a16:colId xmlns:a16="http://schemas.microsoft.com/office/drawing/2014/main" val="3889631199"/>
                    </a:ext>
                  </a:extLst>
                </a:gridCol>
                <a:gridCol w="415636">
                  <a:extLst>
                    <a:ext uri="{9D8B030D-6E8A-4147-A177-3AD203B41FA5}">
                      <a16:colId xmlns:a16="http://schemas.microsoft.com/office/drawing/2014/main" val="2899899315"/>
                    </a:ext>
                  </a:extLst>
                </a:gridCol>
                <a:gridCol w="1117491">
                  <a:extLst>
                    <a:ext uri="{9D8B030D-6E8A-4147-A177-3AD203B41FA5}">
                      <a16:colId xmlns:a16="http://schemas.microsoft.com/office/drawing/2014/main" val="2459959844"/>
                    </a:ext>
                  </a:extLst>
                </a:gridCol>
                <a:gridCol w="186904">
                  <a:extLst>
                    <a:ext uri="{9D8B030D-6E8A-4147-A177-3AD203B41FA5}">
                      <a16:colId xmlns:a16="http://schemas.microsoft.com/office/drawing/2014/main" val="378541868"/>
                    </a:ext>
                  </a:extLst>
                </a:gridCol>
                <a:gridCol w="938846">
                  <a:extLst>
                    <a:ext uri="{9D8B030D-6E8A-4147-A177-3AD203B41FA5}">
                      <a16:colId xmlns:a16="http://schemas.microsoft.com/office/drawing/2014/main" val="2512061536"/>
                    </a:ext>
                  </a:extLst>
                </a:gridCol>
                <a:gridCol w="842646">
                  <a:extLst>
                    <a:ext uri="{9D8B030D-6E8A-4147-A177-3AD203B41FA5}">
                      <a16:colId xmlns:a16="http://schemas.microsoft.com/office/drawing/2014/main" val="2225544826"/>
                    </a:ext>
                  </a:extLst>
                </a:gridCol>
                <a:gridCol w="677728">
                  <a:extLst>
                    <a:ext uri="{9D8B030D-6E8A-4147-A177-3AD203B41FA5}">
                      <a16:colId xmlns:a16="http://schemas.microsoft.com/office/drawing/2014/main" val="3800597913"/>
                    </a:ext>
                  </a:extLst>
                </a:gridCol>
                <a:gridCol w="677728">
                  <a:extLst>
                    <a:ext uri="{9D8B030D-6E8A-4147-A177-3AD203B41FA5}">
                      <a16:colId xmlns:a16="http://schemas.microsoft.com/office/drawing/2014/main" val="934631439"/>
                    </a:ext>
                  </a:extLst>
                </a:gridCol>
                <a:gridCol w="186904">
                  <a:extLst>
                    <a:ext uri="{9D8B030D-6E8A-4147-A177-3AD203B41FA5}">
                      <a16:colId xmlns:a16="http://schemas.microsoft.com/office/drawing/2014/main" val="718195819"/>
                    </a:ext>
                  </a:extLst>
                </a:gridCol>
                <a:gridCol w="186904">
                  <a:extLst>
                    <a:ext uri="{9D8B030D-6E8A-4147-A177-3AD203B41FA5}">
                      <a16:colId xmlns:a16="http://schemas.microsoft.com/office/drawing/2014/main" val="3949453000"/>
                    </a:ext>
                  </a:extLst>
                </a:gridCol>
                <a:gridCol w="501033">
                  <a:extLst>
                    <a:ext uri="{9D8B030D-6E8A-4147-A177-3AD203B41FA5}">
                      <a16:colId xmlns:a16="http://schemas.microsoft.com/office/drawing/2014/main" val="3692356135"/>
                    </a:ext>
                  </a:extLst>
                </a:gridCol>
                <a:gridCol w="186904">
                  <a:extLst>
                    <a:ext uri="{9D8B030D-6E8A-4147-A177-3AD203B41FA5}">
                      <a16:colId xmlns:a16="http://schemas.microsoft.com/office/drawing/2014/main" val="2165453425"/>
                    </a:ext>
                  </a:extLst>
                </a:gridCol>
                <a:gridCol w="186904">
                  <a:extLst>
                    <a:ext uri="{9D8B030D-6E8A-4147-A177-3AD203B41FA5}">
                      <a16:colId xmlns:a16="http://schemas.microsoft.com/office/drawing/2014/main" val="3106271227"/>
                    </a:ext>
                  </a:extLst>
                </a:gridCol>
                <a:gridCol w="186904">
                  <a:extLst>
                    <a:ext uri="{9D8B030D-6E8A-4147-A177-3AD203B41FA5}">
                      <a16:colId xmlns:a16="http://schemas.microsoft.com/office/drawing/2014/main" val="1385892832"/>
                    </a:ext>
                  </a:extLst>
                </a:gridCol>
                <a:gridCol w="576511">
                  <a:extLst>
                    <a:ext uri="{9D8B030D-6E8A-4147-A177-3AD203B41FA5}">
                      <a16:colId xmlns:a16="http://schemas.microsoft.com/office/drawing/2014/main" val="260615804"/>
                    </a:ext>
                  </a:extLst>
                </a:gridCol>
              </a:tblGrid>
              <a:tr h="658552">
                <a:tc>
                  <a:txBody>
                    <a:bodyPr/>
                    <a:lstStyle/>
                    <a:p>
                      <a:pPr algn="ctr" fontAlgn="ctr"/>
                      <a:r>
                        <a:rPr lang="en-GB" sz="1300" b="0" i="0" u="none" strike="noStrike">
                          <a:solidFill>
                            <a:srgbClr val="000000"/>
                          </a:solidFill>
                          <a:effectLst/>
                          <a:latin typeface="+mn-lt"/>
                        </a:rPr>
                        <a:t>Limits to Growth</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gridSpan="2">
                  <a:txBody>
                    <a:bodyPr/>
                    <a:lstStyle/>
                    <a:p>
                      <a:pPr algn="ctr" fontAlgn="ctr"/>
                      <a:r>
                        <a:rPr lang="en-GB" sz="1300" b="0" i="0" u="none" strike="noStrike">
                          <a:solidFill>
                            <a:srgbClr val="000000"/>
                          </a:solidFill>
                          <a:effectLst/>
                          <a:latin typeface="+mn-lt"/>
                        </a:rPr>
                        <a:t>Emergence of 3 Circles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hMerge="1">
                  <a:txBody>
                    <a:bodyPr/>
                    <a:lstStyle/>
                    <a:p>
                      <a:endParaRPr lang="en-GB"/>
                    </a:p>
                  </a:txBody>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FF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Planetary Boundaries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Doughnut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extLst>
                  <a:ext uri="{0D108BD9-81ED-4DB2-BD59-A6C34878D82A}">
                    <a16:rowId xmlns:a16="http://schemas.microsoft.com/office/drawing/2014/main" val="3162891506"/>
                  </a:ext>
                </a:extLst>
              </a:tr>
              <a:tr h="256383">
                <a:tc>
                  <a:txBody>
                    <a:bodyPr/>
                    <a:lstStyle/>
                    <a:p>
                      <a:pPr algn="ctr" fontAlgn="ctr"/>
                      <a:r>
                        <a:rPr lang="en-GB" sz="1300" b="1" i="0" u="none" strike="noStrike">
                          <a:solidFill>
                            <a:srgbClr val="000000"/>
                          </a:solidFill>
                          <a:effectLst/>
                          <a:latin typeface="+mn-lt"/>
                        </a:rPr>
                        <a:t>1972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1987</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1992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2009</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2015</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extLst>
                  <a:ext uri="{0D108BD9-81ED-4DB2-BD59-A6C34878D82A}">
                    <a16:rowId xmlns:a16="http://schemas.microsoft.com/office/drawing/2014/main" val="1267257915"/>
                  </a:ext>
                </a:extLst>
              </a:tr>
              <a:tr h="664243">
                <a:tc>
                  <a:txBody>
                    <a:bodyPr/>
                    <a:lstStyle/>
                    <a:p>
                      <a:pPr algn="ctr" fontAlgn="ctr"/>
                      <a:r>
                        <a:rPr lang="en-GB" sz="1300" b="0" i="0" u="none" strike="noStrike">
                          <a:solidFill>
                            <a:srgbClr val="000000"/>
                          </a:solidFill>
                          <a:effectLst/>
                          <a:latin typeface="+mn-lt"/>
                        </a:rPr>
                        <a:t>UN Conference Stockholm</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Brundtland Report</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Earth Summit Rio de Janeiro</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Millennium Development Goals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Rio +20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  </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extLst>
                  <a:ext uri="{0D108BD9-81ED-4DB2-BD59-A6C34878D82A}">
                    <a16:rowId xmlns:a16="http://schemas.microsoft.com/office/drawing/2014/main" val="2207046841"/>
                  </a:ext>
                </a:extLst>
              </a:tr>
            </a:tbl>
          </a:graphicData>
        </a:graphic>
      </p:graphicFrame>
      <p:pic>
        <p:nvPicPr>
          <p:cNvPr id="10" name="Grafik 101" descr="A diagram of a circle&#10;&#10;Description automatically generated">
            <a:extLst>
              <a:ext uri="{FF2B5EF4-FFF2-40B4-BE49-F238E27FC236}">
                <a16:creationId xmlns:a16="http://schemas.microsoft.com/office/drawing/2014/main" id="{E04D8D91-8FC4-8288-4E3F-541B815E1DDE}"/>
              </a:ext>
            </a:extLst>
          </p:cNvPr>
          <p:cNvPicPr>
            <a:picLocks noChangeAspect="1"/>
          </p:cNvPicPr>
          <p:nvPr/>
        </p:nvPicPr>
        <p:blipFill>
          <a:blip r:embed="rId3">
            <a:extLst>
              <a:ext uri="{28A0092B-C50C-407E-A947-70E740481C1C}">
                <a14:useLocalDpi xmlns:a14="http://schemas.microsoft.com/office/drawing/2010/main" val="0"/>
              </a:ext>
            </a:extLst>
          </a:blip>
          <a:srcRect l="10886" r="11111"/>
          <a:stretch>
            <a:fillRect/>
          </a:stretch>
        </p:blipFill>
        <p:spPr bwMode="auto">
          <a:xfrm>
            <a:off x="1930140" y="2155877"/>
            <a:ext cx="1117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Grafik 90" descr="A circular chart with different colored shapes&#10;&#10;Description automatically generated">
            <a:extLst>
              <a:ext uri="{FF2B5EF4-FFF2-40B4-BE49-F238E27FC236}">
                <a16:creationId xmlns:a16="http://schemas.microsoft.com/office/drawing/2014/main" id="{70E90821-3C90-1E2D-7778-61BE4050958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58845" y="2207559"/>
            <a:ext cx="977900" cy="99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Inhaltsplatzhalter 4" descr="A circular chart with text&#10;&#10;Description automatically generated">
            <a:extLst>
              <a:ext uri="{FF2B5EF4-FFF2-40B4-BE49-F238E27FC236}">
                <a16:creationId xmlns:a16="http://schemas.microsoft.com/office/drawing/2014/main" id="{ED1CC6D4-0600-D3DB-356A-ECD00C73EF6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39982" y="2149164"/>
            <a:ext cx="1126067"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Grafik 100">
            <a:extLst>
              <a:ext uri="{FF2B5EF4-FFF2-40B4-BE49-F238E27FC236}">
                <a16:creationId xmlns:a16="http://schemas.microsoft.com/office/drawing/2014/main" id="{FA7D6D71-851C-5133-8939-FF862777ED3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629" y="2203960"/>
            <a:ext cx="937684" cy="95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fik 67" descr="Ein Bild, das Text, Person, drinnen enthält.&#10;&#10;Automatisch generierte Beschreibung">
            <a:extLst>
              <a:ext uri="{FF2B5EF4-FFF2-40B4-BE49-F238E27FC236}">
                <a16:creationId xmlns:a16="http://schemas.microsoft.com/office/drawing/2014/main" id="{F305B5EE-59E3-BF4E-1509-AC65A0809C95}"/>
              </a:ext>
            </a:extLst>
          </p:cNvPr>
          <p:cNvPicPr>
            <a:picLocks noChangeAspect="1"/>
          </p:cNvPicPr>
          <p:nvPr/>
        </p:nvPicPr>
        <p:blipFill>
          <a:blip r:embed="rId7">
            <a:extLst>
              <a:ext uri="{28A0092B-C50C-407E-A947-70E740481C1C}">
                <a14:useLocalDpi xmlns:a14="http://schemas.microsoft.com/office/drawing/2010/main" val="0"/>
              </a:ext>
            </a:extLst>
          </a:blip>
          <a:srcRect b="19827"/>
          <a:stretch>
            <a:fillRect/>
          </a:stretch>
        </p:blipFill>
        <p:spPr bwMode="auto">
          <a:xfrm>
            <a:off x="548341" y="5140874"/>
            <a:ext cx="1051984"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Grafik 75" descr="Ein Bild, das Person, drinnen, Musik, Mann enthält.&#10;&#10;Automatisch generierte Beschreibung">
            <a:extLst>
              <a:ext uri="{FF2B5EF4-FFF2-40B4-BE49-F238E27FC236}">
                <a16:creationId xmlns:a16="http://schemas.microsoft.com/office/drawing/2014/main" id="{F16B9D44-2801-7C38-9691-69A3521D6F17}"/>
              </a:ext>
            </a:extLst>
          </p:cNvPr>
          <p:cNvPicPr>
            <a:picLocks noChangeAspect="1"/>
          </p:cNvPicPr>
          <p:nvPr/>
        </p:nvPicPr>
        <p:blipFill>
          <a:blip r:embed="rId8">
            <a:extLst>
              <a:ext uri="{28A0092B-C50C-407E-A947-70E740481C1C}">
                <a14:useLocalDpi xmlns:a14="http://schemas.microsoft.com/office/drawing/2010/main" val="0"/>
              </a:ext>
            </a:extLst>
          </a:blip>
          <a:srcRect l="23550" t="4552" r="34715" b="25360"/>
          <a:stretch>
            <a:fillRect/>
          </a:stretch>
        </p:blipFill>
        <p:spPr bwMode="auto">
          <a:xfrm>
            <a:off x="2645462" y="5144235"/>
            <a:ext cx="1003300"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Grafik 80" descr="A colorful circle with many squares&#10;&#10;Description automatically generated">
            <a:extLst>
              <a:ext uri="{FF2B5EF4-FFF2-40B4-BE49-F238E27FC236}">
                <a16:creationId xmlns:a16="http://schemas.microsoft.com/office/drawing/2014/main" id="{BD16E3C6-0FE6-BA71-8A8F-326AA2DFEF4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419719" y="5082774"/>
            <a:ext cx="735821" cy="745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descr="A purple square with white text&#10;&#10;Description automatically generated">
            <a:extLst>
              <a:ext uri="{FF2B5EF4-FFF2-40B4-BE49-F238E27FC236}">
                <a16:creationId xmlns:a16="http://schemas.microsoft.com/office/drawing/2014/main" id="{A4E1B575-A334-E3CB-D3CC-565C4595B6DC}"/>
              </a:ext>
            </a:extLst>
          </p:cNvPr>
          <p:cNvPicPr>
            <a:picLocks noChangeAspect="1"/>
          </p:cNvPicPr>
          <p:nvPr/>
        </p:nvPicPr>
        <p:blipFill>
          <a:blip r:embed="rId10"/>
          <a:stretch>
            <a:fillRect/>
          </a:stretch>
        </p:blipFill>
        <p:spPr>
          <a:xfrm>
            <a:off x="8643433" y="5140759"/>
            <a:ext cx="770524" cy="634164"/>
          </a:xfrm>
          <a:prstGeom prst="rect">
            <a:avLst/>
          </a:prstGeom>
        </p:spPr>
      </p:pic>
      <p:pic>
        <p:nvPicPr>
          <p:cNvPr id="38" name="Picture 37" descr="Civil society groups gear up for MDG closing, push for inclusive growth">
            <a:extLst>
              <a:ext uri="{FF2B5EF4-FFF2-40B4-BE49-F238E27FC236}">
                <a16:creationId xmlns:a16="http://schemas.microsoft.com/office/drawing/2014/main" id="{771320FA-4770-F8CD-E8F3-CB2E391EA7C4}"/>
              </a:ext>
            </a:extLst>
          </p:cNvPr>
          <p:cNvPicPr>
            <a:picLocks noChangeAspect="1"/>
          </p:cNvPicPr>
          <p:nvPr/>
        </p:nvPicPr>
        <p:blipFill rotWithShape="1">
          <a:blip r:embed="rId11"/>
          <a:srcRect l="22041" t="4530" r="23265" b="5575"/>
          <a:stretch/>
        </p:blipFill>
        <p:spPr>
          <a:xfrm>
            <a:off x="5845124" y="5082567"/>
            <a:ext cx="715953" cy="1377066"/>
          </a:xfrm>
          <a:prstGeom prst="rect">
            <a:avLst/>
          </a:prstGeom>
        </p:spPr>
      </p:pic>
      <p:graphicFrame>
        <p:nvGraphicFramePr>
          <p:cNvPr id="42" name="Table 41">
            <a:extLst>
              <a:ext uri="{FF2B5EF4-FFF2-40B4-BE49-F238E27FC236}">
                <a16:creationId xmlns:a16="http://schemas.microsoft.com/office/drawing/2014/main" id="{47B8DB4E-673D-0D3F-5C60-5470CA3DDCE3}"/>
              </a:ext>
            </a:extLst>
          </p:cNvPr>
          <p:cNvGraphicFramePr>
            <a:graphicFrameLocks noGrp="1"/>
          </p:cNvGraphicFramePr>
          <p:nvPr/>
        </p:nvGraphicFramePr>
        <p:xfrm>
          <a:off x="87229" y="2047640"/>
          <a:ext cx="430184" cy="4376970"/>
        </p:xfrm>
        <a:graphic>
          <a:graphicData uri="http://schemas.openxmlformats.org/drawingml/2006/table">
            <a:tbl>
              <a:tblPr firstRow="1" bandRow="1">
                <a:tableStyleId>{5C22544A-7EE6-4342-B048-85BDC9FD1C3A}</a:tableStyleId>
              </a:tblPr>
              <a:tblGrid>
                <a:gridCol w="430184">
                  <a:extLst>
                    <a:ext uri="{9D8B030D-6E8A-4147-A177-3AD203B41FA5}">
                      <a16:colId xmlns:a16="http://schemas.microsoft.com/office/drawing/2014/main" val="901676741"/>
                    </a:ext>
                  </a:extLst>
                </a:gridCol>
              </a:tblGrid>
              <a:tr h="1928812">
                <a:tc>
                  <a:txBody>
                    <a:bodyPr/>
                    <a:lstStyle/>
                    <a:p>
                      <a:pPr algn="ctr" fontAlgn="ctr"/>
                      <a:r>
                        <a:rPr lang="en-GB" sz="1400" b="1" i="0" u="none" strike="noStrike">
                          <a:solidFill>
                            <a:srgbClr val="000000"/>
                          </a:solidFill>
                          <a:effectLst/>
                          <a:latin typeface="Calibri"/>
                        </a:rPr>
                        <a:t>Theory</a:t>
                      </a:r>
                    </a:p>
                  </a:txBody>
                  <a:tcPr marL="9525" marR="9525" marT="9525" marB="0" vert="vert270" anchor="ctr">
                    <a:lnL>
                      <a:noFill/>
                    </a:lnL>
                    <a:lnR>
                      <a:noFill/>
                    </a:lnR>
                    <a:lnT>
                      <a:noFill/>
                    </a:lnT>
                    <a:lnB>
                      <a:noFill/>
                    </a:lnB>
                    <a:solidFill>
                      <a:srgbClr val="BEEBFA"/>
                    </a:solidFill>
                  </a:tcPr>
                </a:tc>
                <a:extLst>
                  <a:ext uri="{0D108BD9-81ED-4DB2-BD59-A6C34878D82A}">
                    <a16:rowId xmlns:a16="http://schemas.microsoft.com/office/drawing/2014/main" val="2750132008"/>
                  </a:ext>
                </a:extLst>
              </a:tr>
              <a:tr h="263945">
                <a:tc>
                  <a:txBody>
                    <a:bodyPr/>
                    <a:lstStyle/>
                    <a:p>
                      <a:pPr algn="ctr" fontAlgn="ctr"/>
                      <a:r>
                        <a:rPr lang="en-GB" sz="1300" b="1" i="0" u="none" strike="noStrike">
                          <a:solidFill>
                            <a:srgbClr val="000000"/>
                          </a:solidFill>
                          <a:effectLst/>
                          <a:latin typeface="Calibri"/>
                        </a:rPr>
                        <a:t>Year</a:t>
                      </a:r>
                    </a:p>
                  </a:txBody>
                  <a:tcPr marL="9525" marR="9525" marT="9525" marB="0" anchor="ctr">
                    <a:lnL>
                      <a:noFill/>
                    </a:lnL>
                    <a:lnR>
                      <a:noFill/>
                    </a:lnR>
                    <a:lnT>
                      <a:noFill/>
                    </a:lnT>
                    <a:lnB>
                      <a:noFill/>
                    </a:lnB>
                    <a:solidFill>
                      <a:srgbClr val="FFCCA6"/>
                    </a:solidFill>
                  </a:tcPr>
                </a:tc>
                <a:extLst>
                  <a:ext uri="{0D108BD9-81ED-4DB2-BD59-A6C34878D82A}">
                    <a16:rowId xmlns:a16="http://schemas.microsoft.com/office/drawing/2014/main" val="3946218633"/>
                  </a:ext>
                </a:extLst>
              </a:tr>
              <a:tr h="2184213">
                <a:tc>
                  <a:txBody>
                    <a:bodyPr/>
                    <a:lstStyle/>
                    <a:p>
                      <a:pPr algn="ctr" fontAlgn="ctr"/>
                      <a:r>
                        <a:rPr lang="en-GB" sz="1400" b="1" i="0" u="none" strike="noStrike">
                          <a:solidFill>
                            <a:srgbClr val="000000"/>
                          </a:solidFill>
                          <a:effectLst/>
                          <a:latin typeface="Calibri"/>
                        </a:rPr>
                        <a:t>International Milestones</a:t>
                      </a:r>
                    </a:p>
                  </a:txBody>
                  <a:tcPr marL="9525" marR="9525" marT="9525" marB="0" vert="vert270" anchor="ctr">
                    <a:lnL>
                      <a:noFill/>
                    </a:lnL>
                    <a:lnR>
                      <a:noFill/>
                    </a:lnR>
                    <a:lnT>
                      <a:noFill/>
                    </a:lnT>
                    <a:lnB>
                      <a:noFill/>
                    </a:lnB>
                    <a:solidFill>
                      <a:srgbClr val="4EADF3"/>
                    </a:solidFill>
                  </a:tcPr>
                </a:tc>
                <a:extLst>
                  <a:ext uri="{0D108BD9-81ED-4DB2-BD59-A6C34878D82A}">
                    <a16:rowId xmlns:a16="http://schemas.microsoft.com/office/drawing/2014/main" val="123929707"/>
                  </a:ext>
                </a:extLst>
              </a:tr>
            </a:tbl>
          </a:graphicData>
        </a:graphic>
      </p:graphicFrame>
      <p:pic>
        <p:nvPicPr>
          <p:cNvPr id="3" name="Picture 2" descr="UIMF at the United Nations Conference on Sustainable Development, RIO+ ...">
            <a:extLst>
              <a:ext uri="{FF2B5EF4-FFF2-40B4-BE49-F238E27FC236}">
                <a16:creationId xmlns:a16="http://schemas.microsoft.com/office/drawing/2014/main" id="{5B99EAEA-9F6A-1796-EB7B-273A92514AD1}"/>
              </a:ext>
            </a:extLst>
          </p:cNvPr>
          <p:cNvPicPr>
            <a:picLocks noChangeAspect="1"/>
          </p:cNvPicPr>
          <p:nvPr/>
        </p:nvPicPr>
        <p:blipFill>
          <a:blip r:embed="rId12"/>
          <a:stretch>
            <a:fillRect/>
          </a:stretch>
        </p:blipFill>
        <p:spPr>
          <a:xfrm>
            <a:off x="7317257" y="5177629"/>
            <a:ext cx="1212981" cy="566264"/>
          </a:xfrm>
          <a:prstGeom prst="rect">
            <a:avLst/>
          </a:prstGeom>
        </p:spPr>
      </p:pic>
      <p:pic>
        <p:nvPicPr>
          <p:cNvPr id="14" name="Grafik 138">
            <a:extLst>
              <a:ext uri="{FF2B5EF4-FFF2-40B4-BE49-F238E27FC236}">
                <a16:creationId xmlns:a16="http://schemas.microsoft.com/office/drawing/2014/main" id="{1F69F09D-6E1C-47E5-48E2-33D343F12E3B}"/>
              </a:ext>
            </a:extLst>
          </p:cNvPr>
          <p:cNvPicPr>
            <a:picLocks noChangeAspect="1"/>
          </p:cNvPicPr>
          <p:nvPr/>
        </p:nvPicPr>
        <p:blipFill>
          <a:blip r:embed="rId13">
            <a:extLst>
              <a:ext uri="{28A0092B-C50C-407E-A947-70E740481C1C}">
                <a14:useLocalDpi xmlns:a14="http://schemas.microsoft.com/office/drawing/2010/main" val="0"/>
              </a:ext>
            </a:extLst>
          </a:blip>
          <a:srcRect l="4242" r="3265"/>
          <a:stretch>
            <a:fillRect/>
          </a:stretch>
        </p:blipFill>
        <p:spPr bwMode="auto">
          <a:xfrm>
            <a:off x="4095479" y="5176433"/>
            <a:ext cx="132291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D32EDD61-8A66-1927-037F-0BD2FAF87427}"/>
              </a:ext>
            </a:extLst>
          </p:cNvPr>
          <p:cNvGrpSpPr/>
          <p:nvPr/>
        </p:nvGrpSpPr>
        <p:grpSpPr>
          <a:xfrm>
            <a:off x="11369860" y="-3696"/>
            <a:ext cx="822140" cy="847296"/>
            <a:chOff x="8600746" y="57953"/>
            <a:chExt cx="822140" cy="847296"/>
          </a:xfrm>
        </p:grpSpPr>
        <p:sp>
          <p:nvSpPr>
            <p:cNvPr id="5" name="Rectangle 4">
              <a:extLst>
                <a:ext uri="{FF2B5EF4-FFF2-40B4-BE49-F238E27FC236}">
                  <a16:creationId xmlns:a16="http://schemas.microsoft.com/office/drawing/2014/main" id="{2C6451C9-2793-82BB-8790-CBF81F0C25B1}"/>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Rectangle 6">
              <a:extLst>
                <a:ext uri="{FF2B5EF4-FFF2-40B4-BE49-F238E27FC236}">
                  <a16:creationId xmlns:a16="http://schemas.microsoft.com/office/drawing/2014/main" id="{C4608593-60A2-FF5E-4911-AE5D34D88D1B}"/>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Rectangle 8">
              <a:extLst>
                <a:ext uri="{FF2B5EF4-FFF2-40B4-BE49-F238E27FC236}">
                  <a16:creationId xmlns:a16="http://schemas.microsoft.com/office/drawing/2014/main" id="{D072E221-3834-589D-93EB-F56411FD6DDE}"/>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1" name="Picture 10">
              <a:extLst>
                <a:ext uri="{FF2B5EF4-FFF2-40B4-BE49-F238E27FC236}">
                  <a16:creationId xmlns:a16="http://schemas.microsoft.com/office/drawing/2014/main" id="{4C9BFE61-D954-E627-BAA9-14B0F2D593FF}"/>
                </a:ext>
              </a:extLst>
            </p:cNvPr>
            <p:cNvPicPr>
              <a:picLocks noChangeAspect="1"/>
            </p:cNvPicPr>
            <p:nvPr/>
          </p:nvPicPr>
          <p:blipFill>
            <a:blip r:embed="rId1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2340176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75CA-F28D-D91E-05F5-ADF738C14258}"/>
              </a:ext>
            </a:extLst>
          </p:cNvPr>
          <p:cNvSpPr>
            <a:spLocks noGrp="1"/>
          </p:cNvSpPr>
          <p:nvPr>
            <p:ph type="title"/>
          </p:nvPr>
        </p:nvSpPr>
        <p:spPr/>
        <p:txBody>
          <a:bodyPr>
            <a:normAutofit fontScale="90000"/>
          </a:bodyPr>
          <a:lstStyle/>
          <a:p>
            <a:r>
              <a:rPr lang="en-GB">
                <a:ea typeface="+mj-lt"/>
                <a:cs typeface="+mj-lt"/>
              </a:rPr>
              <a:t>Different Worldviews and the Many Values of Nature</a:t>
            </a:r>
            <a:endParaRPr lang="en-US"/>
          </a:p>
        </p:txBody>
      </p:sp>
      <p:pic>
        <p:nvPicPr>
          <p:cNvPr id="16" name="Content Placeholder 15">
            <a:extLst>
              <a:ext uri="{FF2B5EF4-FFF2-40B4-BE49-F238E27FC236}">
                <a16:creationId xmlns:a16="http://schemas.microsoft.com/office/drawing/2014/main" id="{22F7D326-5928-51C1-D7A9-2E4597573393}"/>
              </a:ext>
            </a:extLst>
          </p:cNvPr>
          <p:cNvPicPr>
            <a:picLocks noGrp="1" noChangeAspect="1"/>
          </p:cNvPicPr>
          <p:nvPr>
            <p:ph idx="1"/>
          </p:nvPr>
        </p:nvPicPr>
        <p:blipFill>
          <a:blip r:embed="rId3"/>
          <a:stretch>
            <a:fillRect/>
          </a:stretch>
        </p:blipFill>
        <p:spPr>
          <a:xfrm>
            <a:off x="599596" y="2372920"/>
            <a:ext cx="6295245" cy="3694176"/>
          </a:xfrm>
        </p:spPr>
      </p:pic>
      <p:sp>
        <p:nvSpPr>
          <p:cNvPr id="8" name="Slide Number Placeholder 7">
            <a:extLst>
              <a:ext uri="{FF2B5EF4-FFF2-40B4-BE49-F238E27FC236}">
                <a16:creationId xmlns:a16="http://schemas.microsoft.com/office/drawing/2014/main" id="{96C51D83-E1B2-373F-8B4C-1DCE4AEC4348}"/>
              </a:ext>
            </a:extLst>
          </p:cNvPr>
          <p:cNvSpPr>
            <a:spLocks noGrp="1"/>
          </p:cNvSpPr>
          <p:nvPr>
            <p:ph type="sldNum" sz="quarter" idx="12"/>
          </p:nvPr>
        </p:nvSpPr>
        <p:spPr/>
        <p:txBody>
          <a:bodyPr/>
          <a:lstStyle/>
          <a:p>
            <a:fld id="{A65A5C87-DF58-40C8-B092-1DE63DB4547E}" type="slidenum">
              <a:rPr lang="en-US" dirty="0" smtClean="0"/>
              <a:t>43</a:t>
            </a:fld>
            <a:endParaRPr lang="en-US"/>
          </a:p>
        </p:txBody>
      </p:sp>
      <p:sp>
        <p:nvSpPr>
          <p:cNvPr id="17" name="TextBox 16">
            <a:extLst>
              <a:ext uri="{FF2B5EF4-FFF2-40B4-BE49-F238E27FC236}">
                <a16:creationId xmlns:a16="http://schemas.microsoft.com/office/drawing/2014/main" id="{DBD10827-0798-97B1-83C1-A2DE030F2B4D}"/>
              </a:ext>
            </a:extLst>
          </p:cNvPr>
          <p:cNvSpPr txBox="1"/>
          <p:nvPr/>
        </p:nvSpPr>
        <p:spPr>
          <a:xfrm>
            <a:off x="336987" y="6202461"/>
            <a:ext cx="18673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1200"/>
              <a:t>Pascual et al., 2023</a:t>
            </a:r>
            <a:endParaRPr lang="en-US" sz="1200"/>
          </a:p>
        </p:txBody>
      </p:sp>
      <p:sp>
        <p:nvSpPr>
          <p:cNvPr id="18" name="Oval 17">
            <a:extLst>
              <a:ext uri="{FF2B5EF4-FFF2-40B4-BE49-F238E27FC236}">
                <a16:creationId xmlns:a16="http://schemas.microsoft.com/office/drawing/2014/main" id="{4F43DF5A-39C3-7DB5-8CA8-8C015FD75A07}"/>
              </a:ext>
            </a:extLst>
          </p:cNvPr>
          <p:cNvSpPr/>
          <p:nvPr/>
        </p:nvSpPr>
        <p:spPr>
          <a:xfrm>
            <a:off x="3747659" y="4211351"/>
            <a:ext cx="1795516" cy="1541517"/>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0779016A-AA7C-5D59-206A-1FDD1878750D}"/>
              </a:ext>
            </a:extLst>
          </p:cNvPr>
          <p:cNvSpPr txBox="1"/>
          <p:nvPr/>
        </p:nvSpPr>
        <p:spPr>
          <a:xfrm>
            <a:off x="7543620" y="2357099"/>
            <a:ext cx="421096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2060"/>
                </a:solidFill>
              </a:rPr>
              <a:t>Living from </a:t>
            </a:r>
            <a:r>
              <a:rPr lang="en-GB"/>
              <a:t>and </a:t>
            </a:r>
            <a:r>
              <a:rPr lang="en-GB" b="1">
                <a:solidFill>
                  <a:schemeClr val="accent6">
                    <a:lumMod val="60000"/>
                    <a:lumOff val="40000"/>
                  </a:schemeClr>
                </a:solidFill>
              </a:rPr>
              <a:t>living in</a:t>
            </a:r>
            <a:r>
              <a:rPr lang="en-GB"/>
              <a:t>: Anthropocentric </a:t>
            </a:r>
            <a:r>
              <a:rPr lang="en-GB" i="1"/>
              <a:t>(prioritising human interests)</a:t>
            </a:r>
            <a:endParaRPr lang="en-US" i="1"/>
          </a:p>
          <a:p>
            <a:endParaRPr lang="en-GB">
              <a:solidFill>
                <a:srgbClr val="000000"/>
              </a:solidFill>
            </a:endParaRPr>
          </a:p>
          <a:p>
            <a:r>
              <a:rPr lang="en-GB" b="1">
                <a:solidFill>
                  <a:schemeClr val="accent1">
                    <a:lumMod val="60000"/>
                    <a:lumOff val="40000"/>
                  </a:schemeClr>
                </a:solidFill>
              </a:rPr>
              <a:t>Living with</a:t>
            </a:r>
            <a:r>
              <a:rPr lang="en-GB"/>
              <a:t>: Bio / </a:t>
            </a:r>
            <a:r>
              <a:rPr lang="en-GB" err="1"/>
              <a:t>ecocentric</a:t>
            </a:r>
            <a:r>
              <a:rPr lang="en-GB"/>
              <a:t> </a:t>
            </a:r>
            <a:r>
              <a:rPr lang="en-GB" i="1"/>
              <a:t>(emphasising living beings or nature's processes as a whole)</a:t>
            </a:r>
          </a:p>
          <a:p>
            <a:endParaRPr lang="en-GB">
              <a:solidFill>
                <a:srgbClr val="000000"/>
              </a:solidFill>
            </a:endParaRPr>
          </a:p>
          <a:p>
            <a:r>
              <a:rPr lang="en-GB" b="1">
                <a:solidFill>
                  <a:schemeClr val="accent2">
                    <a:lumMod val="60000"/>
                    <a:lumOff val="40000"/>
                  </a:schemeClr>
                </a:solidFill>
              </a:rPr>
              <a:t>Living as</a:t>
            </a:r>
            <a:r>
              <a:rPr lang="en-GB"/>
              <a:t>: Pluralistic </a:t>
            </a:r>
            <a:r>
              <a:rPr lang="en-GB" i="1"/>
              <a:t>(focusing on several intertwined relationships among humans, other-than-human beings, nature components and systemic processes)</a:t>
            </a:r>
          </a:p>
        </p:txBody>
      </p:sp>
      <p:sp>
        <p:nvSpPr>
          <p:cNvPr id="20" name="Oval 19">
            <a:extLst>
              <a:ext uri="{FF2B5EF4-FFF2-40B4-BE49-F238E27FC236}">
                <a16:creationId xmlns:a16="http://schemas.microsoft.com/office/drawing/2014/main" id="{CAFEFC11-4159-7817-5E8F-AC60A3DEC549}"/>
              </a:ext>
            </a:extLst>
          </p:cNvPr>
          <p:cNvSpPr/>
          <p:nvPr/>
        </p:nvSpPr>
        <p:spPr>
          <a:xfrm>
            <a:off x="5430342" y="4095942"/>
            <a:ext cx="770759" cy="1322551"/>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93428AFD-6012-1432-5C24-3FA2DA172FE4}"/>
              </a:ext>
            </a:extLst>
          </p:cNvPr>
          <p:cNvSpPr/>
          <p:nvPr/>
        </p:nvSpPr>
        <p:spPr>
          <a:xfrm>
            <a:off x="6095998" y="3619501"/>
            <a:ext cx="726965" cy="1252482"/>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111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Key Messages and Q&amp;A</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normAutofit/>
          </a:bodyPr>
          <a:lstStyle/>
          <a:p>
            <a:pPr algn="ctr"/>
            <a:r>
              <a:rPr lang="en-US" sz="9600"/>
              <a:t>5</a:t>
            </a:r>
          </a:p>
        </p:txBody>
      </p:sp>
    </p:spTree>
    <p:extLst>
      <p:ext uri="{BB962C8B-B14F-4D97-AF65-F5344CB8AC3E}">
        <p14:creationId xmlns:p14="http://schemas.microsoft.com/office/powerpoint/2010/main" val="568452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36EAE-F805-666A-E439-8F5B3145A4FE}"/>
              </a:ext>
            </a:extLst>
          </p:cNvPr>
          <p:cNvSpPr>
            <a:spLocks noGrp="1"/>
          </p:cNvSpPr>
          <p:nvPr>
            <p:ph type="title"/>
          </p:nvPr>
        </p:nvSpPr>
        <p:spPr/>
        <p:txBody>
          <a:bodyPr/>
          <a:lstStyle/>
          <a:p>
            <a:r>
              <a:rPr lang="en-GB"/>
              <a:t>Key messages</a:t>
            </a:r>
          </a:p>
        </p:txBody>
      </p:sp>
      <p:sp>
        <p:nvSpPr>
          <p:cNvPr id="3" name="Text Placeholder 2">
            <a:extLst>
              <a:ext uri="{FF2B5EF4-FFF2-40B4-BE49-F238E27FC236}">
                <a16:creationId xmlns:a16="http://schemas.microsoft.com/office/drawing/2014/main" id="{F5E9803B-5213-B1B5-A722-F98CB28DF78C}"/>
              </a:ext>
            </a:extLst>
          </p:cNvPr>
          <p:cNvSpPr>
            <a:spLocks noGrp="1"/>
          </p:cNvSpPr>
          <p:nvPr>
            <p:ph idx="1"/>
          </p:nvPr>
        </p:nvSpPr>
        <p:spPr/>
        <p:txBody>
          <a:bodyPr vert="horz" lIns="91440" tIns="45720" rIns="91440" bIns="45720" rtlCol="0" anchor="t">
            <a:normAutofit fontScale="92500" lnSpcReduction="10000"/>
          </a:bodyPr>
          <a:lstStyle/>
          <a:p>
            <a:pPr marL="457200" indent="-457200"/>
            <a:r>
              <a:rPr lang="en-GB" dirty="0"/>
              <a:t>The three dimensions of Sustainable Development are interlinked at different levels.</a:t>
            </a:r>
            <a:endParaRPr lang="en-US" dirty="0"/>
          </a:p>
          <a:p>
            <a:pPr marL="457200" indent="-457200"/>
            <a:r>
              <a:rPr lang="en-GB" dirty="0"/>
              <a:t>Sustainable Development is complex and recognized at international level.</a:t>
            </a:r>
          </a:p>
          <a:p>
            <a:pPr marL="457200" indent="-457200"/>
            <a:r>
              <a:rPr lang="en-GB" dirty="0"/>
              <a:t>Challenges are accelerating and action is urgently needed.</a:t>
            </a:r>
          </a:p>
          <a:p>
            <a:pPr marL="457200" indent="-457200"/>
            <a:r>
              <a:rPr lang="en-GB" dirty="0"/>
              <a:t>Context matters to achieve Sustainable Development. Activities need to be tailored accordingly and must take into account different worldviews and values. </a:t>
            </a:r>
            <a:endParaRPr lang="en-GB" dirty="0">
              <a:highlight>
                <a:srgbClr val="FFFF00"/>
              </a:highlight>
            </a:endParaRPr>
          </a:p>
          <a:p>
            <a:pPr marL="0" indent="0">
              <a:buNone/>
            </a:pPr>
            <a:endParaRPr lang="en-GB">
              <a:highlight>
                <a:srgbClr val="FFFF00"/>
              </a:highlight>
            </a:endParaRPr>
          </a:p>
        </p:txBody>
      </p:sp>
    </p:spTree>
    <p:extLst>
      <p:ext uri="{BB962C8B-B14F-4D97-AF65-F5344CB8AC3E}">
        <p14:creationId xmlns:p14="http://schemas.microsoft.com/office/powerpoint/2010/main" val="1489886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5E537-0B5C-0267-CE47-041D137E71F4}"/>
              </a:ext>
            </a:extLst>
          </p:cNvPr>
          <p:cNvSpPr>
            <a:spLocks noGrp="1"/>
          </p:cNvSpPr>
          <p:nvPr>
            <p:ph type="title"/>
          </p:nvPr>
        </p:nvSpPr>
        <p:spPr>
          <a:xfrm>
            <a:off x="841248" y="334644"/>
            <a:ext cx="10509504" cy="1076914"/>
          </a:xfrm>
        </p:spPr>
        <p:txBody>
          <a:bodyPr anchor="ctr">
            <a:normAutofit/>
          </a:bodyPr>
          <a:lstStyle/>
          <a:p>
            <a:r>
              <a:rPr lang="en-GB"/>
              <a:t>Reflection</a:t>
            </a:r>
          </a:p>
        </p:txBody>
      </p:sp>
      <p:graphicFrame>
        <p:nvGraphicFramePr>
          <p:cNvPr id="5" name="Text Placeholder 2">
            <a:extLst>
              <a:ext uri="{FF2B5EF4-FFF2-40B4-BE49-F238E27FC236}">
                <a16:creationId xmlns:a16="http://schemas.microsoft.com/office/drawing/2014/main" id="{44E33714-69AC-57E3-F043-F2607B75C201}"/>
              </a:ext>
            </a:extLst>
          </p:cNvPr>
          <p:cNvGraphicFramePr>
            <a:graphicFrameLocks noGrp="1"/>
          </p:cNvGraphicFramePr>
          <p:nvPr>
            <p:ph idx="1"/>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56549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Introduction to Overall Course Project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normAutofit/>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en-US" sz="9600">
                <a:solidFill>
                  <a:prstClr val="white"/>
                </a:solidFill>
                <a:latin typeface="Avenir Next LT Pro"/>
              </a:rPr>
              <a:t>7</a:t>
            </a:r>
            <a:endParaRPr lang="en-US" sz="9600" b="0" i="0" u="none" strike="noStrike" kern="1200" cap="none" spc="0" normalizeH="0" baseline="0" noProof="0">
              <a:ln>
                <a:noFill/>
              </a:ln>
              <a:solidFill>
                <a:prstClr val="white"/>
              </a:solidFill>
              <a:effectLst/>
              <a:uLnTx/>
              <a:uFillTx/>
              <a:latin typeface="Avenir Next LT Pro"/>
            </a:endParaRPr>
          </a:p>
          <a:p>
            <a:endParaRPr lang="en-US"/>
          </a:p>
        </p:txBody>
      </p:sp>
    </p:spTree>
    <p:extLst>
      <p:ext uri="{BB962C8B-B14F-4D97-AF65-F5344CB8AC3E}">
        <p14:creationId xmlns:p14="http://schemas.microsoft.com/office/powerpoint/2010/main" val="5885369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a:t>Overall Course Project</a:t>
            </a:r>
            <a:endParaRPr lang="en-US" sz="8000" b="1"/>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a:xfrm>
            <a:off x="4591050" y="4619624"/>
            <a:ext cx="6756653" cy="1673988"/>
          </a:xfrm>
        </p:spPr>
        <p:txBody>
          <a:bodyPr vert="horz" lIns="91440" tIns="45720" rIns="91440" bIns="45720" rtlCol="0">
            <a:normAutofit/>
          </a:bodyPr>
          <a:lstStyle/>
          <a:p>
            <a:pPr algn="r">
              <a:lnSpc>
                <a:spcPct val="100000"/>
              </a:lnSpc>
            </a:pPr>
            <a:r>
              <a:rPr lang="en-US" sz="2000">
                <a:solidFill>
                  <a:schemeClr val="tx1"/>
                </a:solidFill>
              </a:rPr>
              <a:t>Creating an </a:t>
            </a:r>
            <a:r>
              <a:rPr lang="en-US" sz="2000" b="1">
                <a:solidFill>
                  <a:schemeClr val="tx1"/>
                </a:solidFill>
              </a:rPr>
              <a:t>Action Plan</a:t>
            </a:r>
            <a:r>
              <a:rPr lang="en-US" sz="2000">
                <a:solidFill>
                  <a:schemeClr val="tx1"/>
                </a:solidFill>
              </a:rPr>
              <a:t> to Integrate </a:t>
            </a:r>
            <a:r>
              <a:rPr lang="en-US" sz="2000" b="1">
                <a:solidFill>
                  <a:schemeClr val="tx1"/>
                </a:solidFill>
              </a:rPr>
              <a:t>Sustainable Development</a:t>
            </a:r>
            <a:r>
              <a:rPr lang="en-US" sz="2000">
                <a:solidFill>
                  <a:schemeClr val="tx1"/>
                </a:solidFill>
              </a:rPr>
              <a:t> into Your </a:t>
            </a:r>
            <a:r>
              <a:rPr lang="en-US" sz="2000" b="1">
                <a:solidFill>
                  <a:schemeClr val="tx1"/>
                </a:solidFill>
              </a:rPr>
              <a:t>Teaching</a:t>
            </a:r>
          </a:p>
        </p:txBody>
      </p:sp>
    </p:spTree>
    <p:extLst>
      <p:ext uri="{BB962C8B-B14F-4D97-AF65-F5344CB8AC3E}">
        <p14:creationId xmlns:p14="http://schemas.microsoft.com/office/powerpoint/2010/main" val="1906529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9149-F6EC-015F-1BEF-932BFB3AFF3B}"/>
              </a:ext>
            </a:extLst>
          </p:cNvPr>
          <p:cNvSpPr>
            <a:spLocks noGrp="1"/>
          </p:cNvSpPr>
          <p:nvPr>
            <p:ph type="title"/>
          </p:nvPr>
        </p:nvSpPr>
        <p:spPr>
          <a:xfrm>
            <a:off x="841246" y="978619"/>
            <a:ext cx="5991244" cy="1106424"/>
          </a:xfrm>
        </p:spPr>
        <p:txBody>
          <a:bodyPr>
            <a:normAutofit/>
          </a:bodyPr>
          <a:lstStyle/>
          <a:p>
            <a:r>
              <a:rPr lang="en-GB" sz="3200" dirty="0"/>
              <a:t>Develop an ESD Action Plan</a:t>
            </a:r>
          </a:p>
        </p:txBody>
      </p:sp>
      <p:sp>
        <p:nvSpPr>
          <p:cNvPr id="3" name="Content Placeholder 2">
            <a:extLst>
              <a:ext uri="{FF2B5EF4-FFF2-40B4-BE49-F238E27FC236}">
                <a16:creationId xmlns:a16="http://schemas.microsoft.com/office/drawing/2014/main" id="{F815E866-5A70-A644-5265-6F679CAF6951}"/>
              </a:ext>
            </a:extLst>
          </p:cNvPr>
          <p:cNvSpPr>
            <a:spLocks noGrp="1"/>
          </p:cNvSpPr>
          <p:nvPr>
            <p:ph idx="1"/>
          </p:nvPr>
        </p:nvSpPr>
        <p:spPr>
          <a:xfrm>
            <a:off x="841248" y="2252870"/>
            <a:ext cx="5993892" cy="3560251"/>
          </a:xfrm>
        </p:spPr>
        <p:txBody>
          <a:bodyPr vert="horz" lIns="91440" tIns="45720" rIns="91440" bIns="45720" rtlCol="0" anchor="t">
            <a:normAutofit fontScale="92500"/>
          </a:bodyPr>
          <a:lstStyle/>
          <a:p>
            <a:pPr marL="0" indent="0">
              <a:lnSpc>
                <a:spcPct val="100000"/>
              </a:lnSpc>
              <a:buNone/>
            </a:pPr>
            <a:endParaRPr lang="en-GB" sz="1100" dirty="0"/>
          </a:p>
          <a:p>
            <a:pPr>
              <a:lnSpc>
                <a:spcPct val="100000"/>
              </a:lnSpc>
            </a:pPr>
            <a:r>
              <a:rPr lang="en-GB" sz="1100" b="1" dirty="0">
                <a:ea typeface="+mn-lt"/>
                <a:cs typeface="+mn-lt"/>
              </a:rPr>
              <a:t>Task after Session 1- Review of course content</a:t>
            </a:r>
            <a:r>
              <a:rPr lang="en-GB" sz="1100" dirty="0">
                <a:ea typeface="+mn-lt"/>
                <a:cs typeface="+mn-lt"/>
              </a:rPr>
              <a:t> </a:t>
            </a:r>
            <a:br>
              <a:rPr lang="en-GB" sz="1100" dirty="0">
                <a:ea typeface="+mn-lt"/>
                <a:cs typeface="+mn-lt"/>
              </a:rPr>
            </a:br>
            <a:r>
              <a:rPr lang="en-GB" sz="1100" dirty="0">
                <a:ea typeface="+mn-lt"/>
                <a:cs typeface="+mn-lt"/>
              </a:rPr>
              <a:t>Reflect on how Sustainable Development (SD) concepts and topics are currently integrated into your teaching practices. Evaluate your existing course content and syllabi. Identify areas for strengthening the integration of SD into your teaching practices.</a:t>
            </a:r>
          </a:p>
          <a:p>
            <a:pPr>
              <a:lnSpc>
                <a:spcPct val="100000"/>
              </a:lnSpc>
            </a:pPr>
            <a:r>
              <a:rPr lang="en-GB" sz="1100" b="1" dirty="0">
                <a:ea typeface="+mn-lt"/>
                <a:cs typeface="+mn-lt"/>
              </a:rPr>
              <a:t>Task after Session 2 – Identify opportunities to incorporate SD into your course</a:t>
            </a:r>
            <a:r>
              <a:rPr lang="en-GB" sz="1100" dirty="0">
                <a:ea typeface="+mn-lt"/>
                <a:cs typeface="+mn-lt"/>
              </a:rPr>
              <a:t> </a:t>
            </a:r>
            <a:br>
              <a:rPr lang="en-GB" sz="1100" dirty="0">
                <a:ea typeface="+mn-lt"/>
                <a:cs typeface="+mn-lt"/>
              </a:rPr>
            </a:br>
            <a:r>
              <a:rPr lang="en-GB" sz="1100" dirty="0">
                <a:ea typeface="+mn-lt"/>
                <a:cs typeface="+mn-lt"/>
              </a:rPr>
              <a:t>Identify opportunities to incorporate Sustainable Development concepts and topics. These could include the Sustainable Development Goals (+other frameworks relevant to your context), global sustainability challenges, or different sustainability perspectives. </a:t>
            </a:r>
            <a:r>
              <a:rPr lang="en-GB" sz="1100" dirty="0"/>
              <a:t>What links does your discipline have with SD?</a:t>
            </a:r>
          </a:p>
          <a:p>
            <a:pPr>
              <a:lnSpc>
                <a:spcPct val="100000"/>
              </a:lnSpc>
            </a:pPr>
            <a:r>
              <a:rPr lang="en-GB" sz="1100" b="1" dirty="0">
                <a:ea typeface="+mn-lt"/>
                <a:cs typeface="+mn-lt"/>
              </a:rPr>
              <a:t>Task after Session 3 – Session development</a:t>
            </a:r>
            <a:r>
              <a:rPr lang="en-GB" sz="1100" dirty="0">
                <a:ea typeface="+mn-lt"/>
                <a:cs typeface="+mn-lt"/>
              </a:rPr>
              <a:t> </a:t>
            </a:r>
            <a:br>
              <a:rPr lang="en-GB" sz="1100" dirty="0">
                <a:ea typeface="+mn-lt"/>
                <a:cs typeface="+mn-lt"/>
              </a:rPr>
            </a:br>
            <a:r>
              <a:rPr lang="en-GB" sz="1100" dirty="0">
                <a:ea typeface="+mn-lt"/>
                <a:cs typeface="+mn-lt"/>
              </a:rPr>
              <a:t>Find a topic related to SD in your discipline. Develop a lesson/session based on constructive alignment: Formulate at least three learning outcomes, think of suitable learning strategies (that actively engage students in understanding and applying SD and ESD principles) and design an assessment format.</a:t>
            </a:r>
          </a:p>
          <a:p>
            <a:pPr>
              <a:lnSpc>
                <a:spcPct val="100000"/>
              </a:lnSpc>
            </a:pPr>
            <a:r>
              <a:rPr lang="en-GB" sz="1100" b="1" dirty="0">
                <a:ea typeface="+mn-lt"/>
                <a:cs typeface="+mn-lt"/>
              </a:rPr>
              <a:t>In Session 4 – Present your ESD Action Plan and identify collaboration opportunities</a:t>
            </a:r>
            <a:r>
              <a:rPr lang="en-GB" sz="1100" dirty="0">
                <a:ea typeface="+mn-lt"/>
                <a:cs typeface="+mn-lt"/>
              </a:rPr>
              <a:t> </a:t>
            </a:r>
            <a:br>
              <a:rPr lang="en-GB" sz="1100" dirty="0">
                <a:ea typeface="+mn-lt"/>
                <a:cs typeface="+mn-lt"/>
              </a:rPr>
            </a:br>
            <a:r>
              <a:rPr lang="en-GB" sz="1100" dirty="0">
                <a:ea typeface="+mn-lt"/>
                <a:cs typeface="+mn-lt"/>
              </a:rPr>
              <a:t>Explore opportunities for collaboration with other lecturers, departments, or external organizations working on sustainability initiatives. </a:t>
            </a:r>
            <a:endParaRPr lang="en-GB" sz="1100" dirty="0"/>
          </a:p>
          <a:p>
            <a:pPr>
              <a:lnSpc>
                <a:spcPct val="100000"/>
              </a:lnSpc>
            </a:pPr>
            <a:endParaRPr lang="en-GB" sz="1100" dirty="0"/>
          </a:p>
        </p:txBody>
      </p:sp>
      <p:pic>
        <p:nvPicPr>
          <p:cNvPr id="8" name="Picture 7" descr="Drawings on colourful paper">
            <a:extLst>
              <a:ext uri="{FF2B5EF4-FFF2-40B4-BE49-F238E27FC236}">
                <a16:creationId xmlns:a16="http://schemas.microsoft.com/office/drawing/2014/main" id="{33E71B99-0A4F-803A-4EAE-B22F7CDD9F4F}"/>
              </a:ext>
            </a:extLst>
          </p:cNvPr>
          <p:cNvPicPr>
            <a:picLocks noChangeAspect="1"/>
          </p:cNvPicPr>
          <p:nvPr/>
        </p:nvPicPr>
        <p:blipFill rotWithShape="1">
          <a:blip r:embed="rId2"/>
          <a:srcRect l="15114" r="41099" b="-3"/>
          <a:stretch/>
        </p:blipFill>
        <p:spPr>
          <a:xfrm>
            <a:off x="7611247" y="681228"/>
            <a:ext cx="3604887" cy="5495544"/>
          </a:xfrm>
          <a:prstGeom prst="rect">
            <a:avLst/>
          </a:prstGeom>
        </p:spPr>
      </p:pic>
      <p:sp>
        <p:nvSpPr>
          <p:cNvPr id="6" name="Slide Number Placeholder 5">
            <a:extLst>
              <a:ext uri="{FF2B5EF4-FFF2-40B4-BE49-F238E27FC236}">
                <a16:creationId xmlns:a16="http://schemas.microsoft.com/office/drawing/2014/main" id="{B125977C-660F-2396-66C6-E93CA9796873}"/>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49</a:t>
            </a:fld>
            <a:endParaRPr lang="en-US">
              <a:solidFill>
                <a:schemeClr val="tx2">
                  <a:lumMod val="50000"/>
                  <a:lumOff val="50000"/>
                </a:schemeClr>
              </a:solidFill>
            </a:endParaRPr>
          </a:p>
        </p:txBody>
      </p:sp>
    </p:spTree>
    <p:extLst>
      <p:ext uri="{BB962C8B-B14F-4D97-AF65-F5344CB8AC3E}">
        <p14:creationId xmlns:p14="http://schemas.microsoft.com/office/powerpoint/2010/main" val="3249566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260C1-2556-A004-4422-3CFAC1372BC5}"/>
              </a:ext>
            </a:extLst>
          </p:cNvPr>
          <p:cNvSpPr>
            <a:spLocks noGrp="1"/>
          </p:cNvSpPr>
          <p:nvPr>
            <p:ph type="title"/>
          </p:nvPr>
        </p:nvSpPr>
        <p:spPr>
          <a:xfrm>
            <a:off x="841248" y="256032"/>
            <a:ext cx="10506456" cy="1014984"/>
          </a:xfrm>
        </p:spPr>
        <p:txBody>
          <a:bodyPr anchor="b">
            <a:normAutofit/>
          </a:bodyPr>
          <a:lstStyle/>
          <a:p>
            <a:r>
              <a:rPr lang="en-GB" sz="3700">
                <a:latin typeface="Avenir Next LT Pro"/>
                <a:cs typeface="Arial"/>
              </a:rPr>
              <a:t>Task after Session 1 – Review of course content</a:t>
            </a:r>
            <a:endParaRPr lang="en-US" sz="3700"/>
          </a:p>
        </p:txBody>
      </p:sp>
      <p:sp>
        <p:nvSpPr>
          <p:cNvPr id="6" name="Slide Number Placeholder 5">
            <a:extLst>
              <a:ext uri="{FF2B5EF4-FFF2-40B4-BE49-F238E27FC236}">
                <a16:creationId xmlns:a16="http://schemas.microsoft.com/office/drawing/2014/main" id="{A346D40A-E872-7071-0F94-4FD48DEFD9FC}"/>
              </a:ext>
            </a:extLst>
          </p:cNvPr>
          <p:cNvSpPr>
            <a:spLocks noGrp="1"/>
          </p:cNvSpPr>
          <p:nvPr>
            <p:ph type="sldNum" sz="quarter" idx="12"/>
          </p:nvPr>
        </p:nvSpPr>
        <p:spPr>
          <a:xfrm>
            <a:off x="8873254" y="6356350"/>
            <a:ext cx="2477498" cy="365125"/>
          </a:xfrm>
        </p:spPr>
        <p:txBody>
          <a:bodyPr>
            <a:normAutofit/>
          </a:bodyPr>
          <a:lstStyle/>
          <a:p>
            <a:pPr>
              <a:spcAft>
                <a:spcPts val="600"/>
              </a:spcAft>
            </a:pPr>
            <a:fld id="{A65A5C87-DF58-40C8-B092-1DE63DB4547E}" type="slidenum">
              <a:rPr lang="en-US" smtClean="0"/>
              <a:pPr>
                <a:spcAft>
                  <a:spcPts val="600"/>
                </a:spcAft>
              </a:pPr>
              <a:t>50</a:t>
            </a:fld>
            <a:endParaRPr lang="en-US"/>
          </a:p>
        </p:txBody>
      </p:sp>
      <p:graphicFrame>
        <p:nvGraphicFramePr>
          <p:cNvPr id="8" name="Content Placeholder 2">
            <a:extLst>
              <a:ext uri="{FF2B5EF4-FFF2-40B4-BE49-F238E27FC236}">
                <a16:creationId xmlns:a16="http://schemas.microsoft.com/office/drawing/2014/main" id="{4A3C513B-178A-E67E-8D07-A2FBC1C2AC2A}"/>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73400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6EA5-1EEF-4F8D-A202-227127F37230}"/>
              </a:ext>
            </a:extLst>
          </p:cNvPr>
          <p:cNvSpPr>
            <a:spLocks noGrp="1"/>
          </p:cNvSpPr>
          <p:nvPr>
            <p:ph type="title"/>
          </p:nvPr>
        </p:nvSpPr>
        <p:spPr>
          <a:xfrm>
            <a:off x="824580" y="645642"/>
            <a:ext cx="5991244" cy="1106424"/>
          </a:xfrm>
        </p:spPr>
        <p:txBody>
          <a:bodyPr vert="horz" lIns="91440" tIns="45720" rIns="91440" bIns="45720" rtlCol="0" anchor="ctr">
            <a:normAutofit/>
          </a:bodyPr>
          <a:lstStyle/>
          <a:p>
            <a:r>
              <a:rPr lang="en-US" sz="3200" dirty="0"/>
              <a:t>References</a:t>
            </a:r>
          </a:p>
        </p:txBody>
      </p:sp>
      <p:pic>
        <p:nvPicPr>
          <p:cNvPr id="8" name="Content Placeholder 7" descr="Books on shelf outline">
            <a:extLst>
              <a:ext uri="{FF2B5EF4-FFF2-40B4-BE49-F238E27FC236}">
                <a16:creationId xmlns:a16="http://schemas.microsoft.com/office/drawing/2014/main" id="{5BD2E643-B630-5531-9608-BD0BAF3E42D5}"/>
              </a:ext>
            </a:extLst>
          </p:cNvPr>
          <p:cNvPicPr>
            <a:picLocks noGrp="1" noChangeAspect="1"/>
          </p:cNvPicPr>
          <p:nvPr>
            <p:ph sz="quarter" idx="14"/>
          </p:nvPr>
        </p:nvPicPr>
        <p:blipFill>
          <a:blip>
            <a:extLst>
              <a:ext uri="{96DAC541-7B7A-43D3-8B79-37D633B846F1}">
                <asvg:svgBlip xmlns:asvg="http://schemas.microsoft.com/office/drawing/2016/SVG/main" r:embed="rId3"/>
              </a:ext>
            </a:extLst>
          </a:blip>
          <a:stretch>
            <a:fillRect/>
          </a:stretch>
        </p:blipFill>
        <p:spPr>
          <a:xfrm>
            <a:off x="9686342" y="124769"/>
            <a:ext cx="2124658" cy="2124658"/>
          </a:xfrm>
          <a:prstGeom prst="rect">
            <a:avLst/>
          </a:prstGeom>
        </p:spPr>
      </p:pic>
      <p:sp>
        <p:nvSpPr>
          <p:cNvPr id="4" name="Content Placeholder 3">
            <a:extLst>
              <a:ext uri="{FF2B5EF4-FFF2-40B4-BE49-F238E27FC236}">
                <a16:creationId xmlns:a16="http://schemas.microsoft.com/office/drawing/2014/main" id="{56E2AD97-6712-4E23-9D09-2FCFC43DE6FA}"/>
              </a:ext>
            </a:extLst>
          </p:cNvPr>
          <p:cNvSpPr>
            <a:spLocks noGrp="1"/>
          </p:cNvSpPr>
          <p:nvPr>
            <p:ph sz="half" idx="2"/>
          </p:nvPr>
        </p:nvSpPr>
        <p:spPr>
          <a:xfrm>
            <a:off x="551420" y="2038896"/>
            <a:ext cx="11089159" cy="3560251"/>
          </a:xfrm>
        </p:spPr>
        <p:txBody>
          <a:bodyPr vert="horz" lIns="91440" tIns="45720" rIns="91440" bIns="45720" rtlCol="0" anchor="t">
            <a:noAutofit/>
          </a:bodyPr>
          <a:lstStyle/>
          <a:p>
            <a:pPr marL="358775" indent="-226695">
              <a:lnSpc>
                <a:spcPct val="100000"/>
              </a:lnSpc>
              <a:spcBef>
                <a:spcPts val="200"/>
              </a:spcBef>
              <a:buNone/>
            </a:pPr>
            <a:r>
              <a:rPr lang="en-US" sz="1000" dirty="0"/>
              <a:t>African Union Commission (2013). Agenda 2063. </a:t>
            </a:r>
            <a:r>
              <a:rPr lang="de-CH" sz="1000" dirty="0"/>
              <a:t>The </a:t>
            </a:r>
            <a:r>
              <a:rPr lang="de-CH" sz="1000" dirty="0" err="1"/>
              <a:t>Africa</a:t>
            </a:r>
            <a:r>
              <a:rPr lang="de-CH" sz="1000" dirty="0"/>
              <a:t> </a:t>
            </a:r>
            <a:r>
              <a:rPr lang="de-CH" sz="1000" dirty="0" err="1"/>
              <a:t>We</a:t>
            </a:r>
            <a:r>
              <a:rPr lang="de-CH" sz="1000" dirty="0"/>
              <a:t> Want. </a:t>
            </a:r>
            <a:r>
              <a:rPr lang="en-US" sz="1000" dirty="0">
                <a:hlinkClick r:id="rId4"/>
              </a:rPr>
              <a:t>https://au.int/en/agenda2063/overview</a:t>
            </a:r>
            <a:r>
              <a:rPr lang="en-US" sz="1000" dirty="0"/>
              <a:t> [Last accessed 27/12/2023]</a:t>
            </a:r>
            <a:endParaRPr lang="en-US" dirty="0"/>
          </a:p>
          <a:p>
            <a:pPr marL="358775" indent="-226695">
              <a:lnSpc>
                <a:spcPct val="100000"/>
              </a:lnSpc>
              <a:spcBef>
                <a:spcPts val="200"/>
              </a:spcBef>
              <a:buNone/>
            </a:pPr>
            <a:r>
              <a:rPr lang="en-US" sz="1000" dirty="0"/>
              <a:t>African Union Commission (2014). </a:t>
            </a:r>
            <a:r>
              <a:rPr lang="en-GB" sz="1000" dirty="0"/>
              <a:t>Science, Technology and Innovation Strategy for Africa 2024 (STISA-2024). </a:t>
            </a:r>
            <a:r>
              <a:rPr lang="en-GB" sz="1000" dirty="0">
                <a:hlinkClick r:id="rId5"/>
              </a:rPr>
              <a:t>https://au.int/sites/default/files/newsevents/workingdocuments/33178-wd-stisa-english_-_final.pdf</a:t>
            </a:r>
            <a:r>
              <a:rPr lang="en-GB" sz="1000" dirty="0"/>
              <a:t> [Last accessed 27/12/2023]</a:t>
            </a:r>
          </a:p>
          <a:p>
            <a:pPr marL="358775" indent="-226695">
              <a:lnSpc>
                <a:spcPct val="100000"/>
              </a:lnSpc>
              <a:spcBef>
                <a:spcPts val="200"/>
              </a:spcBef>
              <a:buNone/>
            </a:pPr>
            <a:r>
              <a:rPr lang="en-GB" sz="1000" dirty="0"/>
              <a:t>Caradonna, K.L. (2014). Sustainability. A History. Oxford University Press. ISBN 978-0-19-937240-9.</a:t>
            </a:r>
          </a:p>
          <a:p>
            <a:pPr marL="358775" indent="-226695">
              <a:lnSpc>
                <a:spcPct val="100000"/>
              </a:lnSpc>
              <a:spcBef>
                <a:spcPts val="200"/>
              </a:spcBef>
              <a:buNone/>
            </a:pPr>
            <a:r>
              <a:rPr lang="en-GB" sz="1000" dirty="0"/>
              <a:t>Fanning, A. L., O’Neill, D. W., Hickel, J., &amp; Roux, N. (2022). The social shortfall and ecological overshoot of nations. Nature Sustainability, 5(1), 26-36. </a:t>
            </a:r>
            <a:r>
              <a:rPr lang="en-GB" sz="1000" dirty="0">
                <a:hlinkClick r:id="rId6"/>
              </a:rPr>
              <a:t>https://doi.org/10.1038/s41893-021-00799-z</a:t>
            </a:r>
            <a:r>
              <a:rPr lang="en-GB" sz="1000" dirty="0"/>
              <a:t> </a:t>
            </a:r>
          </a:p>
          <a:p>
            <a:pPr marL="358775" indent="-226695">
              <a:lnSpc>
                <a:spcPct val="100000"/>
              </a:lnSpc>
              <a:spcBef>
                <a:spcPts val="200"/>
              </a:spcBef>
              <a:buNone/>
            </a:pPr>
            <a:r>
              <a:rPr lang="en-GB" sz="1000" dirty="0"/>
              <a:t>Independent Group of Scientists appointed by the Secretary-General, Global Sustainable Development Report 2023: Times of crisis, times of change: Science for accelerating transformations to sustainable development, (United Nations, New York, 2023) </a:t>
            </a:r>
            <a:r>
              <a:rPr lang="en-GB" sz="1000" dirty="0">
                <a:hlinkClick r:id="rId7"/>
              </a:rPr>
              <a:t>https://sdgs.un.org/sites/default/files/2023-09/FINAL%20GSDR%202023-Digital%20-110923_1.pdf</a:t>
            </a:r>
            <a:r>
              <a:rPr lang="en-GB" sz="1000" dirty="0"/>
              <a:t>. [Last accessed 27/12/2023]</a:t>
            </a:r>
          </a:p>
          <a:p>
            <a:pPr marL="358775" indent="-226695">
              <a:lnSpc>
                <a:spcPct val="100000"/>
              </a:lnSpc>
              <a:spcBef>
                <a:spcPts val="200"/>
              </a:spcBef>
              <a:buNone/>
            </a:pPr>
            <a:r>
              <a:rPr lang="en-GB" sz="1000" dirty="0"/>
              <a:t>Meadows, D. H., Meadows, D. L., Randers, J., &amp; Behrens III, W. W. (1972). The Limits to Growth; a Report for the Club of Rome's Project on the Predicament of Mankind. Universe Books. ISBN </a:t>
            </a:r>
            <a:r>
              <a:rPr lang="en-GB" sz="1000" dirty="0">
                <a:ea typeface="+mn-lt"/>
                <a:cs typeface="+mn-lt"/>
              </a:rPr>
              <a:t>0876631650.</a:t>
            </a:r>
            <a:endParaRPr lang="en-US" sz="1000" dirty="0"/>
          </a:p>
          <a:p>
            <a:pPr marL="358775" indent="-226695">
              <a:lnSpc>
                <a:spcPct val="100000"/>
              </a:lnSpc>
              <a:spcBef>
                <a:spcPts val="200"/>
              </a:spcBef>
              <a:buNone/>
            </a:pPr>
            <a:r>
              <a:rPr lang="en-US" sz="1000" dirty="0"/>
              <a:t>Pascual, U., Balvanera, P., Anderson, C. B., Chaplin-Kramer, R., Christie, M., González-Jiménez, D., ... &amp; Zent, E. (2023). Diverse values of nature for sustainability. Nature, 620(7975), 813-823. </a:t>
            </a:r>
            <a:r>
              <a:rPr lang="en-US" sz="1000" dirty="0">
                <a:hlinkClick r:id="rId8"/>
              </a:rPr>
              <a:t>https://doi.org/10.1038/s41586-023-06406-9</a:t>
            </a:r>
            <a:r>
              <a:rPr lang="en-US" sz="1000" dirty="0"/>
              <a:t> </a:t>
            </a:r>
          </a:p>
          <a:p>
            <a:pPr marL="358775" indent="-226695">
              <a:lnSpc>
                <a:spcPct val="100000"/>
              </a:lnSpc>
              <a:spcBef>
                <a:spcPts val="200"/>
              </a:spcBef>
              <a:buNone/>
            </a:pPr>
            <a:r>
              <a:rPr lang="en-GB" sz="1000" dirty="0"/>
              <a:t>PBL. 2017. People and the Earth. International cooperation for the Sustainable Development Goals in 23 infographics. PBL, Netherlands Environmental Assessment Agency, The Hague.</a:t>
            </a:r>
            <a:r>
              <a:rPr lang="en-GB" sz="1000" dirty="0">
                <a:solidFill>
                  <a:srgbClr val="FF0000"/>
                </a:solidFill>
              </a:rPr>
              <a:t> </a:t>
            </a:r>
            <a:r>
              <a:rPr lang="en-GB" sz="1000" dirty="0">
                <a:solidFill>
                  <a:srgbClr val="FF0000"/>
                </a:solidFill>
                <a:ea typeface="+mn-lt"/>
                <a:cs typeface="+mn-lt"/>
                <a:hlinkClick r:id="rId9"/>
              </a:rPr>
              <a:t>https://www.pbl.nl/sites/default/files/downloads/People_and_the_Earth_WEB.pdf</a:t>
            </a:r>
            <a:r>
              <a:rPr lang="en-GB" sz="1000" dirty="0">
                <a:solidFill>
                  <a:srgbClr val="FF0000"/>
                </a:solidFill>
                <a:ea typeface="+mn-lt"/>
                <a:cs typeface="+mn-lt"/>
              </a:rPr>
              <a:t> </a:t>
            </a:r>
            <a:r>
              <a:rPr lang="en-US" sz="1000" dirty="0">
                <a:solidFill>
                  <a:srgbClr val="000000"/>
                </a:solidFill>
                <a:ea typeface="+mn-lt"/>
                <a:cs typeface="+mn-lt"/>
              </a:rPr>
              <a:t>[Last accessed 27/12/2023]</a:t>
            </a:r>
            <a:endParaRPr lang="en-GB" sz="1000" dirty="0">
              <a:solidFill>
                <a:srgbClr val="FF0000"/>
              </a:solidFill>
            </a:endParaRPr>
          </a:p>
          <a:p>
            <a:pPr marL="358775" indent="-226695">
              <a:lnSpc>
                <a:spcPct val="100000"/>
              </a:lnSpc>
              <a:spcBef>
                <a:spcPts val="200"/>
              </a:spcBef>
              <a:buNone/>
            </a:pPr>
            <a:r>
              <a:rPr lang="en-GB" sz="1000" dirty="0"/>
              <a:t>Raworth, K. (2012). A safe and just space for humanity: can we live within the doughnut?. Oxfam.</a:t>
            </a:r>
          </a:p>
          <a:p>
            <a:pPr marL="358775" indent="-226695">
              <a:lnSpc>
                <a:spcPct val="100000"/>
              </a:lnSpc>
              <a:spcBef>
                <a:spcPts val="200"/>
              </a:spcBef>
              <a:buNone/>
            </a:pPr>
            <a:r>
              <a:rPr lang="en-GB" sz="1000" dirty="0"/>
              <a:t>Raworth, K. (2017). Doughnut economics: seven ways to think like a 21st-century economist. Chelsea Green Publishing.</a:t>
            </a:r>
          </a:p>
          <a:p>
            <a:pPr marL="358775" indent="-226695">
              <a:lnSpc>
                <a:spcPct val="100000"/>
              </a:lnSpc>
              <a:spcBef>
                <a:spcPts val="200"/>
              </a:spcBef>
              <a:buNone/>
            </a:pPr>
            <a:r>
              <a:rPr lang="en-GB" sz="1000" dirty="0"/>
              <a:t>Royo, M. G., Diep, L., Mulligan, J., Mukanga, P., &amp; Parikh, P. (2022). Linking the UN Sustainable Development Goals and African Agenda 2063: Understanding overlaps and gaps between the global goals and continental priorities for Africa. World Development Sustainability, 1, 100010. </a:t>
            </a:r>
            <a:r>
              <a:rPr lang="en-GB" sz="1000" dirty="0">
                <a:hlinkClick r:id="rId10"/>
              </a:rPr>
              <a:t>https://doi.org/10.1016/j.wds.2022.100010</a:t>
            </a:r>
            <a:r>
              <a:rPr lang="en-GB" sz="1000" dirty="0"/>
              <a:t>  </a:t>
            </a:r>
          </a:p>
          <a:p>
            <a:pPr marL="358775" indent="-226695">
              <a:lnSpc>
                <a:spcPct val="100000"/>
              </a:lnSpc>
              <a:spcBef>
                <a:spcPts val="200"/>
              </a:spcBef>
              <a:buNone/>
            </a:pPr>
            <a:r>
              <a:rPr lang="en-GB" sz="1000" dirty="0"/>
              <a:t>Steffen, W., Broadgate, W., Deutsch, L., Gaffney, O., &amp; Ludwig, C. (2015). The trajectory of the Anthropocene: the great acceleration. The Anthropocene Review, 2(1), 81-98. </a:t>
            </a:r>
            <a:r>
              <a:rPr lang="en-GB" sz="1000" dirty="0">
                <a:hlinkClick r:id="rId11"/>
              </a:rPr>
              <a:t>https://doi.org/10.1177/2053019614564785</a:t>
            </a:r>
            <a:r>
              <a:rPr lang="en-GB" sz="1000" dirty="0"/>
              <a:t> </a:t>
            </a:r>
          </a:p>
          <a:p>
            <a:pPr marL="358775" indent="-226695">
              <a:lnSpc>
                <a:spcPct val="100000"/>
              </a:lnSpc>
              <a:spcBef>
                <a:spcPts val="200"/>
              </a:spcBef>
              <a:buNone/>
            </a:pPr>
            <a:r>
              <a:rPr lang="en-GB" sz="1000" dirty="0"/>
              <a:t>World Commission on Environment and Development. (1987). Our Common Future. </a:t>
            </a:r>
            <a:r>
              <a:rPr lang="en-GB" sz="1000" dirty="0">
                <a:ea typeface="+mn-lt"/>
                <a:cs typeface="+mn-lt"/>
                <a:hlinkClick r:id="rId12"/>
              </a:rPr>
              <a:t>https://sustainabledevelopment.un.org/content/documents/5987our-common-future.pdf</a:t>
            </a:r>
            <a:r>
              <a:rPr lang="en-GB" sz="1000" dirty="0">
                <a:ea typeface="+mn-lt"/>
                <a:cs typeface="+mn-lt"/>
              </a:rPr>
              <a:t> </a:t>
            </a:r>
            <a:r>
              <a:rPr lang="en-US" sz="1000" dirty="0">
                <a:ea typeface="+mn-lt"/>
                <a:cs typeface="+mn-lt"/>
              </a:rPr>
              <a:t>[Last accessed 27/12/2023]</a:t>
            </a:r>
          </a:p>
          <a:p>
            <a:pPr marL="358775" indent="-226695">
              <a:lnSpc>
                <a:spcPct val="100000"/>
              </a:lnSpc>
              <a:spcBef>
                <a:spcPts val="200"/>
              </a:spcBef>
              <a:buNone/>
            </a:pPr>
            <a:r>
              <a:rPr lang="en-US" sz="1000" dirty="0"/>
              <a:t>World Economic Forum. (2023). The Global Risks Report 2023. 18th Edition. I N S I G H T R E P O R T. Geneva: Switzerland. </a:t>
            </a:r>
            <a:r>
              <a:rPr lang="en-US" sz="1000" dirty="0">
                <a:hlinkClick r:id="rId13"/>
              </a:rPr>
              <a:t>https://www3.weforum.org/docs/WEF_Global_Risks_Report_2023.pdf</a:t>
            </a:r>
            <a:r>
              <a:rPr lang="en-US" sz="1000" dirty="0"/>
              <a:t> [Last accessed 27/12/2023]</a:t>
            </a:r>
          </a:p>
        </p:txBody>
      </p:sp>
      <p:sp>
        <p:nvSpPr>
          <p:cNvPr id="9" name="Slide Number Placeholder 8">
            <a:extLst>
              <a:ext uri="{FF2B5EF4-FFF2-40B4-BE49-F238E27FC236}">
                <a16:creationId xmlns:a16="http://schemas.microsoft.com/office/drawing/2014/main" id="{BB08890F-0304-4336-8A5F-BCCA24EADE2D}"/>
              </a:ext>
            </a:extLst>
          </p:cNvPr>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51</a:t>
            </a:fld>
            <a:endParaRPr lang="en-US">
              <a:solidFill>
                <a:schemeClr val="tx2">
                  <a:lumMod val="50000"/>
                  <a:lumOff val="50000"/>
                </a:schemeClr>
              </a:solidFill>
            </a:endParaRPr>
          </a:p>
        </p:txBody>
      </p:sp>
    </p:spTree>
    <p:extLst>
      <p:ext uri="{BB962C8B-B14F-4D97-AF65-F5344CB8AC3E}">
        <p14:creationId xmlns:p14="http://schemas.microsoft.com/office/powerpoint/2010/main" val="352550126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9DE173C41AD748B4060AEB6BE3D8C9" ma:contentTypeVersion="14" ma:contentTypeDescription="Create a new document." ma:contentTypeScope="" ma:versionID="ad2f6bcab80e0124e392d68d2324b5e4">
  <xsd:schema xmlns:xsd="http://www.w3.org/2001/XMLSchema" xmlns:xs="http://www.w3.org/2001/XMLSchema" xmlns:p="http://schemas.microsoft.com/office/2006/metadata/properties" xmlns:ns2="5718835e-0d9f-44bb-9dc0-be88827e798a" xmlns:ns3="8ac16dc0-0dc9-49ab-99db-6bc168e4b9ef" targetNamespace="http://schemas.microsoft.com/office/2006/metadata/properties" ma:root="true" ma:fieldsID="2569b1ad6a7deb867c851da986e7547d" ns2:_="" ns3:_="">
    <xsd:import namespace="5718835e-0d9f-44bb-9dc0-be88827e798a"/>
    <xsd:import namespace="8ac16dc0-0dc9-49ab-99db-6bc168e4b9e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Bemerkungen" minOccurs="0"/>
                <xsd:element ref="ns3:MediaServiceSearchProperties" minOccurs="0"/>
                <xsd:element ref="ns3:MediaServiceDateTaken" minOccurs="0"/>
                <xsd:element ref="ns3:MediaServiceGenerationTime" minOccurs="0"/>
                <xsd:element ref="ns3:MediaServiceEventHashCode"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18835e-0d9f-44bb-9dc0-be88827e798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11161c7-2b90-4bdd-9555-9b979c9f9aa6}" ma:internalName="TaxCatchAll" ma:showField="CatchAllData" ma:web="5718835e-0d9f-44bb-9dc0-be88827e798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ac16dc0-0dc9-49ab-99db-6bc168e4b9e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Bemerkungen" ma:index="13" nillable="true" ma:displayName="Bemerkungen" ma:format="Dropdown" ma:internalName="Bemerkungen">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84686df-39cf-4bac-acb0-1572f53f1b5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ac16dc0-0dc9-49ab-99db-6bc168e4b9ef">
      <Terms xmlns="http://schemas.microsoft.com/office/infopath/2007/PartnerControls"/>
    </lcf76f155ced4ddcb4097134ff3c332f>
    <Bemerkungen xmlns="8ac16dc0-0dc9-49ab-99db-6bc168e4b9ef" xsi:nil="true"/>
    <TaxCatchAll xmlns="5718835e-0d9f-44bb-9dc0-be88827e798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CC2C98-23C9-4E4D-BEF7-75E348C3FC04}"/>
</file>

<file path=customXml/itemProps2.xml><?xml version="1.0" encoding="utf-8"?>
<ds:datastoreItem xmlns:ds="http://schemas.openxmlformats.org/officeDocument/2006/customXml" ds:itemID="{290D7697-8E53-4EA8-8CBB-9C19575257BF}">
  <ds:schemaRefs>
    <ds:schemaRef ds:uri="71af3243-3dd4-4a8d-8c0d-dd76da1f02a5"/>
    <ds:schemaRef ds:uri="http://purl.org/dc/elements/1.1/"/>
    <ds:schemaRef ds:uri="http://schemas.microsoft.com/office/2006/metadata/properties"/>
    <ds:schemaRef ds:uri="16c05727-aa75-4e4a-9b5f-8a80a116589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B927DC71-2909-427C-BDB0-3E47E2101517}">
  <ds:schemaRefs>
    <ds:schemaRef ds:uri="http://schemas.microsoft.com/sharepoint/v3/contenttype/forms"/>
  </ds:schemaRefs>
</ds:datastoreItem>
</file>

<file path=docMetadata/LabelInfo.xml><?xml version="1.0" encoding="utf-8"?>
<clbl:labelList xmlns:clbl="http://schemas.microsoft.com/office/2020/mipLabelMetadata">
  <clbl:label id="{d400387a-212f-43ea-ac7f-77aa12d7977e}" enabled="0" method="" siteId="{d400387a-212f-43ea-ac7f-77aa12d7977e}" removed="1"/>
</clbl:labelList>
</file>

<file path=docProps/app.xml><?xml version="1.0" encoding="utf-8"?>
<Properties xmlns="http://schemas.openxmlformats.org/officeDocument/2006/extended-properties" xmlns:vt="http://schemas.openxmlformats.org/officeDocument/2006/docPropsVTypes">
  <Template/>
  <TotalTime>0</TotalTime>
  <Words>6363</Words>
  <Application>Microsoft Office PowerPoint</Application>
  <PresentationFormat>Widescreen</PresentationFormat>
  <Paragraphs>444</Paragraphs>
  <Slides>51</Slides>
  <Notes>33</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Avenir Next LT Pro</vt:lpstr>
      <vt:lpstr>Calibri</vt:lpstr>
      <vt:lpstr>Segoe UI</vt:lpstr>
      <vt:lpstr>Symbol</vt:lpstr>
      <vt:lpstr>ZurichSans-Light</vt:lpstr>
      <vt:lpstr>AccentBoxVTI</vt:lpstr>
      <vt:lpstr>Integrating Sustainability into Higher Education: Theories, Concepts, and Practical Strategies</vt:lpstr>
      <vt:lpstr>Session 1:  Introduction to Sustainable Development x</vt:lpstr>
      <vt:lpstr>Outline</vt:lpstr>
      <vt:lpstr>Learning Outcomes</vt:lpstr>
      <vt:lpstr>Introduction</vt:lpstr>
      <vt:lpstr>Imagine that you see the Earth from outer space for the very first time…what comes to mind? </vt:lpstr>
      <vt:lpstr>Only One Earth – Let's Protect It</vt:lpstr>
      <vt:lpstr>Defining Sustainable Development</vt:lpstr>
      <vt:lpstr>Sustainable Development is “development that meets the needs of the present without compromising the ability of future generations to meet their own needs.”</vt:lpstr>
      <vt:lpstr>Sustainable Development</vt:lpstr>
      <vt:lpstr>Agenda 2063: The Africa we Want</vt:lpstr>
      <vt:lpstr>PowerPoint Presentation</vt:lpstr>
      <vt:lpstr>The UN Sustainable Development Goals</vt:lpstr>
      <vt:lpstr>The UN Sustainable Development Goals 17 goals and 169 concrete targets</vt:lpstr>
      <vt:lpstr>Linking Agenda 2063 and the SDGs </vt:lpstr>
      <vt:lpstr>AU Agenda 2063 and UN Agenda 2030</vt:lpstr>
      <vt:lpstr>Exercise Have a look at the SDGs and / or the Agenda 2063 Goals:  Which ones relate most to your work? Why? </vt:lpstr>
      <vt:lpstr>Sustainability Challenges</vt:lpstr>
      <vt:lpstr>Where are we going?  The Great Acceleration since 1950</vt:lpstr>
      <vt:lpstr>Global risk landscape: perception survey</vt:lpstr>
      <vt:lpstr>Current risk landscape</vt:lpstr>
      <vt:lpstr>Global risks ranked: short-term</vt:lpstr>
      <vt:lpstr>Global risks ranked: long-term</vt:lpstr>
      <vt:lpstr>PowerPoint Presentation</vt:lpstr>
      <vt:lpstr>PowerPoint Presentation</vt:lpstr>
      <vt:lpstr>Context matters</vt:lpstr>
      <vt:lpstr>Sustainability challenges and risks in your national and local context</vt:lpstr>
      <vt:lpstr>Sustainability Theories and  UN Conferences</vt:lpstr>
      <vt:lpstr>Selected Sustainability Theories and International Milestones: A Timeline from 1970 Onwards</vt:lpstr>
      <vt:lpstr>PowerPoint Presentation</vt:lpstr>
      <vt:lpstr>United Nations Conference on the Environment, 1972 Stockholm</vt:lpstr>
      <vt:lpstr>1972 - The limits to growth</vt:lpstr>
      <vt:lpstr>Emerging understanding of Sustainable Development in the 1970s</vt:lpstr>
      <vt:lpstr>Criticism on the concept of Sustainable Development</vt:lpstr>
      <vt:lpstr>PowerPoint Presentation</vt:lpstr>
      <vt:lpstr>Five important documents, opened for signature or adopted in Rio 1992</vt:lpstr>
      <vt:lpstr>2000 Millennium Development Goals</vt:lpstr>
      <vt:lpstr>2009 Planetary Boundaries</vt:lpstr>
      <vt:lpstr>2012 Rio+20 UN Conference on Sustainable Development</vt:lpstr>
      <vt:lpstr>2012 The Doughnut Model</vt:lpstr>
      <vt:lpstr>AU Agenda 2063 and UN Agenda 2030</vt:lpstr>
      <vt:lpstr>Selected Sustainability Theories and International Milestones: A Timeline from 1970 Onwards</vt:lpstr>
      <vt:lpstr>Different Worldviews and the Many Values of Nature</vt:lpstr>
      <vt:lpstr>Key Messages and Q&amp;A</vt:lpstr>
      <vt:lpstr>Key messages</vt:lpstr>
      <vt:lpstr>Reflection</vt:lpstr>
      <vt:lpstr>Introduction to Overall Course Project</vt:lpstr>
      <vt:lpstr>Overall Course Project</vt:lpstr>
      <vt:lpstr>Develop an ESD Action Plan</vt:lpstr>
      <vt:lpstr>Task after Session 1 – Review of course content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AccentBox</dc:title>
  <dc:creator>Lewis, Anna Lena (CDE)</dc:creator>
  <cp:lastModifiedBy>Lewis, Anna Lena (CDE)</cp:lastModifiedBy>
  <cp:revision>96</cp:revision>
  <cp:lastPrinted>2024-08-28T07:58:57Z</cp:lastPrinted>
  <dcterms:created xsi:type="dcterms:W3CDTF">2023-10-11T13:15:05Z</dcterms:created>
  <dcterms:modified xsi:type="dcterms:W3CDTF">2026-08-27T08:04:35Z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0x010100599DE173C41AD748B4060AEB6BE3D8C9</vt:lpwstr>
  </property>
</Properties>
</file>