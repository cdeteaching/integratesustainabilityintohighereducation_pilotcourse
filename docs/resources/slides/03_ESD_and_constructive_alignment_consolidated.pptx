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53"/>
  </p:notesMasterIdLst>
  <p:handoutMasterIdLst>
    <p:handoutMasterId r:id="rId54"/>
  </p:handoutMasterIdLst>
  <p:sldIdLst>
    <p:sldId id="281" r:id="rId5"/>
    <p:sldId id="381" r:id="rId6"/>
    <p:sldId id="382" r:id="rId7"/>
    <p:sldId id="2378" r:id="rId8"/>
    <p:sldId id="353" r:id="rId9"/>
    <p:sldId id="394" r:id="rId10"/>
    <p:sldId id="2379" r:id="rId11"/>
    <p:sldId id="361" r:id="rId12"/>
    <p:sldId id="375" r:id="rId13"/>
    <p:sldId id="2381" r:id="rId14"/>
    <p:sldId id="371" r:id="rId15"/>
    <p:sldId id="426" r:id="rId16"/>
    <p:sldId id="424" r:id="rId17"/>
    <p:sldId id="423" r:id="rId18"/>
    <p:sldId id="422" r:id="rId19"/>
    <p:sldId id="260" r:id="rId20"/>
    <p:sldId id="390" r:id="rId21"/>
    <p:sldId id="425" r:id="rId22"/>
    <p:sldId id="2382" r:id="rId23"/>
    <p:sldId id="411" r:id="rId24"/>
    <p:sldId id="2383" r:id="rId25"/>
    <p:sldId id="365" r:id="rId26"/>
    <p:sldId id="2387" r:id="rId27"/>
    <p:sldId id="2388" r:id="rId28"/>
    <p:sldId id="2389" r:id="rId29"/>
    <p:sldId id="2390" r:id="rId30"/>
    <p:sldId id="2391" r:id="rId31"/>
    <p:sldId id="2392" r:id="rId32"/>
    <p:sldId id="417" r:id="rId33"/>
    <p:sldId id="2393" r:id="rId34"/>
    <p:sldId id="2394" r:id="rId35"/>
    <p:sldId id="2395" r:id="rId36"/>
    <p:sldId id="2396" r:id="rId37"/>
    <p:sldId id="364" r:id="rId38"/>
    <p:sldId id="378" r:id="rId39"/>
    <p:sldId id="431" r:id="rId40"/>
    <p:sldId id="2397" r:id="rId41"/>
    <p:sldId id="367" r:id="rId42"/>
    <p:sldId id="2398" r:id="rId43"/>
    <p:sldId id="433" r:id="rId44"/>
    <p:sldId id="2399" r:id="rId45"/>
    <p:sldId id="2405" r:id="rId46"/>
    <p:sldId id="2403" r:id="rId47"/>
    <p:sldId id="2376" r:id="rId48"/>
    <p:sldId id="2375" r:id="rId49"/>
    <p:sldId id="2408" r:id="rId50"/>
    <p:sldId id="2401" r:id="rId51"/>
    <p:sldId id="2407"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60" userDrawn="1">
          <p15:clr>
            <a:srgbClr val="A4A3A4"/>
          </p15:clr>
        </p15:guide>
        <p15:guide id="2" pos="7392"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6973CE9C-DBF0-4771-9A27-3F04C83413A4}" name="Lewis, Anna Lena (CDE)" initials="LAL(" userId="S::anna.lewis@unibe.ch::18eda301-d6e9-42ea-b30d-6f079ea4a702" providerId="AD"/>
  <p188:author id="{A167F5DC-EC6D-AF60-C7D5-742E1AA17706}" name="Hirschbühl, Tina (CDE)" initials="TH" userId="S::tina.hirschbuehl@unibe.ch::8a89f6e5-4fcc-4044-9b9a-20974124ec4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9BD67F-CA34-43CD-8F06-028F73362244}" v="8" dt="2026-08-26T08:58:57.2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3278" autoAdjust="0"/>
  </p:normalViewPr>
  <p:slideViewPr>
    <p:cSldViewPr snapToGrid="0">
      <p:cViewPr varScale="1">
        <p:scale>
          <a:sx n="69" d="100"/>
          <a:sy n="69" d="100"/>
        </p:scale>
        <p:origin x="84" y="564"/>
      </p:cViewPr>
      <p:guideLst>
        <p:guide pos="360"/>
        <p:guide pos="7392"/>
        <p:guide orient="horz" pos="2160"/>
      </p:guideLst>
    </p:cSldViewPr>
  </p:slideViewPr>
  <p:notesTextViewPr>
    <p:cViewPr>
      <p:scale>
        <a:sx n="1" d="1"/>
        <a:sy n="1" d="1"/>
      </p:scale>
      <p:origin x="0" y="0"/>
    </p:cViewPr>
  </p:notesTextViewPr>
  <p:sorterViewPr>
    <p:cViewPr>
      <p:scale>
        <a:sx n="100" d="100"/>
        <a:sy n="100" d="100"/>
      </p:scale>
      <p:origin x="0" y="-480"/>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8/10/relationships/authors" Target="authors.xml"/></Relationships>
</file>

<file path=ppt/diagrams/_rels/data1.xml.rels><?xml version="1.0" encoding="UTF-8" standalone="yes"?>
<Relationships xmlns="http://schemas.openxmlformats.org/package/2006/relationships"><Relationship Id="rId2" Type="http://schemas.openxmlformats.org/officeDocument/2006/relationships/image" Target="../media/image37.svg"/><Relationship Id="rId1" Type="http://schemas.openxmlformats.org/officeDocument/2006/relationships/image" Target="../media/image36.svg"/></Relationships>
</file>

<file path=ppt/diagrams/_rels/drawing1.xml.rels><?xml version="1.0" encoding="UTF-8" standalone="yes"?>
<Relationships xmlns="http://schemas.openxmlformats.org/package/2006/relationships"><Relationship Id="rId2" Type="http://schemas.openxmlformats.org/officeDocument/2006/relationships/image" Target="../media/image37.svg"/><Relationship Id="rId1" Type="http://schemas.openxmlformats.org/officeDocument/2006/relationships/image" Target="../media/image36.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7E4EF0E9-6D79-4F9D-A4BE-CAC57F1F11F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1A529A8-7521-471F-A6F3-F9F9E4F700CA}">
      <dgm:prSet/>
      <dgm:spPr/>
      <dgm:t>
        <a:bodyPr/>
        <a:lstStyle/>
        <a:p>
          <a:r>
            <a:rPr lang="en-GB" b="0" i="0" u="none" dirty="0"/>
            <a:t>Find a topic related to SD in your discipline. </a:t>
          </a:r>
          <a:r>
            <a:rPr lang="de-CH" b="0" i="0" u="none" dirty="0" err="1"/>
            <a:t>Develop</a:t>
          </a:r>
          <a:r>
            <a:rPr lang="de-CH" b="0" i="0" u="none" dirty="0"/>
            <a:t> a </a:t>
          </a:r>
          <a:r>
            <a:rPr lang="de-CH" b="0" i="0" u="none" dirty="0" err="1"/>
            <a:t>lesson</a:t>
          </a:r>
          <a:r>
            <a:rPr lang="de-CH" b="0" i="0" u="none" dirty="0"/>
            <a:t>/</a:t>
          </a:r>
          <a:r>
            <a:rPr lang="de-CH" b="0" i="0" u="none" dirty="0" err="1"/>
            <a:t>session</a:t>
          </a:r>
          <a:r>
            <a:rPr lang="de-CH" b="0" i="0" u="none" dirty="0"/>
            <a:t> </a:t>
          </a:r>
          <a:r>
            <a:rPr lang="de-CH" b="0" i="0" u="none" dirty="0" err="1"/>
            <a:t>based</a:t>
          </a:r>
          <a:r>
            <a:rPr lang="de-CH" b="0" i="0" u="none" dirty="0"/>
            <a:t> on </a:t>
          </a:r>
          <a:r>
            <a:rPr lang="de-CH" b="0" i="0" u="none" dirty="0" err="1"/>
            <a:t>constructive</a:t>
          </a:r>
          <a:r>
            <a:rPr lang="de-CH" b="0" i="0" u="none" dirty="0"/>
            <a:t> </a:t>
          </a:r>
          <a:r>
            <a:rPr lang="de-CH" b="0" i="0" u="none" dirty="0" err="1"/>
            <a:t>alignment</a:t>
          </a:r>
          <a:r>
            <a:rPr lang="de-CH" b="0" i="0" u="none" dirty="0"/>
            <a:t>: </a:t>
          </a:r>
          <a:r>
            <a:rPr lang="en-GB" b="0" i="0" u="none" dirty="0"/>
            <a:t>Formulate at least three learning outcomes, corresponding learning activities (that actively engage students in understanding and applying SD and ESD principles) and d</a:t>
          </a:r>
          <a:r>
            <a:rPr lang="de-CH" b="0" i="0" u="none" dirty="0" err="1"/>
            <a:t>esign</a:t>
          </a:r>
          <a:r>
            <a:rPr lang="de-CH" b="0" i="0" u="none" dirty="0"/>
            <a:t> an </a:t>
          </a:r>
          <a:r>
            <a:rPr lang="de-CH" b="0" i="0" u="none" dirty="0" err="1"/>
            <a:t>assessment</a:t>
          </a:r>
          <a:r>
            <a:rPr lang="de-CH" b="0" i="0" u="none" dirty="0"/>
            <a:t> </a:t>
          </a:r>
          <a:r>
            <a:rPr lang="de-CH" b="0" i="0" u="none" dirty="0" err="1"/>
            <a:t>format</a:t>
          </a:r>
          <a:r>
            <a:rPr lang="de-CH" b="0" i="0" u="none" dirty="0"/>
            <a:t>.</a:t>
          </a:r>
          <a:endParaRPr lang="en-CH" b="0" i="0" u="none" dirty="0"/>
        </a:p>
      </dgm:t>
    </dgm:pt>
    <dgm:pt modelId="{F735AFD1-C440-4E38-BA54-78F5F2D4FAA2}" type="parTrans" cxnId="{C056C837-18CE-4769-8912-99F75EB22A80}">
      <dgm:prSet/>
      <dgm:spPr/>
      <dgm:t>
        <a:bodyPr/>
        <a:lstStyle/>
        <a:p>
          <a:endParaRPr lang="en-US"/>
        </a:p>
      </dgm:t>
    </dgm:pt>
    <dgm:pt modelId="{009C820E-762E-4145-89C6-694CF7063118}" type="sibTrans" cxnId="{C056C837-18CE-4769-8912-99F75EB22A80}">
      <dgm:prSet/>
      <dgm:spPr/>
      <dgm:t>
        <a:bodyPr/>
        <a:lstStyle/>
        <a:p>
          <a:endParaRPr lang="en-US"/>
        </a:p>
      </dgm:t>
    </dgm:pt>
    <dgm:pt modelId="{F7C0BD3D-5703-471C-BB10-AF4231006F2E}">
      <dgm:prSet/>
      <dgm:spPr/>
      <dgm:t>
        <a:bodyPr/>
        <a:lstStyle/>
        <a:p>
          <a:pPr rtl="0"/>
          <a:r>
            <a:rPr lang="en-GB" dirty="0"/>
            <a:t>Be prepared to present and discuss your developed action plan in session 4.</a:t>
          </a:r>
          <a:endParaRPr lang="en-US" dirty="0"/>
        </a:p>
      </dgm:t>
    </dgm:pt>
    <dgm:pt modelId="{CED3DBF0-D196-4D21-90E3-3CA44DF28B93}" type="parTrans" cxnId="{BD8AE978-A34F-4FB8-805B-F8C4595FCA93}">
      <dgm:prSet/>
      <dgm:spPr/>
      <dgm:t>
        <a:bodyPr/>
        <a:lstStyle/>
        <a:p>
          <a:endParaRPr lang="en-US"/>
        </a:p>
      </dgm:t>
    </dgm:pt>
    <dgm:pt modelId="{557488DF-5565-4F35-B708-9AF66628F3B0}" type="sibTrans" cxnId="{BD8AE978-A34F-4FB8-805B-F8C4595FCA93}">
      <dgm:prSet/>
      <dgm:spPr/>
      <dgm:t>
        <a:bodyPr/>
        <a:lstStyle/>
        <a:p>
          <a:endParaRPr lang="en-US"/>
        </a:p>
      </dgm:t>
    </dgm:pt>
    <dgm:pt modelId="{450B8A62-2D32-431D-BEAF-CBA43D3C82F7}" type="pres">
      <dgm:prSet presAssocID="{7E4EF0E9-6D79-4F9D-A4BE-CAC57F1F11F5}" presName="root" presStyleCnt="0">
        <dgm:presLayoutVars>
          <dgm:dir/>
          <dgm:resizeHandles val="exact"/>
        </dgm:presLayoutVars>
      </dgm:prSet>
      <dgm:spPr/>
    </dgm:pt>
    <dgm:pt modelId="{BE1310CC-FF54-4C7A-8140-61686FA00F13}" type="pres">
      <dgm:prSet presAssocID="{71A529A8-7521-471F-A6F3-F9F9E4F700CA}" presName="compNode" presStyleCnt="0"/>
      <dgm:spPr/>
    </dgm:pt>
    <dgm:pt modelId="{117561BB-C063-454A-8961-47E380446FCD}" type="pres">
      <dgm:prSet presAssocID="{71A529A8-7521-471F-A6F3-F9F9E4F700CA}" presName="bgRect" presStyleLbl="bgShp" presStyleIdx="0" presStyleCnt="2"/>
      <dgm:spPr/>
    </dgm:pt>
    <dgm:pt modelId="{DEDC603E-BEA1-4463-A7CE-436A544FB91E}" type="pres">
      <dgm:prSet presAssocID="{71A529A8-7521-471F-A6F3-F9F9E4F700CA}"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assroom"/>
        </a:ext>
      </dgm:extLst>
    </dgm:pt>
    <dgm:pt modelId="{936D9B85-AD16-4F51-A196-E34EB5DCF1C5}" type="pres">
      <dgm:prSet presAssocID="{71A529A8-7521-471F-A6F3-F9F9E4F700CA}" presName="spaceRect" presStyleCnt="0"/>
      <dgm:spPr/>
    </dgm:pt>
    <dgm:pt modelId="{A041FE1A-FB96-4FAF-98AC-F952948EB6C1}" type="pres">
      <dgm:prSet presAssocID="{71A529A8-7521-471F-A6F3-F9F9E4F700CA}" presName="parTx" presStyleLbl="revTx" presStyleIdx="0" presStyleCnt="2">
        <dgm:presLayoutVars>
          <dgm:chMax val="0"/>
          <dgm:chPref val="0"/>
        </dgm:presLayoutVars>
      </dgm:prSet>
      <dgm:spPr/>
    </dgm:pt>
    <dgm:pt modelId="{C32E24DC-2E88-47F3-A948-8E9CEA58E680}" type="pres">
      <dgm:prSet presAssocID="{009C820E-762E-4145-89C6-694CF7063118}" presName="sibTrans" presStyleCnt="0"/>
      <dgm:spPr/>
    </dgm:pt>
    <dgm:pt modelId="{920A2B44-F668-4091-9903-3E2CF60D566A}" type="pres">
      <dgm:prSet presAssocID="{F7C0BD3D-5703-471C-BB10-AF4231006F2E}" presName="compNode" presStyleCnt="0"/>
      <dgm:spPr/>
    </dgm:pt>
    <dgm:pt modelId="{D11B8DE9-2748-4F3E-B571-385DD68FC556}" type="pres">
      <dgm:prSet presAssocID="{F7C0BD3D-5703-471C-BB10-AF4231006F2E}" presName="bgRect" presStyleLbl="bgShp" presStyleIdx="1" presStyleCnt="2"/>
      <dgm:spPr/>
    </dgm:pt>
    <dgm:pt modelId="{27DBE5DF-0642-4221-A2FA-A721719ECFDC}" type="pres">
      <dgm:prSet presAssocID="{F7C0BD3D-5703-471C-BB10-AF4231006F2E}"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ard Room"/>
        </a:ext>
      </dgm:extLst>
    </dgm:pt>
    <dgm:pt modelId="{FD77FC02-D637-4575-A8C6-43F01D7646D5}" type="pres">
      <dgm:prSet presAssocID="{F7C0BD3D-5703-471C-BB10-AF4231006F2E}" presName="spaceRect" presStyleCnt="0"/>
      <dgm:spPr/>
    </dgm:pt>
    <dgm:pt modelId="{B0F2BA25-197C-4678-8872-61BCB07FD70F}" type="pres">
      <dgm:prSet presAssocID="{F7C0BD3D-5703-471C-BB10-AF4231006F2E}" presName="parTx" presStyleLbl="revTx" presStyleIdx="1" presStyleCnt="2">
        <dgm:presLayoutVars>
          <dgm:chMax val="0"/>
          <dgm:chPref val="0"/>
        </dgm:presLayoutVars>
      </dgm:prSet>
      <dgm:spPr/>
    </dgm:pt>
  </dgm:ptLst>
  <dgm:cxnLst>
    <dgm:cxn modelId="{C056C837-18CE-4769-8912-99F75EB22A80}" srcId="{7E4EF0E9-6D79-4F9D-A4BE-CAC57F1F11F5}" destId="{71A529A8-7521-471F-A6F3-F9F9E4F700CA}" srcOrd="0" destOrd="0" parTransId="{F735AFD1-C440-4E38-BA54-78F5F2D4FAA2}" sibTransId="{009C820E-762E-4145-89C6-694CF7063118}"/>
    <dgm:cxn modelId="{4AFF105B-469D-4311-B17E-15626DF32046}" type="presOf" srcId="{F7C0BD3D-5703-471C-BB10-AF4231006F2E}" destId="{B0F2BA25-197C-4678-8872-61BCB07FD70F}" srcOrd="0" destOrd="0" presId="urn:microsoft.com/office/officeart/2018/2/layout/IconVerticalSolidList"/>
    <dgm:cxn modelId="{BD8AE978-A34F-4FB8-805B-F8C4595FCA93}" srcId="{7E4EF0E9-6D79-4F9D-A4BE-CAC57F1F11F5}" destId="{F7C0BD3D-5703-471C-BB10-AF4231006F2E}" srcOrd="1" destOrd="0" parTransId="{CED3DBF0-D196-4D21-90E3-3CA44DF28B93}" sibTransId="{557488DF-5565-4F35-B708-9AF66628F3B0}"/>
    <dgm:cxn modelId="{DA7530A9-A189-4318-B199-C1294BFD092D}" type="presOf" srcId="{71A529A8-7521-471F-A6F3-F9F9E4F700CA}" destId="{A041FE1A-FB96-4FAF-98AC-F952948EB6C1}" srcOrd="0" destOrd="0" presId="urn:microsoft.com/office/officeart/2018/2/layout/IconVerticalSolidList"/>
    <dgm:cxn modelId="{4FFC09CB-2969-41D7-B78E-60842D8E8F7B}" type="presOf" srcId="{7E4EF0E9-6D79-4F9D-A4BE-CAC57F1F11F5}" destId="{450B8A62-2D32-431D-BEAF-CBA43D3C82F7}" srcOrd="0" destOrd="0" presId="urn:microsoft.com/office/officeart/2018/2/layout/IconVerticalSolidList"/>
    <dgm:cxn modelId="{6AB87212-F8AB-401A-9B29-33887E11A432}" type="presParOf" srcId="{450B8A62-2D32-431D-BEAF-CBA43D3C82F7}" destId="{BE1310CC-FF54-4C7A-8140-61686FA00F13}" srcOrd="0" destOrd="0" presId="urn:microsoft.com/office/officeart/2018/2/layout/IconVerticalSolidList"/>
    <dgm:cxn modelId="{FA0E29E8-0B8B-422B-8865-ACBBBC5600F0}" type="presParOf" srcId="{BE1310CC-FF54-4C7A-8140-61686FA00F13}" destId="{117561BB-C063-454A-8961-47E380446FCD}" srcOrd="0" destOrd="0" presId="urn:microsoft.com/office/officeart/2018/2/layout/IconVerticalSolidList"/>
    <dgm:cxn modelId="{20700D44-875F-48CF-A7DA-E3D92252729C}" type="presParOf" srcId="{BE1310CC-FF54-4C7A-8140-61686FA00F13}" destId="{DEDC603E-BEA1-4463-A7CE-436A544FB91E}" srcOrd="1" destOrd="0" presId="urn:microsoft.com/office/officeart/2018/2/layout/IconVerticalSolidList"/>
    <dgm:cxn modelId="{3EB4718B-90C2-4D63-BB47-F5EC8CFAB7A3}" type="presParOf" srcId="{BE1310CC-FF54-4C7A-8140-61686FA00F13}" destId="{936D9B85-AD16-4F51-A196-E34EB5DCF1C5}" srcOrd="2" destOrd="0" presId="urn:microsoft.com/office/officeart/2018/2/layout/IconVerticalSolidList"/>
    <dgm:cxn modelId="{E5DF2A85-2948-4431-8E9B-501E717898EE}" type="presParOf" srcId="{BE1310CC-FF54-4C7A-8140-61686FA00F13}" destId="{A041FE1A-FB96-4FAF-98AC-F952948EB6C1}" srcOrd="3" destOrd="0" presId="urn:microsoft.com/office/officeart/2018/2/layout/IconVerticalSolidList"/>
    <dgm:cxn modelId="{7ABD0F2D-BDAA-42A9-8FB6-28AEEEFB8F38}" type="presParOf" srcId="{450B8A62-2D32-431D-BEAF-CBA43D3C82F7}" destId="{C32E24DC-2E88-47F3-A948-8E9CEA58E680}" srcOrd="1" destOrd="0" presId="urn:microsoft.com/office/officeart/2018/2/layout/IconVerticalSolidList"/>
    <dgm:cxn modelId="{A26FF2E2-99E7-4F4B-A2B6-E421FFB9AA34}" type="presParOf" srcId="{450B8A62-2D32-431D-BEAF-CBA43D3C82F7}" destId="{920A2B44-F668-4091-9903-3E2CF60D566A}" srcOrd="2" destOrd="0" presId="urn:microsoft.com/office/officeart/2018/2/layout/IconVerticalSolidList"/>
    <dgm:cxn modelId="{2BD3FF5E-4FA7-4850-9D9A-707FC87AC67F}" type="presParOf" srcId="{920A2B44-F668-4091-9903-3E2CF60D566A}" destId="{D11B8DE9-2748-4F3E-B571-385DD68FC556}" srcOrd="0" destOrd="0" presId="urn:microsoft.com/office/officeart/2018/2/layout/IconVerticalSolidList"/>
    <dgm:cxn modelId="{C99ED5C6-1E41-4526-9FC4-462858BCAC29}" type="presParOf" srcId="{920A2B44-F668-4091-9903-3E2CF60D566A}" destId="{27DBE5DF-0642-4221-A2FA-A721719ECFDC}" srcOrd="1" destOrd="0" presId="urn:microsoft.com/office/officeart/2018/2/layout/IconVerticalSolidList"/>
    <dgm:cxn modelId="{B3E6E961-1AA7-4F05-ADAA-FD72904AFC55}" type="presParOf" srcId="{920A2B44-F668-4091-9903-3E2CF60D566A}" destId="{FD77FC02-D637-4575-A8C6-43F01D7646D5}" srcOrd="2" destOrd="0" presId="urn:microsoft.com/office/officeart/2018/2/layout/IconVerticalSolidList"/>
    <dgm:cxn modelId="{D2856824-A932-4BEF-8C98-FC83324DF1C6}" type="presParOf" srcId="{920A2B44-F668-4091-9903-3E2CF60D566A}" destId="{B0F2BA25-197C-4678-8872-61BCB07FD70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7561BB-C063-454A-8961-47E380446FCD}">
      <dsp:nvSpPr>
        <dsp:cNvPr id="0" name=""/>
        <dsp:cNvSpPr/>
      </dsp:nvSpPr>
      <dsp:spPr>
        <a:xfrm>
          <a:off x="0" y="708097"/>
          <a:ext cx="10515600" cy="1307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DC603E-BEA1-4463-A7CE-436A544FB91E}">
      <dsp:nvSpPr>
        <dsp:cNvPr id="0" name=""/>
        <dsp:cNvSpPr/>
      </dsp:nvSpPr>
      <dsp:spPr>
        <a:xfrm>
          <a:off x="395445" y="1002230"/>
          <a:ext cx="718991" cy="7189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41FE1A-FB96-4FAF-98AC-F952948EB6C1}">
      <dsp:nvSpPr>
        <dsp:cNvPr id="0" name=""/>
        <dsp:cNvSpPr/>
      </dsp:nvSpPr>
      <dsp:spPr>
        <a:xfrm>
          <a:off x="1509882" y="708097"/>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800100">
            <a:lnSpc>
              <a:spcPct val="90000"/>
            </a:lnSpc>
            <a:spcBef>
              <a:spcPct val="0"/>
            </a:spcBef>
            <a:spcAft>
              <a:spcPct val="35000"/>
            </a:spcAft>
            <a:buNone/>
          </a:pPr>
          <a:r>
            <a:rPr lang="en-GB" sz="1800" b="0" i="0" u="none" kern="1200" dirty="0"/>
            <a:t>Find a topic related to SD in your discipline. </a:t>
          </a:r>
          <a:r>
            <a:rPr lang="de-CH" sz="1800" b="0" i="0" u="none" kern="1200" dirty="0" err="1"/>
            <a:t>Develop</a:t>
          </a:r>
          <a:r>
            <a:rPr lang="de-CH" sz="1800" b="0" i="0" u="none" kern="1200" dirty="0"/>
            <a:t> a </a:t>
          </a:r>
          <a:r>
            <a:rPr lang="de-CH" sz="1800" b="0" i="0" u="none" kern="1200" dirty="0" err="1"/>
            <a:t>lesson</a:t>
          </a:r>
          <a:r>
            <a:rPr lang="de-CH" sz="1800" b="0" i="0" u="none" kern="1200" dirty="0"/>
            <a:t>/</a:t>
          </a:r>
          <a:r>
            <a:rPr lang="de-CH" sz="1800" b="0" i="0" u="none" kern="1200" dirty="0" err="1"/>
            <a:t>session</a:t>
          </a:r>
          <a:r>
            <a:rPr lang="de-CH" sz="1800" b="0" i="0" u="none" kern="1200" dirty="0"/>
            <a:t> </a:t>
          </a:r>
          <a:r>
            <a:rPr lang="de-CH" sz="1800" b="0" i="0" u="none" kern="1200" dirty="0" err="1"/>
            <a:t>based</a:t>
          </a:r>
          <a:r>
            <a:rPr lang="de-CH" sz="1800" b="0" i="0" u="none" kern="1200" dirty="0"/>
            <a:t> on </a:t>
          </a:r>
          <a:r>
            <a:rPr lang="de-CH" sz="1800" b="0" i="0" u="none" kern="1200" dirty="0" err="1"/>
            <a:t>constructive</a:t>
          </a:r>
          <a:r>
            <a:rPr lang="de-CH" sz="1800" b="0" i="0" u="none" kern="1200" dirty="0"/>
            <a:t> </a:t>
          </a:r>
          <a:r>
            <a:rPr lang="de-CH" sz="1800" b="0" i="0" u="none" kern="1200" dirty="0" err="1"/>
            <a:t>alignment</a:t>
          </a:r>
          <a:r>
            <a:rPr lang="de-CH" sz="1800" b="0" i="0" u="none" kern="1200" dirty="0"/>
            <a:t>: </a:t>
          </a:r>
          <a:r>
            <a:rPr lang="en-GB" sz="1800" b="0" i="0" u="none" kern="1200" dirty="0"/>
            <a:t>Formulate at least three learning outcomes, corresponding learning activities (that actively engage students in understanding and applying SD and ESD principles) and d</a:t>
          </a:r>
          <a:r>
            <a:rPr lang="de-CH" sz="1800" b="0" i="0" u="none" kern="1200" dirty="0" err="1"/>
            <a:t>esign</a:t>
          </a:r>
          <a:r>
            <a:rPr lang="de-CH" sz="1800" b="0" i="0" u="none" kern="1200" dirty="0"/>
            <a:t> an </a:t>
          </a:r>
          <a:r>
            <a:rPr lang="de-CH" sz="1800" b="0" i="0" u="none" kern="1200" dirty="0" err="1"/>
            <a:t>assessment</a:t>
          </a:r>
          <a:r>
            <a:rPr lang="de-CH" sz="1800" b="0" i="0" u="none" kern="1200" dirty="0"/>
            <a:t> </a:t>
          </a:r>
          <a:r>
            <a:rPr lang="de-CH" sz="1800" b="0" i="0" u="none" kern="1200" dirty="0" err="1"/>
            <a:t>format</a:t>
          </a:r>
          <a:r>
            <a:rPr lang="de-CH" sz="1800" b="0" i="0" u="none" kern="1200" dirty="0"/>
            <a:t>.</a:t>
          </a:r>
          <a:endParaRPr lang="en-CH" sz="1800" b="0" i="0" u="none" kern="1200" dirty="0"/>
        </a:p>
      </dsp:txBody>
      <dsp:txXfrm>
        <a:off x="1509882" y="708097"/>
        <a:ext cx="9005717" cy="1307257"/>
      </dsp:txXfrm>
    </dsp:sp>
    <dsp:sp modelId="{D11B8DE9-2748-4F3E-B571-385DD68FC556}">
      <dsp:nvSpPr>
        <dsp:cNvPr id="0" name=""/>
        <dsp:cNvSpPr/>
      </dsp:nvSpPr>
      <dsp:spPr>
        <a:xfrm>
          <a:off x="0" y="2342169"/>
          <a:ext cx="10515600" cy="13072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DBE5DF-0642-4221-A2FA-A721719ECFDC}">
      <dsp:nvSpPr>
        <dsp:cNvPr id="0" name=""/>
        <dsp:cNvSpPr/>
      </dsp:nvSpPr>
      <dsp:spPr>
        <a:xfrm>
          <a:off x="395445" y="2636302"/>
          <a:ext cx="718991" cy="7189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F2BA25-197C-4678-8872-61BCB07FD70F}">
      <dsp:nvSpPr>
        <dsp:cNvPr id="0" name=""/>
        <dsp:cNvSpPr/>
      </dsp:nvSpPr>
      <dsp:spPr>
        <a:xfrm>
          <a:off x="1509882" y="2342169"/>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800100" rtl="0">
            <a:lnSpc>
              <a:spcPct val="90000"/>
            </a:lnSpc>
            <a:spcBef>
              <a:spcPct val="0"/>
            </a:spcBef>
            <a:spcAft>
              <a:spcPct val="35000"/>
            </a:spcAft>
            <a:buNone/>
          </a:pPr>
          <a:r>
            <a:rPr lang="en-GB" sz="1800" kern="1200" dirty="0"/>
            <a:t>Be prepared to present and discuss your developed action plan in session 4.</a:t>
          </a:r>
          <a:endParaRPr lang="en-US" sz="1800" kern="1200" dirty="0"/>
        </a:p>
      </dsp:txBody>
      <dsp:txXfrm>
        <a:off x="1509882" y="2342169"/>
        <a:ext cx="9005717" cy="130725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B018AA-DEA7-448F-AE2F-C3D13A0F02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FB87A71-96EB-4108-95A3-855A4C3601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8647F05-0506-494A-8060-3F395B947DF9}" type="datetimeFigureOut">
              <a:rPr lang="en-US" smtClean="0"/>
              <a:t>8/27/2026</a:t>
            </a:fld>
            <a:endParaRPr lang="en-US" dirty="0"/>
          </a:p>
        </p:txBody>
      </p:sp>
      <p:sp>
        <p:nvSpPr>
          <p:cNvPr id="4" name="Footer Placeholder 3">
            <a:extLst>
              <a:ext uri="{FF2B5EF4-FFF2-40B4-BE49-F238E27FC236}">
                <a16:creationId xmlns:a16="http://schemas.microsoft.com/office/drawing/2014/main" id="{9445591A-E83D-4F8A-B064-12B29D3154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7AF2308-535F-471C-9423-3467454C92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61E857-36B8-43F1-9D87-FE508167BCE3}" type="slidenum">
              <a:rPr lang="en-US" smtClean="0"/>
              <a:t>‹#›</a:t>
            </a:fld>
            <a:endParaRPr lang="en-US" dirty="0"/>
          </a:p>
        </p:txBody>
      </p:sp>
    </p:spTree>
    <p:extLst>
      <p:ext uri="{BB962C8B-B14F-4D97-AF65-F5344CB8AC3E}">
        <p14:creationId xmlns:p14="http://schemas.microsoft.com/office/powerpoint/2010/main" val="14002314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BC0A13-3F3D-45D4-B17C-1E0ACF36A6FB}" type="datetimeFigureOut">
              <a:rPr lang="en-US" smtClean="0"/>
              <a:t>8/27/2026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FAAAB6-A2C6-4A85-A3A1-98EFBA61C967}" type="slidenum">
              <a:rPr lang="en-US" smtClean="0"/>
              <a:t>‹#›</a:t>
            </a:fld>
            <a:endParaRPr lang="en-US" dirty="0"/>
          </a:p>
        </p:txBody>
      </p:sp>
    </p:spTree>
    <p:extLst>
      <p:ext uri="{BB962C8B-B14F-4D97-AF65-F5344CB8AC3E}">
        <p14:creationId xmlns:p14="http://schemas.microsoft.com/office/powerpoint/2010/main" val="2076752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padlet.com/SLBScMScNE/take-a-few-minutes-to-write-down-the-most-difficult-or-confu-4qbgbhljl3akhm0x"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effectLst/>
              <a:latin typeface="Segoe UI" panose="020B0502040204020203" pitchFamily="34" charset="0"/>
            </a:endParaRPr>
          </a:p>
          <a:p>
            <a:r>
              <a:rPr lang="en-US" dirty="0"/>
              <a:t>ID=d924773e-9a16-4d6d-9803-8cb819e99682
Recipe=text_billboard
Type=TextOnly
Variant=0
FamilyID=AccentBoxWalbaum_Zero</a:t>
            </a:r>
          </a:p>
        </p:txBody>
      </p:sp>
      <p:sp>
        <p:nvSpPr>
          <p:cNvPr id="4" name="Slide Number Placeholder 3"/>
          <p:cNvSpPr>
            <a:spLocks noGrp="1"/>
          </p:cNvSpPr>
          <p:nvPr>
            <p:ph type="sldNum" sz="quarter" idx="5"/>
          </p:nvPr>
        </p:nvSpPr>
        <p:spPr/>
        <p:txBody>
          <a:bodyPr/>
          <a:lstStyle/>
          <a:p>
            <a:fld id="{8EAA36B1-75F6-458C-B388-8BC01E9857C8}" type="slidenum">
              <a:rPr lang="en-US" smtClean="0"/>
              <a:t>1</a:t>
            </a:fld>
            <a:endParaRPr lang="en-US" dirty="0"/>
          </a:p>
        </p:txBody>
      </p:sp>
    </p:spTree>
    <p:extLst>
      <p:ext uri="{BB962C8B-B14F-4D97-AF65-F5344CB8AC3E}">
        <p14:creationId xmlns:p14="http://schemas.microsoft.com/office/powerpoint/2010/main" val="270320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a:p>
            <a:endParaRPr lang="en-GB" dirty="0"/>
          </a:p>
        </p:txBody>
      </p:sp>
      <p:sp>
        <p:nvSpPr>
          <p:cNvPr id="4" name="Slide Number Placeholder 3"/>
          <p:cNvSpPr>
            <a:spLocks noGrp="1"/>
          </p:cNvSpPr>
          <p:nvPr>
            <p:ph type="sldNum" sz="quarter" idx="5"/>
          </p:nvPr>
        </p:nvSpPr>
        <p:spPr/>
        <p:txBody>
          <a:bodyPr/>
          <a:lstStyle/>
          <a:p>
            <a:fld id="{BCFAAAB6-A2C6-4A85-A3A1-98EFBA61C967}" type="slidenum">
              <a:rPr lang="en-US" smtClean="0"/>
              <a:t>8</a:t>
            </a:fld>
            <a:endParaRPr lang="en-US" dirty="0"/>
          </a:p>
        </p:txBody>
      </p:sp>
    </p:spTree>
    <p:extLst>
      <p:ext uri="{BB962C8B-B14F-4D97-AF65-F5344CB8AC3E}">
        <p14:creationId xmlns:p14="http://schemas.microsoft.com/office/powerpoint/2010/main" val="40613398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dirty="0" err="1"/>
              <a:t>UNESCO’s</a:t>
            </a:r>
            <a:r>
              <a:rPr lang="de-CH" dirty="0"/>
              <a:t> Roadmap </a:t>
            </a:r>
            <a:r>
              <a:rPr lang="de-CH" dirty="0" err="1"/>
              <a:t>report</a:t>
            </a:r>
            <a:r>
              <a:rPr lang="de-CH" dirty="0"/>
              <a:t> </a:t>
            </a:r>
            <a:r>
              <a:rPr lang="de-CH" dirty="0" err="1"/>
              <a:t>can</a:t>
            </a:r>
            <a:r>
              <a:rPr lang="de-CH" dirty="0"/>
              <a:t> </a:t>
            </a:r>
            <a:r>
              <a:rPr lang="de-CH" dirty="0" err="1"/>
              <a:t>be</a:t>
            </a:r>
            <a:r>
              <a:rPr lang="de-CH" dirty="0"/>
              <a:t> </a:t>
            </a:r>
            <a:r>
              <a:rPr lang="de-CH" dirty="0" err="1"/>
              <a:t>downloaded</a:t>
            </a:r>
            <a:r>
              <a:rPr lang="de-CH" dirty="0"/>
              <a:t> </a:t>
            </a:r>
            <a:r>
              <a:rPr lang="de-CH" dirty="0" err="1"/>
              <a:t>here</a:t>
            </a:r>
            <a:r>
              <a:rPr lang="de-CH"/>
              <a:t>: https://unesdoc.unesco.org/ark:/48223/pf0000374802.locale=en</a:t>
            </a:r>
          </a:p>
          <a:p>
            <a:endParaRPr lang="en-GB" dirty="0"/>
          </a:p>
        </p:txBody>
      </p:sp>
      <p:sp>
        <p:nvSpPr>
          <p:cNvPr id="4" name="Slide Number Placeholder 3"/>
          <p:cNvSpPr>
            <a:spLocks noGrp="1"/>
          </p:cNvSpPr>
          <p:nvPr>
            <p:ph type="sldNum" sz="quarter" idx="5"/>
          </p:nvPr>
        </p:nvSpPr>
        <p:spPr/>
        <p:txBody>
          <a:bodyPr/>
          <a:lstStyle/>
          <a:p>
            <a:fld id="{BCFAAAB6-A2C6-4A85-A3A1-98EFBA61C967}" type="slidenum">
              <a:rPr lang="en-US" smtClean="0"/>
              <a:t>9</a:t>
            </a:fld>
            <a:endParaRPr lang="en-US" dirty="0"/>
          </a:p>
        </p:txBody>
      </p:sp>
    </p:spTree>
    <p:extLst>
      <p:ext uri="{BB962C8B-B14F-4D97-AF65-F5344CB8AC3E}">
        <p14:creationId xmlns:p14="http://schemas.microsoft.com/office/powerpoint/2010/main" val="3789663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CH" dirty="0"/>
          </a:p>
          <a:p>
            <a:endParaRPr lang="en-GB" dirty="0"/>
          </a:p>
        </p:txBody>
      </p:sp>
      <p:sp>
        <p:nvSpPr>
          <p:cNvPr id="4" name="Slide Number Placeholder 3"/>
          <p:cNvSpPr>
            <a:spLocks noGrp="1"/>
          </p:cNvSpPr>
          <p:nvPr>
            <p:ph type="sldNum" sz="quarter" idx="5"/>
          </p:nvPr>
        </p:nvSpPr>
        <p:spPr/>
        <p:txBody>
          <a:bodyPr/>
          <a:lstStyle/>
          <a:p>
            <a:fld id="{BCFAAAB6-A2C6-4A85-A3A1-98EFBA61C967}" type="slidenum">
              <a:rPr lang="en-US" smtClean="0"/>
              <a:t>10</a:t>
            </a:fld>
            <a:endParaRPr lang="en-US" dirty="0"/>
          </a:p>
        </p:txBody>
      </p:sp>
    </p:spTree>
    <p:extLst>
      <p:ext uri="{BB962C8B-B14F-4D97-AF65-F5344CB8AC3E}">
        <p14:creationId xmlns:p14="http://schemas.microsoft.com/office/powerpoint/2010/main" val="4277526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CFAAAB6-A2C6-4A85-A3A1-98EFBA61C967}" type="slidenum">
              <a:rPr lang="en-US" smtClean="0"/>
              <a:t>11</a:t>
            </a:fld>
            <a:endParaRPr lang="en-US" dirty="0"/>
          </a:p>
        </p:txBody>
      </p:sp>
    </p:spTree>
    <p:extLst>
      <p:ext uri="{BB962C8B-B14F-4D97-AF65-F5344CB8AC3E}">
        <p14:creationId xmlns:p14="http://schemas.microsoft.com/office/powerpoint/2010/main" val="3782080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CFAAAB6-A2C6-4A85-A3A1-98EFBA61C967}" type="slidenum">
              <a:rPr lang="en-US" smtClean="0"/>
              <a:t>12</a:t>
            </a:fld>
            <a:endParaRPr lang="en-US" dirty="0"/>
          </a:p>
        </p:txBody>
      </p:sp>
    </p:spTree>
    <p:extLst>
      <p:ext uri="{BB962C8B-B14F-4D97-AF65-F5344CB8AC3E}">
        <p14:creationId xmlns:p14="http://schemas.microsoft.com/office/powerpoint/2010/main" val="30948250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CFAAAB6-A2C6-4A85-A3A1-98EFBA61C967}" type="slidenum">
              <a:rPr lang="en-US" smtClean="0"/>
              <a:t>13</a:t>
            </a:fld>
            <a:endParaRPr lang="en-US" dirty="0"/>
          </a:p>
        </p:txBody>
      </p:sp>
    </p:spTree>
    <p:extLst>
      <p:ext uri="{BB962C8B-B14F-4D97-AF65-F5344CB8AC3E}">
        <p14:creationId xmlns:p14="http://schemas.microsoft.com/office/powerpoint/2010/main" val="33960741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C8036E-0A21-4240-B26D-F8B65C445AC8}" type="slidenum">
              <a:rPr lang="en-US" smtClean="0"/>
              <a:t>16</a:t>
            </a:fld>
            <a:endParaRPr lang="en-US"/>
          </a:p>
        </p:txBody>
      </p:sp>
    </p:spTree>
    <p:extLst>
      <p:ext uri="{BB962C8B-B14F-4D97-AF65-F5344CB8AC3E}">
        <p14:creationId xmlns:p14="http://schemas.microsoft.com/office/powerpoint/2010/main" val="7543241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
              </a:rPr>
              <a:t>Link from Kenya training: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
              </a:rPr>
              <a:t>https://padlet.com/SLBScMScNE/take-a-few-minutes-to-write-down-the-most-difficult-or-confu-4qbgbhljl3akhm0x</a:t>
            </a:r>
            <a:r>
              <a:rPr lang="en-US" sz="1200" dirty="0"/>
              <a:t> </a:t>
            </a:r>
          </a:p>
          <a:p>
            <a:endParaRPr lang="en-CH" dirty="0"/>
          </a:p>
        </p:txBody>
      </p:sp>
      <p:sp>
        <p:nvSpPr>
          <p:cNvPr id="4" name="Slide Number Placeholder 3"/>
          <p:cNvSpPr>
            <a:spLocks noGrp="1"/>
          </p:cNvSpPr>
          <p:nvPr>
            <p:ph type="sldNum" sz="quarter" idx="5"/>
          </p:nvPr>
        </p:nvSpPr>
        <p:spPr/>
        <p:txBody>
          <a:bodyPr/>
          <a:lstStyle/>
          <a:p>
            <a:fld id="{BCFAAAB6-A2C6-4A85-A3A1-98EFBA61C967}" type="slidenum">
              <a:rPr lang="en-US" smtClean="0"/>
              <a:t>43</a:t>
            </a:fld>
            <a:endParaRPr lang="en-US" dirty="0"/>
          </a:p>
        </p:txBody>
      </p:sp>
    </p:spTree>
    <p:extLst>
      <p:ext uri="{BB962C8B-B14F-4D97-AF65-F5344CB8AC3E}">
        <p14:creationId xmlns:p14="http://schemas.microsoft.com/office/powerpoint/2010/main" val="9444059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BCFAAAB6-A2C6-4A85-A3A1-98EFBA61C967}" type="slidenum">
              <a:rPr lang="en-US" smtClean="0"/>
              <a:t>48</a:t>
            </a:fld>
            <a:endParaRPr lang="en-US"/>
          </a:p>
        </p:txBody>
      </p:sp>
    </p:spTree>
    <p:extLst>
      <p:ext uri="{BB962C8B-B14F-4D97-AF65-F5344CB8AC3E}">
        <p14:creationId xmlns:p14="http://schemas.microsoft.com/office/powerpoint/2010/main" val="3290783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C5C50C9-5CB7-4938-BEDF-DD2FC7529FA9}"/>
              </a:ext>
            </a:extLst>
          </p:cNvPr>
          <p:cNvSpPr/>
          <p:nvPr userDrawn="1"/>
        </p:nvSpPr>
        <p:spPr>
          <a:xfrm>
            <a:off x="1528762" y="1473243"/>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1801368" y="1664208"/>
            <a:ext cx="8586216" cy="2176272"/>
          </a:xfrm>
        </p:spPr>
        <p:txBody>
          <a:bodyPr anchor="ctr">
            <a:normAutofit/>
          </a:bodyPr>
          <a:lstStyle>
            <a:lvl1pPr algn="ctr">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2487168" y="4142232"/>
            <a:ext cx="7223760" cy="685800"/>
          </a:xfrm>
          <a:solidFill>
            <a:schemeClr val="accent1"/>
          </a:solidFill>
        </p:spPr>
        <p:txBody>
          <a:bodyPr anchor="ctr">
            <a:normAutofit/>
          </a:bodyPr>
          <a:lstStyle>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69640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5084064" y="1078992"/>
            <a:ext cx="6272784" cy="1536192"/>
          </a:xfrm>
        </p:spPr>
        <p:txBody>
          <a:bodyPr anchor="b">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5084064" y="3355848"/>
            <a:ext cx="6272784" cy="2825496"/>
          </a:xfrm>
        </p:spPr>
        <p:txBody>
          <a:bodyPr/>
          <a:lstStyle>
            <a:lvl1pPr>
              <a:buNone/>
              <a:defRPr sz="1800"/>
            </a:lvl1pPr>
          </a:lstStyle>
          <a:p>
            <a:pPr lvl="0"/>
            <a:r>
              <a:rPr lang="en-US"/>
              <a:t>Click to edit Master text styles</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905256" y="6356350"/>
            <a:ext cx="2743200" cy="365125"/>
          </a:xfrm>
        </p:spPr>
        <p:txBody>
          <a:bodyPr/>
          <a:lstStyle/>
          <a:p>
            <a:r>
              <a:rPr lang="en-US" dirty="0"/>
              <a:t>9/4/20XX</a:t>
            </a:r>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a:xfrm>
            <a:off x="4041648" y="6356350"/>
            <a:ext cx="4114800" cy="365125"/>
          </a:xfrm>
        </p:spPr>
        <p:txBody>
          <a:bodyPr/>
          <a:lstStyle/>
          <a:p>
            <a:r>
              <a:rPr lang="en-US" dirty="0"/>
              <a:t>Presentation Title</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
        <p:nvSpPr>
          <p:cNvPr id="7" name="Rectangle 6">
            <a:extLst>
              <a:ext uri="{FF2B5EF4-FFF2-40B4-BE49-F238E27FC236}">
                <a16:creationId xmlns:a16="http://schemas.microsoft.com/office/drawing/2014/main" id="{C3EEEC07-DA87-4415-8D6B-72E1B2686535}"/>
              </a:ext>
            </a:extLst>
          </p:cNvPr>
          <p:cNvSpPr/>
          <p:nvPr userDrawn="1"/>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3CC47E32-D289-4A1B-A3C7-A355CD5572E8}"/>
              </a:ext>
            </a:extLst>
          </p:cNvPr>
          <p:cNvSpPr/>
          <p:nvPr userDrawn="1"/>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457200" y="603504"/>
            <a:ext cx="4050792" cy="5577840"/>
          </a:xfrm>
        </p:spPr>
        <p:txBody>
          <a:bodyPr anchor="ct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3812587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612648" y="1078992"/>
            <a:ext cx="6272784" cy="1536192"/>
          </a:xfrm>
        </p:spPr>
        <p:txBody>
          <a:bodyPr anchor="b">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612648" y="3355848"/>
            <a:ext cx="6272784" cy="2825496"/>
          </a:xfrm>
        </p:spPr>
        <p:txBody>
          <a:bodyPr/>
          <a:lstStyle>
            <a:lvl1pPr marL="0" indent="0">
              <a:buNone/>
              <a:defRPr sz="1800"/>
            </a:lvl1pPr>
          </a:lstStyle>
          <a:p>
            <a:pPr lvl="0"/>
            <a:r>
              <a:rPr lang="en-US"/>
              <a:t>Click to edit Master text styles</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5605272" y="6356350"/>
            <a:ext cx="1280160" cy="365125"/>
          </a:xfrm>
        </p:spPr>
        <p:txBody>
          <a:bodyPr/>
          <a:lstStyle/>
          <a:p>
            <a:fld id="{A65A5C87-DF58-40C8-B092-1DE63DB4547E}" type="slidenum">
              <a:rPr lang="en-US" smtClean="0"/>
              <a:t>‹#›</a:t>
            </a:fld>
            <a:endParaRPr lang="en-US" dirty="0"/>
          </a:p>
        </p:txBody>
      </p:sp>
      <p:sp>
        <p:nvSpPr>
          <p:cNvPr id="7" name="Rectangle 6">
            <a:extLst>
              <a:ext uri="{FF2B5EF4-FFF2-40B4-BE49-F238E27FC236}">
                <a16:creationId xmlns:a16="http://schemas.microsoft.com/office/drawing/2014/main" id="{C3EEEC07-DA87-4415-8D6B-72E1B2686535}"/>
              </a:ext>
            </a:extLst>
          </p:cNvPr>
          <p:cNvSpPr/>
          <p:nvPr userDrawn="1"/>
        </p:nvSpPr>
        <p:spPr>
          <a:xfrm rot="5400000">
            <a:off x="850392" y="36576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7680960" y="4352544"/>
            <a:ext cx="4507992" cy="2505456"/>
          </a:xfrm>
        </p:spPr>
        <p:txBody>
          <a:bodyPr anchor="ctr"/>
          <a:lstStyle>
            <a:lvl1pPr algn="ctr">
              <a:buNone/>
              <a:defRPr/>
            </a:lvl1pPr>
          </a:lstStyle>
          <a:p>
            <a:r>
              <a:rPr lang="en-US"/>
              <a:t>Click icon to add picture</a:t>
            </a:r>
            <a:endParaRPr lang="en-US" dirty="0"/>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7680960" y="0"/>
            <a:ext cx="4507992" cy="4123944"/>
          </a:xfrm>
        </p:spPr>
        <p:txBody>
          <a:bodyPr anchor="ctr"/>
          <a:lstStyle>
            <a:lvl1pPr algn="ctr">
              <a:buNone/>
              <a:defRPr/>
            </a:lvl1pPr>
          </a:lstStyle>
          <a:p>
            <a:r>
              <a:rPr lang="en-US"/>
              <a:t>Click icon to add picture</a:t>
            </a:r>
            <a:endParaRPr lang="en-US" dirty="0"/>
          </a:p>
        </p:txBody>
      </p:sp>
      <p:sp>
        <p:nvSpPr>
          <p:cNvPr id="8" name="Rectangle 7">
            <a:extLst>
              <a:ext uri="{FF2B5EF4-FFF2-40B4-BE49-F238E27FC236}">
                <a16:creationId xmlns:a16="http://schemas.microsoft.com/office/drawing/2014/main" id="{EEFA3CC7-31ED-4E5A-87A6-AA1D8F4251FC}"/>
              </a:ext>
            </a:extLst>
          </p:cNvPr>
          <p:cNvSpPr/>
          <p:nvPr userDrawn="1"/>
        </p:nvSpPr>
        <p:spPr>
          <a:xfrm>
            <a:off x="621792"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178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541A812-4D3F-4D65-BA64-BA64E37F2C1D}"/>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1078992" y="1938528"/>
            <a:ext cx="7013448" cy="2990088"/>
          </a:xfrm>
        </p:spPr>
        <p:txBody>
          <a:bodyPr anchor="ctr">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613648" y="1938528"/>
            <a:ext cx="2688336" cy="2990088"/>
          </a:xfrm>
          <a:solidFill>
            <a:schemeClr val="accent1"/>
          </a:solidFill>
        </p:spPr>
        <p:txBody>
          <a:bodyPr anchor="ctr">
            <a:normAutofit/>
          </a:bodyPr>
          <a:lstStyle>
            <a:lvl1pPr marL="0" indent="0">
              <a:buNone/>
              <a:defRPr sz="2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Rectangle 11">
            <a:extLst>
              <a:ext uri="{FF2B5EF4-FFF2-40B4-BE49-F238E27FC236}">
                <a16:creationId xmlns:a16="http://schemas.microsoft.com/office/drawing/2014/main" id="{5716BBE9-8A9C-450B-A235-677945C7ED44}"/>
              </a:ext>
            </a:extLst>
          </p:cNvPr>
          <p:cNvSpPr/>
          <p:nvPr userDrawn="1"/>
        </p:nvSpPr>
        <p:spPr>
          <a:xfrm>
            <a:off x="609084" y="2965074"/>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9855E7BF-3629-4C02-98DF-CFC1C93CE036}"/>
              </a:ext>
            </a:extLst>
          </p:cNvPr>
          <p:cNvSpPr/>
          <p:nvPr userDrawn="1"/>
        </p:nvSpPr>
        <p:spPr>
          <a:xfrm rot="5400000">
            <a:off x="7360539" y="3424428"/>
            <a:ext cx="210312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3540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01852" y="6356350"/>
            <a:ext cx="2743200" cy="365125"/>
          </a:xfrm>
        </p:spPr>
        <p:txBody>
          <a:bodyPr/>
          <a:lstStyle/>
          <a:p>
            <a:r>
              <a:rPr lang="en-US" dirty="0"/>
              <a:t>9/4/20XX</a:t>
            </a:r>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3393869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ctr">
            <a:normAutofit/>
          </a:bodyPr>
          <a:lstStyle>
            <a:lvl1pPr algn="ctr">
              <a:defRPr sz="4800"/>
            </a:lvl1pPr>
          </a:lstStyle>
          <a:p>
            <a:r>
              <a:rPr lang="en-US"/>
              <a:t>Click to edit Master title style</a:t>
            </a:r>
            <a:endParaRPr lang="en-US" dirty="0"/>
          </a:p>
        </p:txBody>
      </p:sp>
      <p:sp useBgFill="1">
        <p:nvSpPr>
          <p:cNvPr id="4" name="Rectangle 3">
            <a:extLst>
              <a:ext uri="{FF2B5EF4-FFF2-40B4-BE49-F238E27FC236}">
                <a16:creationId xmlns:a16="http://schemas.microsoft.com/office/drawing/2014/main" id="{673635DF-99E4-4A0C-A272-D9FF87695DE7}"/>
              </a:ext>
            </a:extLst>
          </p:cNvPr>
          <p:cNvSpPr/>
          <p:nvPr userDrawn="1"/>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5590C76F-6331-4485-AA5B-D61483481F68}"/>
              </a:ext>
            </a:extLst>
          </p:cNvPr>
          <p:cNvSpPr/>
          <p:nvPr userDrawn="1"/>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a:solidFill>
            <a:schemeClr val="accent1"/>
          </a:solidFill>
        </p:spPr>
        <p:txBody>
          <a:bodyPr anchor="ctr">
            <a:norm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Date Placeholder 5">
            <a:extLst>
              <a:ext uri="{FF2B5EF4-FFF2-40B4-BE49-F238E27FC236}">
                <a16:creationId xmlns:a16="http://schemas.microsoft.com/office/drawing/2014/main" id="{ECB2BA4C-9ADA-41DB-B758-9E3CFECDF528}"/>
              </a:ext>
            </a:extLst>
          </p:cNvPr>
          <p:cNvSpPr>
            <a:spLocks noGrp="1"/>
          </p:cNvSpPr>
          <p:nvPr>
            <p:ph type="dt" sz="half" idx="10"/>
          </p:nvPr>
        </p:nvSpPr>
        <p:spPr>
          <a:xfrm>
            <a:off x="905256" y="6356350"/>
            <a:ext cx="2743200" cy="365125"/>
          </a:xfrm>
        </p:spPr>
        <p:txBody>
          <a:bodyPr/>
          <a:lstStyle/>
          <a:p>
            <a:r>
              <a:rPr lang="en-US" dirty="0"/>
              <a:t>9/4/20XX</a:t>
            </a:r>
          </a:p>
        </p:txBody>
      </p:sp>
      <p:sp>
        <p:nvSpPr>
          <p:cNvPr id="10" name="Footer Placeholder 9">
            <a:extLst>
              <a:ext uri="{FF2B5EF4-FFF2-40B4-BE49-F238E27FC236}">
                <a16:creationId xmlns:a16="http://schemas.microsoft.com/office/drawing/2014/main" id="{20957ADB-410A-48BE-AA95-3A708314B02A}"/>
              </a:ext>
            </a:extLst>
          </p:cNvPr>
          <p:cNvSpPr>
            <a:spLocks noGrp="1"/>
          </p:cNvSpPr>
          <p:nvPr>
            <p:ph type="ftr" sz="quarter" idx="11"/>
          </p:nvPr>
        </p:nvSpPr>
        <p:spPr/>
        <p:txBody>
          <a:bodyPr/>
          <a:lstStyle/>
          <a:p>
            <a:r>
              <a:rPr lang="en-US" dirty="0"/>
              <a:t>Presentation Title</a:t>
            </a:r>
          </a:p>
        </p:txBody>
      </p:sp>
      <p:sp>
        <p:nvSpPr>
          <p:cNvPr id="11" name="Slide Number Placeholder 10">
            <a:extLst>
              <a:ext uri="{FF2B5EF4-FFF2-40B4-BE49-F238E27FC236}">
                <a16:creationId xmlns:a16="http://schemas.microsoft.com/office/drawing/2014/main" id="{5112591B-8032-4FDF-9B26-8F505642C5C2}"/>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4244522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42F4163-FF9F-453F-99BB-82B8FDB0A1F9}"/>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hasCustomPrompt="1"/>
          </p:nvPr>
        </p:nvSpPr>
        <p:spPr>
          <a:xfrm>
            <a:off x="5422392" y="2798064"/>
            <a:ext cx="1463040" cy="1481328"/>
          </a:xfrm>
        </p:spPr>
        <p:txBody>
          <a:bodyPr anchor="ctr"/>
          <a:lstStyle>
            <a:lvl1pPr algn="ctr">
              <a:buNone/>
              <a:defRPr/>
            </a:lvl1pPr>
          </a:lstStyle>
          <a:p>
            <a:r>
              <a:rPr lang="en-US" dirty="0"/>
              <a:t>Picture</a:t>
            </a:r>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hasCustomPrompt="1"/>
          </p:nvPr>
        </p:nvSpPr>
        <p:spPr>
          <a:xfrm>
            <a:off x="576072" y="2798064"/>
            <a:ext cx="1463040" cy="1481328"/>
          </a:xfrm>
        </p:spPr>
        <p:txBody>
          <a:bodyPr anchor="ctr"/>
          <a:lstStyle>
            <a:lvl1pPr algn="ctr">
              <a:buNone/>
              <a:defRPr/>
            </a:lvl1pPr>
          </a:lstStyle>
          <a:p>
            <a:r>
              <a:rPr lang="en-US" dirty="0"/>
              <a:t>Picture</a:t>
            </a:r>
          </a:p>
        </p:txBody>
      </p:sp>
      <p:sp>
        <p:nvSpPr>
          <p:cNvPr id="16" name="Picture Placeholder 14">
            <a:extLst>
              <a:ext uri="{FF2B5EF4-FFF2-40B4-BE49-F238E27FC236}">
                <a16:creationId xmlns:a16="http://schemas.microsoft.com/office/drawing/2014/main" id="{6B8374DB-2C54-426F-9768-7B838BE1F98D}"/>
              </a:ext>
            </a:extLst>
          </p:cNvPr>
          <p:cNvSpPr>
            <a:spLocks noGrp="1"/>
          </p:cNvSpPr>
          <p:nvPr>
            <p:ph type="pic" sz="quarter" idx="21" hasCustomPrompt="1"/>
          </p:nvPr>
        </p:nvSpPr>
        <p:spPr>
          <a:xfrm>
            <a:off x="7845552" y="2798064"/>
            <a:ext cx="1463040" cy="1481328"/>
          </a:xfrm>
        </p:spPr>
        <p:txBody>
          <a:bodyPr anchor="ctr"/>
          <a:lstStyle>
            <a:lvl1pPr algn="ctr">
              <a:buNone/>
              <a:defRPr/>
            </a:lvl1pPr>
          </a:lstStyle>
          <a:p>
            <a:r>
              <a:rPr lang="en-US" dirty="0"/>
              <a:t>Picture</a:t>
            </a:r>
          </a:p>
        </p:txBody>
      </p:sp>
      <p:sp>
        <p:nvSpPr>
          <p:cNvPr id="27" name="Rectangle 26">
            <a:extLst>
              <a:ext uri="{FF2B5EF4-FFF2-40B4-BE49-F238E27FC236}">
                <a16:creationId xmlns:a16="http://schemas.microsoft.com/office/drawing/2014/main" id="{76763C05-47FB-4725-A20D-066889246220}"/>
              </a:ext>
            </a:extLst>
          </p:cNvPr>
          <p:cNvSpPr/>
          <p:nvPr userDrawn="1"/>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Title 1">
            <a:extLst>
              <a:ext uri="{FF2B5EF4-FFF2-40B4-BE49-F238E27FC236}">
                <a16:creationId xmlns:a16="http://schemas.microsoft.com/office/drawing/2014/main" id="{9EDC39EC-C00D-4DE8-8828-E0E5AD579F19}"/>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endParaRPr lang="en-US" dirty="0"/>
          </a:p>
        </p:txBody>
      </p:sp>
      <p:sp>
        <p:nvSpPr>
          <p:cNvPr id="32" name="Picture Placeholder 14">
            <a:extLst>
              <a:ext uri="{FF2B5EF4-FFF2-40B4-BE49-F238E27FC236}">
                <a16:creationId xmlns:a16="http://schemas.microsoft.com/office/drawing/2014/main" id="{AC393A50-B0FA-44B0-850A-6E748DECA20A}"/>
              </a:ext>
            </a:extLst>
          </p:cNvPr>
          <p:cNvSpPr>
            <a:spLocks noGrp="1"/>
          </p:cNvSpPr>
          <p:nvPr>
            <p:ph type="pic" sz="quarter" idx="28" hasCustomPrompt="1"/>
          </p:nvPr>
        </p:nvSpPr>
        <p:spPr>
          <a:xfrm>
            <a:off x="2999232" y="2798064"/>
            <a:ext cx="1463040" cy="1481328"/>
          </a:xfrm>
        </p:spPr>
        <p:txBody>
          <a:bodyPr anchor="ctr"/>
          <a:lstStyle>
            <a:lvl1pPr algn="ctr">
              <a:buNone/>
              <a:defRPr/>
            </a:lvl1pPr>
          </a:lstStyle>
          <a:p>
            <a:r>
              <a:rPr lang="en-US" dirty="0"/>
              <a:t>Picture</a:t>
            </a:r>
          </a:p>
        </p:txBody>
      </p:sp>
      <p:sp>
        <p:nvSpPr>
          <p:cNvPr id="33" name="Picture Placeholder 14">
            <a:extLst>
              <a:ext uri="{FF2B5EF4-FFF2-40B4-BE49-F238E27FC236}">
                <a16:creationId xmlns:a16="http://schemas.microsoft.com/office/drawing/2014/main" id="{C19D18E3-AE27-4902-A5E1-1E388C8CA886}"/>
              </a:ext>
            </a:extLst>
          </p:cNvPr>
          <p:cNvSpPr>
            <a:spLocks noGrp="1"/>
          </p:cNvSpPr>
          <p:nvPr>
            <p:ph type="pic" sz="quarter" idx="29" hasCustomPrompt="1"/>
          </p:nvPr>
        </p:nvSpPr>
        <p:spPr>
          <a:xfrm>
            <a:off x="10268712" y="2798064"/>
            <a:ext cx="1463040" cy="1481328"/>
          </a:xfrm>
        </p:spPr>
        <p:txBody>
          <a:bodyPr anchor="ctr"/>
          <a:lstStyle>
            <a:lvl1pPr algn="ctr">
              <a:buNone/>
              <a:defRPr/>
            </a:lvl1pPr>
          </a:lstStyle>
          <a:p>
            <a:r>
              <a:rPr lang="en-US" dirty="0"/>
              <a:t>Picture</a:t>
            </a:r>
          </a:p>
        </p:txBody>
      </p:sp>
      <p:sp>
        <p:nvSpPr>
          <p:cNvPr id="11" name="Date Placeholder 10">
            <a:extLst>
              <a:ext uri="{FF2B5EF4-FFF2-40B4-BE49-F238E27FC236}">
                <a16:creationId xmlns:a16="http://schemas.microsoft.com/office/drawing/2014/main" id="{C4A1E4D4-19E0-496B-BBAF-99A720781C00}"/>
              </a:ext>
            </a:extLst>
          </p:cNvPr>
          <p:cNvSpPr>
            <a:spLocks noGrp="1"/>
          </p:cNvSpPr>
          <p:nvPr>
            <p:ph type="dt" sz="half" idx="32"/>
          </p:nvPr>
        </p:nvSpPr>
        <p:spPr>
          <a:xfrm>
            <a:off x="905256" y="6356350"/>
            <a:ext cx="2743200" cy="365125"/>
          </a:xfrm>
        </p:spPr>
        <p:txBody>
          <a:bodyPr/>
          <a:lstStyle/>
          <a:p>
            <a:r>
              <a:rPr lang="en-US" dirty="0"/>
              <a:t>9/4/20XX</a:t>
            </a:r>
          </a:p>
        </p:txBody>
      </p:sp>
      <p:sp>
        <p:nvSpPr>
          <p:cNvPr id="12" name="Footer Placeholder 11">
            <a:extLst>
              <a:ext uri="{FF2B5EF4-FFF2-40B4-BE49-F238E27FC236}">
                <a16:creationId xmlns:a16="http://schemas.microsoft.com/office/drawing/2014/main" id="{D0281C10-EAAA-4F45-8CC9-87F9F9116C21}"/>
              </a:ext>
            </a:extLst>
          </p:cNvPr>
          <p:cNvSpPr>
            <a:spLocks noGrp="1"/>
          </p:cNvSpPr>
          <p:nvPr>
            <p:ph type="ftr" sz="quarter" idx="33"/>
          </p:nvPr>
        </p:nvSpPr>
        <p:spPr/>
        <p:txBody>
          <a:bodyPr/>
          <a:lstStyle/>
          <a:p>
            <a:r>
              <a:rPr lang="en-US" dirty="0"/>
              <a:t>Presentation Title</a:t>
            </a:r>
          </a:p>
        </p:txBody>
      </p:sp>
      <p:sp>
        <p:nvSpPr>
          <p:cNvPr id="13" name="Slide Number Placeholder 12">
            <a:extLst>
              <a:ext uri="{FF2B5EF4-FFF2-40B4-BE49-F238E27FC236}">
                <a16:creationId xmlns:a16="http://schemas.microsoft.com/office/drawing/2014/main" id="{389175D6-43FD-42A2-8595-893FC3BFCDF6}"/>
              </a:ext>
            </a:extLst>
          </p:cNvPr>
          <p:cNvSpPr>
            <a:spLocks noGrp="1"/>
          </p:cNvSpPr>
          <p:nvPr>
            <p:ph type="sldNum" sz="quarter" idx="34"/>
          </p:nvPr>
        </p:nvSpPr>
        <p:spPr/>
        <p:txBody>
          <a:bodyPr/>
          <a:lstStyle/>
          <a:p>
            <a:fld id="{A65A5C87-DF58-40C8-B092-1DE63DB4547E}" type="slidenum">
              <a:rPr lang="en-US" smtClean="0"/>
              <a:t>‹#›</a:t>
            </a:fld>
            <a:endParaRPr lang="en-US" dirty="0"/>
          </a:p>
        </p:txBody>
      </p:sp>
      <p:sp>
        <p:nvSpPr>
          <p:cNvPr id="37" name="Text Placeholder 35">
            <a:extLst>
              <a:ext uri="{FF2B5EF4-FFF2-40B4-BE49-F238E27FC236}">
                <a16:creationId xmlns:a16="http://schemas.microsoft.com/office/drawing/2014/main" id="{28F74B10-F76D-4BBB-A284-01D5A0DF8BCB}"/>
              </a:ext>
            </a:extLst>
          </p:cNvPr>
          <p:cNvSpPr>
            <a:spLocks noGrp="1"/>
          </p:cNvSpPr>
          <p:nvPr>
            <p:ph type="body" sz="quarter" idx="36" hasCustomPrompt="1"/>
          </p:nvPr>
        </p:nvSpPr>
        <p:spPr>
          <a:xfrm>
            <a:off x="5431536"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38" name="Text Placeholder 35">
            <a:extLst>
              <a:ext uri="{FF2B5EF4-FFF2-40B4-BE49-F238E27FC236}">
                <a16:creationId xmlns:a16="http://schemas.microsoft.com/office/drawing/2014/main" id="{BD245DC2-6D7B-4AEE-B8EE-0D0E473AFFF5}"/>
              </a:ext>
            </a:extLst>
          </p:cNvPr>
          <p:cNvSpPr>
            <a:spLocks noGrp="1"/>
          </p:cNvSpPr>
          <p:nvPr>
            <p:ph type="body" sz="quarter" idx="37" hasCustomPrompt="1"/>
          </p:nvPr>
        </p:nvSpPr>
        <p:spPr>
          <a:xfrm>
            <a:off x="7845552"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39" name="Text Placeholder 35">
            <a:extLst>
              <a:ext uri="{FF2B5EF4-FFF2-40B4-BE49-F238E27FC236}">
                <a16:creationId xmlns:a16="http://schemas.microsoft.com/office/drawing/2014/main" id="{28069EAF-8C82-49CC-8A38-2ACAD26F7DE9}"/>
              </a:ext>
            </a:extLst>
          </p:cNvPr>
          <p:cNvSpPr>
            <a:spLocks noGrp="1"/>
          </p:cNvSpPr>
          <p:nvPr>
            <p:ph type="body" sz="quarter" idx="38" hasCustomPrompt="1"/>
          </p:nvPr>
        </p:nvSpPr>
        <p:spPr>
          <a:xfrm>
            <a:off x="10268712"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40" name="Text Placeholder 35">
            <a:extLst>
              <a:ext uri="{FF2B5EF4-FFF2-40B4-BE49-F238E27FC236}">
                <a16:creationId xmlns:a16="http://schemas.microsoft.com/office/drawing/2014/main" id="{DAA3B1CD-59B3-4B73-B91A-88CED1D8FDD6}"/>
              </a:ext>
            </a:extLst>
          </p:cNvPr>
          <p:cNvSpPr>
            <a:spLocks noGrp="1"/>
          </p:cNvSpPr>
          <p:nvPr>
            <p:ph type="body" sz="quarter" idx="39" hasCustomPrompt="1"/>
          </p:nvPr>
        </p:nvSpPr>
        <p:spPr>
          <a:xfrm>
            <a:off x="594360"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41" name="Text Placeholder 35">
            <a:extLst>
              <a:ext uri="{FF2B5EF4-FFF2-40B4-BE49-F238E27FC236}">
                <a16:creationId xmlns:a16="http://schemas.microsoft.com/office/drawing/2014/main" id="{C1FED6B0-DEB7-46E3-8038-FE6788AC24A9}"/>
              </a:ext>
            </a:extLst>
          </p:cNvPr>
          <p:cNvSpPr>
            <a:spLocks noGrp="1"/>
          </p:cNvSpPr>
          <p:nvPr>
            <p:ph type="body" sz="quarter" idx="35" hasCustomPrompt="1"/>
          </p:nvPr>
        </p:nvSpPr>
        <p:spPr>
          <a:xfrm>
            <a:off x="3008376"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Tree>
    <p:extLst>
      <p:ext uri="{BB962C8B-B14F-4D97-AF65-F5344CB8AC3E}">
        <p14:creationId xmlns:p14="http://schemas.microsoft.com/office/powerpoint/2010/main" val="431511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a:lstStyle/>
          <a:p>
            <a:r>
              <a:rPr lang="en-US" dirty="0"/>
              <a:t>9/4/20XX</a:t>
            </a:r>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606934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3 colum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57607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576072" y="3203688"/>
            <a:ext cx="3291840" cy="2968512"/>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450799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4507992" y="3203687"/>
            <a:ext cx="329184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a:lstStyle/>
          <a:p>
            <a:r>
              <a:rPr lang="en-US" dirty="0"/>
              <a:t>9/4/20XX</a:t>
            </a:r>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
        <p:nvSpPr>
          <p:cNvPr id="14" name="Text Placeholder 4">
            <a:extLst>
              <a:ext uri="{FF2B5EF4-FFF2-40B4-BE49-F238E27FC236}">
                <a16:creationId xmlns:a16="http://schemas.microsoft.com/office/drawing/2014/main" id="{CE04853A-B5A7-418B-B49F-E718136614E0}"/>
              </a:ext>
            </a:extLst>
          </p:cNvPr>
          <p:cNvSpPr>
            <a:spLocks noGrp="1"/>
          </p:cNvSpPr>
          <p:nvPr>
            <p:ph type="body" sz="quarter" idx="13"/>
          </p:nvPr>
        </p:nvSpPr>
        <p:spPr>
          <a:xfrm>
            <a:off x="843991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5">
            <a:extLst>
              <a:ext uri="{FF2B5EF4-FFF2-40B4-BE49-F238E27FC236}">
                <a16:creationId xmlns:a16="http://schemas.microsoft.com/office/drawing/2014/main" id="{D08E5547-BBB9-4D87-A012-6BC6B1330861}"/>
              </a:ext>
            </a:extLst>
          </p:cNvPr>
          <p:cNvSpPr>
            <a:spLocks noGrp="1"/>
          </p:cNvSpPr>
          <p:nvPr>
            <p:ph sz="quarter" idx="14"/>
          </p:nvPr>
        </p:nvSpPr>
        <p:spPr>
          <a:xfrm>
            <a:off x="8439912" y="3203687"/>
            <a:ext cx="329184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02261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with 3 pictures">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2CD68929-9BD1-4A1E-9C1E-5B980D986EC1}"/>
              </a:ext>
            </a:extLst>
          </p:cNvPr>
          <p:cNvSpPr/>
          <p:nvPr userDrawn="1"/>
        </p:nvSpPr>
        <p:spPr>
          <a:xfrm>
            <a:off x="409575" y="633619"/>
            <a:ext cx="492741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841248" y="978408"/>
            <a:ext cx="4059936" cy="1106424"/>
          </a:xfrm>
        </p:spPr>
        <p:txBody>
          <a:bodyPr anchor="ctr">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841248" y="2359152"/>
            <a:ext cx="4059936" cy="3429000"/>
          </a:xfrm>
        </p:spPr>
        <p:txBody>
          <a:bodyPr/>
          <a:lstStyle>
            <a:lvl1pPr marL="0" indent="0">
              <a:buNone/>
              <a:defRPr sz="1800"/>
            </a:lvl1pPr>
          </a:lstStyle>
          <a:p>
            <a:pPr lvl="0"/>
            <a:r>
              <a:rPr lang="en-US"/>
              <a:t>Click to edit Master text styles</a:t>
            </a: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8961120" y="566928"/>
            <a:ext cx="2871216" cy="2340864"/>
          </a:xfrm>
        </p:spPr>
        <p:txBody>
          <a:bodyPr anchor="ctr"/>
          <a:lstStyle>
            <a:lvl1pPr algn="ctr">
              <a:buNone/>
              <a:defRPr/>
            </a:lvl1pPr>
          </a:lstStyle>
          <a:p>
            <a:r>
              <a:rPr lang="en-US"/>
              <a:t>Click icon to add picture</a:t>
            </a:r>
            <a:endParaRPr lang="en-US" dirty="0"/>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5843016" y="566928"/>
            <a:ext cx="2871216" cy="2340864"/>
          </a:xfrm>
        </p:spPr>
        <p:txBody>
          <a:bodyPr anchor="ctr"/>
          <a:lstStyle>
            <a:lvl1pPr algn="ctr">
              <a:buNone/>
              <a:defRPr/>
            </a:lvl1pPr>
          </a:lstStyle>
          <a:p>
            <a:r>
              <a:rPr lang="en-US"/>
              <a:t>Click icon to add picture</a:t>
            </a:r>
            <a:endParaRPr lang="en-US" dirty="0"/>
          </a:p>
        </p:txBody>
      </p:sp>
      <p:sp>
        <p:nvSpPr>
          <p:cNvPr id="5" name="Rectangle 4">
            <a:extLst>
              <a:ext uri="{FF2B5EF4-FFF2-40B4-BE49-F238E27FC236}">
                <a16:creationId xmlns:a16="http://schemas.microsoft.com/office/drawing/2014/main" id="{B3ED68CE-A00C-4DD9-8065-B0E3D033BC20}"/>
              </a:ext>
            </a:extLst>
          </p:cNvPr>
          <p:cNvSpPr/>
          <p:nvPr userDrawn="1"/>
        </p:nvSpPr>
        <p:spPr>
          <a:xfrm>
            <a:off x="345567" y="117043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B3EDCB6-603C-4A22-80E6-232A6202452A}"/>
              </a:ext>
            </a:extLst>
          </p:cNvPr>
          <p:cNvSpPr/>
          <p:nvPr userDrawn="1"/>
        </p:nvSpPr>
        <p:spPr>
          <a:xfrm>
            <a:off x="877459" y="2121408"/>
            <a:ext cx="395865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Picture Placeholder 14">
            <a:extLst>
              <a:ext uri="{FF2B5EF4-FFF2-40B4-BE49-F238E27FC236}">
                <a16:creationId xmlns:a16="http://schemas.microsoft.com/office/drawing/2014/main" id="{FBB9124E-D1EB-4540-B1E1-DF3CD388BB27}"/>
              </a:ext>
            </a:extLst>
          </p:cNvPr>
          <p:cNvSpPr>
            <a:spLocks noGrp="1"/>
          </p:cNvSpPr>
          <p:nvPr>
            <p:ph type="pic" sz="quarter" idx="17"/>
          </p:nvPr>
        </p:nvSpPr>
        <p:spPr>
          <a:xfrm>
            <a:off x="5843016" y="3108960"/>
            <a:ext cx="5989320" cy="3054096"/>
          </a:xfrm>
        </p:spPr>
        <p:txBody>
          <a:bodyPr anchor="ctr"/>
          <a:lstStyle>
            <a:lvl1pPr algn="ctr">
              <a:buNone/>
              <a:defRPr/>
            </a:lvl1pPr>
          </a:lstStyle>
          <a:p>
            <a:r>
              <a:rPr lang="en-US"/>
              <a:t>Click icon to add picture</a:t>
            </a:r>
            <a:endParaRPr lang="en-US" dirty="0"/>
          </a:p>
        </p:txBody>
      </p:sp>
      <p:sp>
        <p:nvSpPr>
          <p:cNvPr id="18" name="Date Placehold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a:lstStyle/>
          <a:p>
            <a:r>
              <a:rPr lang="en-US" dirty="0"/>
              <a:t>9/4/20XX</a:t>
            </a:r>
          </a:p>
        </p:txBody>
      </p:sp>
      <p:sp>
        <p:nvSpPr>
          <p:cNvPr id="19" name="Footer Placehold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a:lstStyle/>
          <a:p>
            <a:r>
              <a:rPr lang="en-US" dirty="0"/>
              <a:t>Presentation Title</a:t>
            </a:r>
          </a:p>
        </p:txBody>
      </p:sp>
      <p:sp>
        <p:nvSpPr>
          <p:cNvPr id="20" name="Slide Number Placehold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3527971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2CD68929-9BD1-4A1E-9C1E-5B980D986EC1}"/>
              </a:ext>
            </a:extLst>
          </p:cNvPr>
          <p:cNvSpPr/>
          <p:nvPr userDrawn="1"/>
        </p:nvSpPr>
        <p:spPr>
          <a:xfrm>
            <a:off x="7324344" y="630936"/>
            <a:ext cx="4517136"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7772400" y="978408"/>
            <a:ext cx="3721608" cy="1106424"/>
          </a:xfrm>
        </p:spPr>
        <p:txBody>
          <a:bodyPr anchor="ctr">
            <a:normAutofit/>
          </a:bodyPr>
          <a:lstStyle>
            <a:lvl1pPr>
              <a:defRPr sz="2800"/>
            </a:lvl1pPr>
          </a:lstStyle>
          <a:p>
            <a:r>
              <a:rPr lang="en-US"/>
              <a:t>Click to edit Master title style</a:t>
            </a:r>
            <a:endParaRPr lang="en-US" dirty="0"/>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3767328" y="630936"/>
            <a:ext cx="3246120" cy="2688336"/>
          </a:xfrm>
        </p:spPr>
        <p:txBody>
          <a:bodyPr anchor="ctr"/>
          <a:lstStyle>
            <a:lvl1pPr algn="ctr">
              <a:buNone/>
              <a:defRPr/>
            </a:lvl1pPr>
          </a:lstStyle>
          <a:p>
            <a:r>
              <a:rPr lang="en-US"/>
              <a:t>Click icon to add picture</a:t>
            </a:r>
            <a:endParaRPr lang="en-US" dirty="0"/>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411480" y="630936"/>
            <a:ext cx="3246120" cy="2688336"/>
          </a:xfrm>
        </p:spPr>
        <p:txBody>
          <a:bodyPr anchor="ctr"/>
          <a:lstStyle>
            <a:lvl1pPr algn="ctr">
              <a:buNone/>
              <a:defRPr/>
            </a:lvl1pPr>
          </a:lstStyle>
          <a:p>
            <a:r>
              <a:rPr lang="en-US"/>
              <a:t>Click icon to add picture</a:t>
            </a:r>
            <a:endParaRPr lang="en-US" dirty="0"/>
          </a:p>
        </p:txBody>
      </p:sp>
      <p:sp>
        <p:nvSpPr>
          <p:cNvPr id="5" name="Rectangle 4">
            <a:extLst>
              <a:ext uri="{FF2B5EF4-FFF2-40B4-BE49-F238E27FC236}">
                <a16:creationId xmlns:a16="http://schemas.microsoft.com/office/drawing/2014/main" id="{B3ED68CE-A00C-4DD9-8065-B0E3D033BC20}"/>
              </a:ext>
            </a:extLst>
          </p:cNvPr>
          <p:cNvSpPr/>
          <p:nvPr userDrawn="1"/>
        </p:nvSpPr>
        <p:spPr>
          <a:xfrm>
            <a:off x="7260336" y="1179576"/>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Picture Placeholder 14">
            <a:extLst>
              <a:ext uri="{FF2B5EF4-FFF2-40B4-BE49-F238E27FC236}">
                <a16:creationId xmlns:a16="http://schemas.microsoft.com/office/drawing/2014/main" id="{FBB9124E-D1EB-4540-B1E1-DF3CD388BB27}"/>
              </a:ext>
            </a:extLst>
          </p:cNvPr>
          <p:cNvSpPr>
            <a:spLocks noGrp="1"/>
          </p:cNvSpPr>
          <p:nvPr>
            <p:ph type="pic" sz="quarter" idx="17"/>
          </p:nvPr>
        </p:nvSpPr>
        <p:spPr>
          <a:xfrm>
            <a:off x="411480" y="3438144"/>
            <a:ext cx="3246120" cy="2688336"/>
          </a:xfrm>
        </p:spPr>
        <p:txBody>
          <a:bodyPr anchor="ctr"/>
          <a:lstStyle>
            <a:lvl1pPr algn="ctr">
              <a:buNone/>
              <a:defRPr/>
            </a:lvl1pPr>
          </a:lstStyle>
          <a:p>
            <a:r>
              <a:rPr lang="en-US"/>
              <a:t>Click icon to add picture</a:t>
            </a:r>
            <a:endParaRPr lang="en-US" dirty="0"/>
          </a:p>
        </p:txBody>
      </p:sp>
      <p:sp>
        <p:nvSpPr>
          <p:cNvPr id="18" name="Date Placehold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a:lstStyle/>
          <a:p>
            <a:r>
              <a:rPr lang="en-US" dirty="0"/>
              <a:t>9/4/20XX</a:t>
            </a:r>
          </a:p>
        </p:txBody>
      </p:sp>
      <p:sp>
        <p:nvSpPr>
          <p:cNvPr id="19" name="Footer Placehold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a:lstStyle/>
          <a:p>
            <a:r>
              <a:rPr lang="en-US" dirty="0"/>
              <a:t>Presentation Title</a:t>
            </a:r>
          </a:p>
        </p:txBody>
      </p:sp>
      <p:sp>
        <p:nvSpPr>
          <p:cNvPr id="20" name="Slide Number Placehold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a:lstStyle/>
          <a:p>
            <a:fld id="{A65A5C87-DF58-40C8-B092-1DE63DB4547E}" type="slidenum">
              <a:rPr lang="en-US" smtClean="0"/>
              <a:t>‹#›</a:t>
            </a:fld>
            <a:endParaRPr lang="en-US" dirty="0"/>
          </a:p>
        </p:txBody>
      </p:sp>
      <p:sp>
        <p:nvSpPr>
          <p:cNvPr id="6" name="Rectangle 5">
            <a:extLst>
              <a:ext uri="{FF2B5EF4-FFF2-40B4-BE49-F238E27FC236}">
                <a16:creationId xmlns:a16="http://schemas.microsoft.com/office/drawing/2014/main" id="{525280B1-DD77-4ADB-A6FC-71309BCB66E1}"/>
              </a:ext>
            </a:extLst>
          </p:cNvPr>
          <p:cNvSpPr/>
          <p:nvPr userDrawn="1"/>
        </p:nvSpPr>
        <p:spPr>
          <a:xfrm>
            <a:off x="7792216" y="2185416"/>
            <a:ext cx="3683187"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Picture Placeholder 14">
            <a:extLst>
              <a:ext uri="{FF2B5EF4-FFF2-40B4-BE49-F238E27FC236}">
                <a16:creationId xmlns:a16="http://schemas.microsoft.com/office/drawing/2014/main" id="{6B8374DB-2C54-426F-9768-7B838BE1F98D}"/>
              </a:ext>
            </a:extLst>
          </p:cNvPr>
          <p:cNvSpPr>
            <a:spLocks noGrp="1"/>
          </p:cNvSpPr>
          <p:nvPr>
            <p:ph type="pic" sz="quarter" idx="21"/>
          </p:nvPr>
        </p:nvSpPr>
        <p:spPr>
          <a:xfrm>
            <a:off x="3767328" y="3438144"/>
            <a:ext cx="3246120" cy="2688336"/>
          </a:xfrm>
        </p:spPr>
        <p:txBody>
          <a:bodyPr anchor="ctr"/>
          <a:lstStyle>
            <a:lvl1pPr algn="ctr">
              <a:buNone/>
              <a:defRPr/>
            </a:lvl1pPr>
          </a:lstStyle>
          <a:p>
            <a:r>
              <a:rPr lang="en-US"/>
              <a:t>Click icon to add picture</a:t>
            </a:r>
            <a:endParaRPr lang="en-US" dirty="0"/>
          </a:p>
        </p:txBody>
      </p:sp>
      <p:sp>
        <p:nvSpPr>
          <p:cNvPr id="8" name="Text Placeholder 7">
            <a:extLst>
              <a:ext uri="{FF2B5EF4-FFF2-40B4-BE49-F238E27FC236}">
                <a16:creationId xmlns:a16="http://schemas.microsoft.com/office/drawing/2014/main" id="{A0D33A8D-B0BB-4920-AAC4-6EE9952AA556}"/>
              </a:ext>
            </a:extLst>
          </p:cNvPr>
          <p:cNvSpPr>
            <a:spLocks noGrp="1"/>
          </p:cNvSpPr>
          <p:nvPr>
            <p:ph type="body" sz="quarter" idx="22"/>
          </p:nvPr>
        </p:nvSpPr>
        <p:spPr>
          <a:xfrm>
            <a:off x="7772400" y="3099816"/>
            <a:ext cx="3721100" cy="447675"/>
          </a:xfrm>
        </p:spPr>
        <p:txBody>
          <a:bodyPr/>
          <a:lstStyle>
            <a:lvl1pPr marL="0" indent="0">
              <a:buNone/>
              <a:defRPr sz="1600"/>
            </a:lvl1pPr>
          </a:lstStyle>
          <a:p>
            <a:pPr lvl="0"/>
            <a:r>
              <a:rPr lang="en-US"/>
              <a:t>Click to edit Master text styles</a:t>
            </a:r>
          </a:p>
        </p:txBody>
      </p:sp>
      <p:sp>
        <p:nvSpPr>
          <p:cNvPr id="21" name="Text Placeholder 7">
            <a:extLst>
              <a:ext uri="{FF2B5EF4-FFF2-40B4-BE49-F238E27FC236}">
                <a16:creationId xmlns:a16="http://schemas.microsoft.com/office/drawing/2014/main" id="{FC2F80E1-DA5D-4EBA-BDBC-FFD24776ED07}"/>
              </a:ext>
            </a:extLst>
          </p:cNvPr>
          <p:cNvSpPr>
            <a:spLocks noGrp="1"/>
          </p:cNvSpPr>
          <p:nvPr>
            <p:ph type="body" sz="quarter" idx="23"/>
          </p:nvPr>
        </p:nvSpPr>
        <p:spPr>
          <a:xfrm>
            <a:off x="7772400" y="4215384"/>
            <a:ext cx="3721100" cy="447675"/>
          </a:xfrm>
        </p:spPr>
        <p:txBody>
          <a:bodyPr/>
          <a:lstStyle>
            <a:lvl1pPr marL="0" indent="0">
              <a:buNone/>
              <a:defRPr sz="1600"/>
            </a:lvl1pPr>
          </a:lstStyle>
          <a:p>
            <a:pPr lvl="0"/>
            <a:r>
              <a:rPr lang="en-US"/>
              <a:t>Click to edit Master text styles</a:t>
            </a:r>
          </a:p>
        </p:txBody>
      </p:sp>
      <p:sp>
        <p:nvSpPr>
          <p:cNvPr id="22" name="Text Placeholder 7">
            <a:extLst>
              <a:ext uri="{FF2B5EF4-FFF2-40B4-BE49-F238E27FC236}">
                <a16:creationId xmlns:a16="http://schemas.microsoft.com/office/drawing/2014/main" id="{536A3E74-5D94-4FE5-A5F8-7DA032AD48AF}"/>
              </a:ext>
            </a:extLst>
          </p:cNvPr>
          <p:cNvSpPr>
            <a:spLocks noGrp="1"/>
          </p:cNvSpPr>
          <p:nvPr>
            <p:ph type="body" sz="quarter" idx="24"/>
          </p:nvPr>
        </p:nvSpPr>
        <p:spPr>
          <a:xfrm>
            <a:off x="7772400" y="5321808"/>
            <a:ext cx="3721100" cy="447675"/>
          </a:xfrm>
        </p:spPr>
        <p:txBody>
          <a:bodyPr/>
          <a:lstStyle>
            <a:lvl1pPr marL="0" indent="0">
              <a:buNone/>
              <a:defRPr sz="1600"/>
            </a:lvl1pPr>
          </a:lstStyle>
          <a:p>
            <a:pPr lvl="0"/>
            <a:r>
              <a:rPr lang="en-US"/>
              <a:t>Click to edit Master text styles</a:t>
            </a:r>
          </a:p>
        </p:txBody>
      </p:sp>
      <p:sp>
        <p:nvSpPr>
          <p:cNvPr id="23" name="Picture Placeholder 14">
            <a:extLst>
              <a:ext uri="{FF2B5EF4-FFF2-40B4-BE49-F238E27FC236}">
                <a16:creationId xmlns:a16="http://schemas.microsoft.com/office/drawing/2014/main" id="{A36D2011-9E99-44AA-8612-4EEBAAA5D036}"/>
              </a:ext>
            </a:extLst>
          </p:cNvPr>
          <p:cNvSpPr>
            <a:spLocks noGrp="1"/>
          </p:cNvSpPr>
          <p:nvPr>
            <p:ph type="pic" sz="quarter" idx="25" hasCustomPrompt="1"/>
          </p:nvPr>
        </p:nvSpPr>
        <p:spPr>
          <a:xfrm>
            <a:off x="7772400" y="2532888"/>
            <a:ext cx="457200" cy="457200"/>
          </a:xfrm>
        </p:spPr>
        <p:txBody>
          <a:bodyPr anchor="ctr"/>
          <a:lstStyle>
            <a:lvl1pPr algn="ctr">
              <a:buNone/>
              <a:defRPr sz="900"/>
            </a:lvl1pPr>
          </a:lstStyle>
          <a:p>
            <a:r>
              <a:rPr lang="en-US" dirty="0"/>
              <a:t>Icon</a:t>
            </a:r>
          </a:p>
        </p:txBody>
      </p:sp>
      <p:sp>
        <p:nvSpPr>
          <p:cNvPr id="24" name="Picture Placeholder 14">
            <a:extLst>
              <a:ext uri="{FF2B5EF4-FFF2-40B4-BE49-F238E27FC236}">
                <a16:creationId xmlns:a16="http://schemas.microsoft.com/office/drawing/2014/main" id="{80B0958E-0709-4604-ADAF-A6137275F31B}"/>
              </a:ext>
            </a:extLst>
          </p:cNvPr>
          <p:cNvSpPr>
            <a:spLocks noGrp="1"/>
          </p:cNvSpPr>
          <p:nvPr>
            <p:ph type="pic" sz="quarter" idx="26" hasCustomPrompt="1"/>
          </p:nvPr>
        </p:nvSpPr>
        <p:spPr>
          <a:xfrm>
            <a:off x="7772400" y="3630168"/>
            <a:ext cx="457200" cy="457200"/>
          </a:xfrm>
        </p:spPr>
        <p:txBody>
          <a:bodyPr anchor="ctr"/>
          <a:lstStyle>
            <a:lvl1pPr algn="ctr">
              <a:buNone/>
              <a:defRPr sz="900"/>
            </a:lvl1pPr>
          </a:lstStyle>
          <a:p>
            <a:r>
              <a:rPr lang="en-US" dirty="0"/>
              <a:t>Icon</a:t>
            </a:r>
          </a:p>
        </p:txBody>
      </p:sp>
      <p:sp>
        <p:nvSpPr>
          <p:cNvPr id="25" name="Picture Placeholder 14">
            <a:extLst>
              <a:ext uri="{FF2B5EF4-FFF2-40B4-BE49-F238E27FC236}">
                <a16:creationId xmlns:a16="http://schemas.microsoft.com/office/drawing/2014/main" id="{F4A09204-1398-472F-B713-0AD49188773D}"/>
              </a:ext>
            </a:extLst>
          </p:cNvPr>
          <p:cNvSpPr>
            <a:spLocks noGrp="1"/>
          </p:cNvSpPr>
          <p:nvPr>
            <p:ph type="pic" sz="quarter" idx="27" hasCustomPrompt="1"/>
          </p:nvPr>
        </p:nvSpPr>
        <p:spPr>
          <a:xfrm>
            <a:off x="7772400" y="4754880"/>
            <a:ext cx="457200" cy="457200"/>
          </a:xfrm>
        </p:spPr>
        <p:txBody>
          <a:bodyPr anchor="ctr"/>
          <a:lstStyle>
            <a:lvl1pPr algn="ctr">
              <a:buNone/>
              <a:defRPr sz="900"/>
            </a:lvl1pPr>
          </a:lstStyle>
          <a:p>
            <a:r>
              <a:rPr lang="en-US" dirty="0"/>
              <a:t>Icon</a:t>
            </a:r>
          </a:p>
        </p:txBody>
      </p:sp>
    </p:spTree>
    <p:extLst>
      <p:ext uri="{BB962C8B-B14F-4D97-AF65-F5344CB8AC3E}">
        <p14:creationId xmlns:p14="http://schemas.microsoft.com/office/powerpoint/2010/main" val="3439343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r>
              <a:rPr lang="en-US" dirty="0"/>
              <a:t>9/4/20XX</a:t>
            </a:r>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4009944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r>
              <a:rPr lang="en-US" dirty="0"/>
              <a:t>9/4/20XX</a:t>
            </a:r>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4060377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r>
              <a:rPr lang="en-US" dirty="0"/>
              <a:t>9/4/20XX</a:t>
            </a:r>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7772245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r>
              <a:rPr lang="en-US" dirty="0"/>
              <a:t>9/4/20XX</a:t>
            </a:r>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433248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9/4/20XX</a:t>
            </a:r>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5A5C87-DF58-40C8-B092-1DE63DB4547E}" type="slidenum">
              <a:rPr lang="en-US" smtClean="0"/>
              <a:t>‹#›</a:t>
            </a:fld>
            <a:endParaRPr lang="en-US" dirty="0"/>
          </a:p>
        </p:txBody>
      </p:sp>
    </p:spTree>
    <p:extLst>
      <p:ext uri="{BB962C8B-B14F-4D97-AF65-F5344CB8AC3E}">
        <p14:creationId xmlns:p14="http://schemas.microsoft.com/office/powerpoint/2010/main" val="1785134420"/>
      </p:ext>
    </p:extLst>
  </p:cSld>
  <p:clrMap bg1="lt1" tx1="dk1" bg2="lt2" tx2="dk2" accent1="accent1" accent2="accent2" accent3="accent3" accent4="accent4" accent5="accent5" accent6="accent6" hlink="hlink" folHlink="folHlink"/>
  <p:sldLayoutIdLst>
    <p:sldLayoutId id="2147483721" r:id="rId1"/>
    <p:sldLayoutId id="2147483730" r:id="rId2"/>
    <p:sldLayoutId id="2147483731" r:id="rId3"/>
    <p:sldLayoutId id="2147483723" r:id="rId4"/>
    <p:sldLayoutId id="2147483722" r:id="rId5"/>
    <p:sldLayoutId id="2147483732" r:id="rId6"/>
    <p:sldLayoutId id="2147483736" r:id="rId7"/>
    <p:sldLayoutId id="2147483725" r:id="rId8"/>
    <p:sldLayoutId id="2147483733" r:id="rId9"/>
    <p:sldLayoutId id="2147483734" r:id="rId10"/>
    <p:sldLayoutId id="2147483735" r:id="rId11"/>
    <p:sldLayoutId id="2147483726" r:id="rId12"/>
    <p:sldLayoutId id="2147483727" r:id="rId13"/>
    <p:sldLayoutId id="2147483728" r:id="rId14"/>
    <p:sldLayoutId id="2147483729" r:id="rId1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5.xml"/><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hyperlink" Target="https://www.unesco.org/en/education-sustainable-development/need-know"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hyperlink" Target="https://en.unesco.org/sites/default/files/esdfor2030-berlin-declaration-en.pdf"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0.jp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hyperlink" Target="https://sdgs.un.org/goals/goal4#targets_and_indicators"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hyperlink" Target="https://sdgs.un.org/goals/goal4#targets_and_indicators"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png"/><Relationship Id="rId4" Type="http://schemas.openxmlformats.org/officeDocument/2006/relationships/hyperlink" Target="https://au.int/en/agenda2063/goals"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image" Target="../media/image31.svg"/></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image" Target="../media/image31.svg"/></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hyperlink" Target="https://padlet.com/SLBScMScNE/take-a-few-minutes-to-write-down-the-most-difficult-or-confu-4qbgbhljl3akhm0x"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39.sv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8" Type="http://schemas.openxmlformats.org/officeDocument/2006/relationships/hyperlink" Target="https://sdgs.un.org/goals/goal4#targets_and_indicators" TargetMode="External"/><Relationship Id="rId3" Type="http://schemas.openxmlformats.org/officeDocument/2006/relationships/image" Target="../media/image41.svg"/><Relationship Id="rId7" Type="http://schemas.openxmlformats.org/officeDocument/2006/relationships/hyperlink" Target="https://en.unesco.org/sites/default/files/esdfor2030-berlin-declaration-en.pdf" TargetMode="External"/><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hyperlink" Target="https://www.unesco.org/en/education-sustainable-development/need-know" TargetMode="External"/><Relationship Id="rId5" Type="http://schemas.openxmlformats.org/officeDocument/2006/relationships/hyperlink" Target="https://doi.org/10.3390/su11072086" TargetMode="External"/><Relationship Id="rId4" Type="http://schemas.openxmlformats.org/officeDocument/2006/relationships/hyperlink" Target="https://doi.org/10.1016/j.wds.2022.10001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D9D20-B4BB-42AA-8DDD-68CC9F1D95DB}"/>
              </a:ext>
            </a:extLst>
          </p:cNvPr>
          <p:cNvSpPr>
            <a:spLocks noGrp="1"/>
          </p:cNvSpPr>
          <p:nvPr>
            <p:ph type="ctrTitle"/>
          </p:nvPr>
        </p:nvSpPr>
        <p:spPr>
          <a:xfrm>
            <a:off x="1801368" y="1892808"/>
            <a:ext cx="8586216" cy="2176272"/>
          </a:xfrm>
        </p:spPr>
        <p:txBody>
          <a:bodyPr>
            <a:normAutofit fontScale="90000"/>
          </a:bodyPr>
          <a:lstStyle/>
          <a:p>
            <a:pPr>
              <a:spcAft>
                <a:spcPts val="1200"/>
              </a:spcAft>
            </a:pPr>
            <a:r>
              <a:rPr lang="en-US" sz="3600" dirty="0"/>
              <a:t>Session 3</a:t>
            </a:r>
            <a:br>
              <a:rPr lang="en-US" dirty="0"/>
            </a:br>
            <a:r>
              <a:rPr lang="en-US" sz="4000" b="1" dirty="0">
                <a:effectLst/>
                <a:latin typeface="+mn-lt"/>
                <a:ea typeface="Calibri"/>
              </a:rPr>
              <a:t>Education for Sustainable Development (ESD) &amp; </a:t>
            </a:r>
            <a:r>
              <a:rPr lang="en-US" sz="4000" b="1" dirty="0">
                <a:latin typeface="+mn-lt"/>
                <a:ea typeface="Calibri"/>
              </a:rPr>
              <a:t>Constructive</a:t>
            </a:r>
            <a:r>
              <a:rPr lang="en-US" sz="4000" b="1" dirty="0">
                <a:effectLst/>
                <a:latin typeface="+mn-lt"/>
                <a:ea typeface="Calibri"/>
              </a:rPr>
              <a:t> </a:t>
            </a:r>
            <a:r>
              <a:rPr lang="en-US" sz="4000" b="1" dirty="0">
                <a:latin typeface="+mn-lt"/>
                <a:ea typeface="Calibri"/>
              </a:rPr>
              <a:t>Alignment</a:t>
            </a:r>
            <a:endParaRPr lang="en-US" sz="4000" dirty="0">
              <a:latin typeface="+mn-lt"/>
              <a:ea typeface="Calibri"/>
            </a:endParaRPr>
          </a:p>
        </p:txBody>
      </p:sp>
      <p:sp>
        <p:nvSpPr>
          <p:cNvPr id="3" name="Subtitle 2">
            <a:extLst>
              <a:ext uri="{FF2B5EF4-FFF2-40B4-BE49-F238E27FC236}">
                <a16:creationId xmlns:a16="http://schemas.microsoft.com/office/drawing/2014/main" id="{ED9E8FDB-60EE-45AE-BB89-9A561A61C2AC}"/>
              </a:ext>
            </a:extLst>
          </p:cNvPr>
          <p:cNvSpPr>
            <a:spLocks noGrp="1"/>
          </p:cNvSpPr>
          <p:nvPr>
            <p:ph type="subTitle" idx="1"/>
          </p:nvPr>
        </p:nvSpPr>
        <p:spPr>
          <a:xfrm>
            <a:off x="2482596" y="5056632"/>
            <a:ext cx="7223760" cy="685800"/>
          </a:xfrm>
        </p:spPr>
        <p:txBody>
          <a:bodyPr>
            <a:normAutofit/>
          </a:bodyPr>
          <a:lstStyle/>
          <a:p>
            <a:endParaRPr lang="en-US" dirty="0"/>
          </a:p>
        </p:txBody>
      </p:sp>
    </p:spTree>
    <p:extLst>
      <p:ext uri="{BB962C8B-B14F-4D97-AF65-F5344CB8AC3E}">
        <p14:creationId xmlns:p14="http://schemas.microsoft.com/office/powerpoint/2010/main" val="183373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4A85B-2AC6-4E29-B074-AB92F8FA9BB1}"/>
              </a:ext>
            </a:extLst>
          </p:cNvPr>
          <p:cNvSpPr>
            <a:spLocks noGrp="1"/>
          </p:cNvSpPr>
          <p:nvPr>
            <p:ph type="title"/>
          </p:nvPr>
        </p:nvSpPr>
        <p:spPr/>
        <p:txBody>
          <a:bodyPr/>
          <a:lstStyle/>
          <a:p>
            <a:r>
              <a:rPr lang="en-US" sz="5200" dirty="0">
                <a:latin typeface="+mj-lt"/>
              </a:rPr>
              <a:t>Outline</a:t>
            </a:r>
            <a:endParaRPr lang="en-US" dirty="0"/>
          </a:p>
        </p:txBody>
      </p:sp>
      <p:sp>
        <p:nvSpPr>
          <p:cNvPr id="3" name="Content Placeholder 2">
            <a:extLst>
              <a:ext uri="{FF2B5EF4-FFF2-40B4-BE49-F238E27FC236}">
                <a16:creationId xmlns:a16="http://schemas.microsoft.com/office/drawing/2014/main" id="{E32AB0EB-0819-41F4-99E9-C02FA0DAF66D}"/>
              </a:ext>
            </a:extLst>
          </p:cNvPr>
          <p:cNvSpPr>
            <a:spLocks noGrp="1"/>
          </p:cNvSpPr>
          <p:nvPr>
            <p:ph idx="1"/>
          </p:nvPr>
        </p:nvSpPr>
        <p:spPr>
          <a:xfrm>
            <a:off x="5404104" y="3206068"/>
            <a:ext cx="6272784" cy="2825496"/>
          </a:xfrm>
        </p:spPr>
        <p:txBody>
          <a:bodyPr vert="horz" lIns="91440" tIns="45720" rIns="91440" bIns="45720" rtlCol="0" anchor="t">
            <a:normAutofit/>
          </a:bodyPr>
          <a:lstStyle/>
          <a:p>
            <a:pPr marL="0" indent="0">
              <a:lnSpc>
                <a:spcPct val="110000"/>
              </a:lnSpc>
              <a:buNone/>
            </a:pPr>
            <a:r>
              <a:rPr lang="en-US" dirty="0"/>
              <a:t>1 – Introduction to ESD</a:t>
            </a:r>
          </a:p>
          <a:p>
            <a:pPr marL="0" indent="0">
              <a:lnSpc>
                <a:spcPct val="110000"/>
              </a:lnSpc>
              <a:buNone/>
            </a:pPr>
            <a:r>
              <a:rPr lang="en-US" dirty="0"/>
              <a:t>2 – Introduction to Constructive Alignment</a:t>
            </a:r>
          </a:p>
          <a:p>
            <a:pPr marL="0" indent="0">
              <a:lnSpc>
                <a:spcPct val="110000"/>
              </a:lnSpc>
              <a:buNone/>
            </a:pPr>
            <a:r>
              <a:rPr lang="en-US" dirty="0"/>
              <a:t>3 – Examples of Constructive Alignment</a:t>
            </a:r>
          </a:p>
          <a:p>
            <a:pPr marL="0" indent="0">
              <a:lnSpc>
                <a:spcPct val="110000"/>
              </a:lnSpc>
              <a:buNone/>
            </a:pPr>
            <a:r>
              <a:rPr lang="en-US" dirty="0"/>
              <a:t>4 – Reflection</a:t>
            </a:r>
          </a:p>
          <a:p>
            <a:endParaRPr lang="en-US" dirty="0"/>
          </a:p>
        </p:txBody>
      </p:sp>
      <p:sp>
        <p:nvSpPr>
          <p:cNvPr id="6" name="Slide Number Placeholder 5">
            <a:extLst>
              <a:ext uri="{FF2B5EF4-FFF2-40B4-BE49-F238E27FC236}">
                <a16:creationId xmlns:a16="http://schemas.microsoft.com/office/drawing/2014/main" id="{B49FA539-2DA6-4197-AA13-56E0C33955F2}"/>
              </a:ext>
            </a:extLst>
          </p:cNvPr>
          <p:cNvSpPr>
            <a:spLocks noGrp="1"/>
          </p:cNvSpPr>
          <p:nvPr>
            <p:ph type="sldNum" sz="quarter" idx="12"/>
          </p:nvPr>
        </p:nvSpPr>
        <p:spPr/>
        <p:txBody>
          <a:bodyPr/>
          <a:lstStyle/>
          <a:p>
            <a:fld id="{A65A5C87-DF58-40C8-B092-1DE63DB4547E}" type="slidenum">
              <a:rPr lang="en-US" smtClean="0"/>
              <a:t>2</a:t>
            </a:fld>
            <a:endParaRPr lang="en-US" dirty="0"/>
          </a:p>
        </p:txBody>
      </p:sp>
      <p:grpSp>
        <p:nvGrpSpPr>
          <p:cNvPr id="4" name="Group 3">
            <a:extLst>
              <a:ext uri="{FF2B5EF4-FFF2-40B4-BE49-F238E27FC236}">
                <a16:creationId xmlns:a16="http://schemas.microsoft.com/office/drawing/2014/main" id="{AC05D73A-9C08-0879-0B6D-CC221780C089}"/>
              </a:ext>
            </a:extLst>
          </p:cNvPr>
          <p:cNvGrpSpPr/>
          <p:nvPr/>
        </p:nvGrpSpPr>
        <p:grpSpPr>
          <a:xfrm>
            <a:off x="186450" y="5843614"/>
            <a:ext cx="822140" cy="847296"/>
            <a:chOff x="8600746" y="57953"/>
            <a:chExt cx="822140" cy="847296"/>
          </a:xfrm>
        </p:grpSpPr>
        <p:sp>
          <p:nvSpPr>
            <p:cNvPr id="5" name="Rectangle 4">
              <a:extLst>
                <a:ext uri="{FF2B5EF4-FFF2-40B4-BE49-F238E27FC236}">
                  <a16:creationId xmlns:a16="http://schemas.microsoft.com/office/drawing/2014/main" id="{E970CB39-3E56-AEEB-A325-8FBCC0D200AB}"/>
                </a:ext>
              </a:extLst>
            </p:cNvPr>
            <p:cNvSpPr/>
            <p:nvPr/>
          </p:nvSpPr>
          <p:spPr>
            <a:xfrm>
              <a:off x="8956346" y="57955"/>
              <a:ext cx="466540" cy="812090"/>
            </a:xfrm>
            <a:prstGeom prst="rect">
              <a:avLst/>
            </a:prstGeom>
            <a:solidFill>
              <a:srgbClr val="FFF5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 name="Rectangle 6">
              <a:extLst>
                <a:ext uri="{FF2B5EF4-FFF2-40B4-BE49-F238E27FC236}">
                  <a16:creationId xmlns:a16="http://schemas.microsoft.com/office/drawing/2014/main" id="{3470C1F0-58E4-AD65-5AEF-D73BB4C27FDA}"/>
                </a:ext>
              </a:extLst>
            </p:cNvPr>
            <p:cNvSpPr/>
            <p:nvPr/>
          </p:nvSpPr>
          <p:spPr>
            <a:xfrm>
              <a:off x="8721396" y="57954"/>
              <a:ext cx="234950" cy="812090"/>
            </a:xfrm>
            <a:prstGeom prst="rect">
              <a:avLst/>
            </a:prstGeom>
            <a:solidFill>
              <a:srgbClr val="FBD3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 name="Rectangle 7">
              <a:extLst>
                <a:ext uri="{FF2B5EF4-FFF2-40B4-BE49-F238E27FC236}">
                  <a16:creationId xmlns:a16="http://schemas.microsoft.com/office/drawing/2014/main" id="{FB55564E-4A5C-031D-F846-8760FDFA2018}"/>
                </a:ext>
              </a:extLst>
            </p:cNvPr>
            <p:cNvSpPr/>
            <p:nvPr/>
          </p:nvSpPr>
          <p:spPr>
            <a:xfrm>
              <a:off x="8600746" y="57953"/>
              <a:ext cx="120650" cy="8120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9" name="Picture 8">
              <a:extLst>
                <a:ext uri="{FF2B5EF4-FFF2-40B4-BE49-F238E27FC236}">
                  <a16:creationId xmlns:a16="http://schemas.microsoft.com/office/drawing/2014/main" id="{E0E88C74-B030-9105-462C-CF627B588E46}"/>
                </a:ext>
              </a:extLst>
            </p:cNvPr>
            <p:cNvPicPr>
              <a:picLocks noChangeAspect="1"/>
            </p:cNvPicPr>
            <p:nvPr/>
          </p:nvPicPr>
          <p:blipFill>
            <a:blip r:embed="rId2"/>
            <a:stretch>
              <a:fillRect/>
            </a:stretch>
          </p:blipFill>
          <p:spPr>
            <a:xfrm>
              <a:off x="8648895" y="131258"/>
              <a:ext cx="773991" cy="773991"/>
            </a:xfrm>
            <a:prstGeom prst="rect">
              <a:avLst/>
            </a:prstGeom>
          </p:spPr>
        </p:pic>
      </p:grpSp>
      <p:sp>
        <p:nvSpPr>
          <p:cNvPr id="10" name="TextBox 9">
            <a:extLst>
              <a:ext uri="{FF2B5EF4-FFF2-40B4-BE49-F238E27FC236}">
                <a16:creationId xmlns:a16="http://schemas.microsoft.com/office/drawing/2014/main" id="{44A3B1F6-3CCD-308C-1521-9E16BB203413}"/>
              </a:ext>
            </a:extLst>
          </p:cNvPr>
          <p:cNvSpPr txBox="1"/>
          <p:nvPr/>
        </p:nvSpPr>
        <p:spPr>
          <a:xfrm>
            <a:off x="1008590" y="5836490"/>
            <a:ext cx="3340806" cy="830997"/>
          </a:xfrm>
          <a:prstGeom prst="rect">
            <a:avLst/>
          </a:prstGeom>
          <a:noFill/>
        </p:spPr>
        <p:txBody>
          <a:bodyPr wrap="square" rtlCol="0">
            <a:spAutoFit/>
          </a:bodyPr>
          <a:lstStyle/>
          <a:p>
            <a:r>
              <a:rPr lang="en-CH" sz="1600" dirty="0"/>
              <a:t>This icon indicates slides which can be adjusted to your own context (if necessary).</a:t>
            </a:r>
          </a:p>
        </p:txBody>
      </p:sp>
      <p:sp>
        <p:nvSpPr>
          <p:cNvPr id="11" name="Picture Placeholder 7">
            <a:extLst>
              <a:ext uri="{FF2B5EF4-FFF2-40B4-BE49-F238E27FC236}">
                <a16:creationId xmlns:a16="http://schemas.microsoft.com/office/drawing/2014/main" id="{67F6C609-1F4F-8A64-195E-883268F811A6}"/>
              </a:ext>
            </a:extLst>
          </p:cNvPr>
          <p:cNvSpPr>
            <a:spLocks noGrp="1"/>
          </p:cNvSpPr>
          <p:nvPr>
            <p:ph type="pic" sz="quarter" idx="13"/>
          </p:nvPr>
        </p:nvSpPr>
        <p:spPr>
          <a:xfrm>
            <a:off x="457200" y="603504"/>
            <a:ext cx="4050792" cy="5577840"/>
          </a:xfrm>
        </p:spPr>
        <p:txBody>
          <a:bodyPr/>
          <a:lstStyle/>
          <a:p>
            <a:endParaRPr lang="en-CH"/>
          </a:p>
        </p:txBody>
      </p:sp>
    </p:spTree>
    <p:extLst>
      <p:ext uri="{BB962C8B-B14F-4D97-AF65-F5344CB8AC3E}">
        <p14:creationId xmlns:p14="http://schemas.microsoft.com/office/powerpoint/2010/main" val="2805465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01C14-7F4D-4D43-AB31-14E1B4AA1C63}"/>
              </a:ext>
            </a:extLst>
          </p:cNvPr>
          <p:cNvSpPr>
            <a:spLocks noGrp="1"/>
          </p:cNvSpPr>
          <p:nvPr>
            <p:ph type="title"/>
          </p:nvPr>
        </p:nvSpPr>
        <p:spPr/>
        <p:txBody>
          <a:bodyPr/>
          <a:lstStyle/>
          <a:p>
            <a:r>
              <a:rPr lang="en-US" dirty="0"/>
              <a:t>Learning Outcomes</a:t>
            </a:r>
          </a:p>
        </p:txBody>
      </p:sp>
      <p:sp>
        <p:nvSpPr>
          <p:cNvPr id="3" name="Content Placeholder 2">
            <a:extLst>
              <a:ext uri="{FF2B5EF4-FFF2-40B4-BE49-F238E27FC236}">
                <a16:creationId xmlns:a16="http://schemas.microsoft.com/office/drawing/2014/main" id="{04141C1E-7FB9-4FD0-9195-B9ADFD18ADC1}"/>
              </a:ext>
            </a:extLst>
          </p:cNvPr>
          <p:cNvSpPr>
            <a:spLocks noGrp="1"/>
          </p:cNvSpPr>
          <p:nvPr>
            <p:ph idx="1"/>
          </p:nvPr>
        </p:nvSpPr>
        <p:spPr/>
        <p:txBody>
          <a:bodyPr>
            <a:normAutofit/>
          </a:bodyPr>
          <a:lstStyle/>
          <a:p>
            <a:pPr>
              <a:lnSpc>
                <a:spcPct val="107000"/>
              </a:lnSpc>
              <a:spcAft>
                <a:spcPts val="800"/>
              </a:spcAft>
            </a:pPr>
            <a:r>
              <a:rPr lang="en-US" sz="1800" dirty="0">
                <a:effectLst/>
                <a:ea typeface="Calibri" panose="020F0502020204030204" pitchFamily="34" charset="0"/>
                <a:cs typeface="Calibri" panose="020F0502020204030204" pitchFamily="34" charset="0"/>
              </a:rPr>
              <a:t>In this session, participants will:</a:t>
            </a:r>
            <a:endParaRPr lang="en-CH" sz="1800" dirty="0">
              <a:effectLst/>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US" sz="1800" kern="100" dirty="0">
                <a:effectLst/>
                <a:ea typeface="Calibri" panose="020F0502020204030204" pitchFamily="34" charset="0"/>
                <a:cs typeface="Calibri" panose="020F0502020204030204" pitchFamily="34" charset="0"/>
              </a:rPr>
              <a:t>gain an understanding of the principles and importance of Education for Sustainable Development (ESD)</a:t>
            </a:r>
            <a:endParaRPr lang="en-US" sz="1800" kern="100" dirty="0">
              <a:effectLst/>
              <a:ea typeface="Calibri" panose="020F0502020204030204" pitchFamily="34" charset="0"/>
              <a:cs typeface="Times New Roman" panose="02020603050405020304" pitchFamily="18" charset="0"/>
            </a:endParaRPr>
          </a:p>
          <a:p>
            <a:pPr marL="342900" indent="-342900">
              <a:lnSpc>
                <a:spcPct val="107000"/>
              </a:lnSpc>
              <a:spcAft>
                <a:spcPts val="800"/>
              </a:spcAft>
              <a:buFont typeface="Symbol" panose="05050102010706020507" pitchFamily="18" charset="2"/>
              <a:buChar char=""/>
            </a:pPr>
            <a:r>
              <a:rPr lang="en-GB" kern="100" dirty="0">
                <a:ea typeface="Calibri" panose="020F0502020204030204" pitchFamily="34" charset="0"/>
                <a:cs typeface="Calibri" panose="020F0502020204030204" pitchFamily="34" charset="0"/>
              </a:rPr>
              <a:t>g</a:t>
            </a:r>
            <a:r>
              <a:rPr lang="en-GB" sz="1800" kern="100" dirty="0">
                <a:effectLst/>
                <a:ea typeface="Calibri" panose="020F0502020204030204" pitchFamily="34" charset="0"/>
                <a:cs typeface="Calibri" panose="020F0502020204030204" pitchFamily="34" charset="0"/>
              </a:rPr>
              <a:t>ain an understanding of the concept of constructive alignment in designing effective courses</a:t>
            </a:r>
            <a:endParaRPr lang="en-US" sz="1800" kern="100" dirty="0">
              <a:effectLst/>
              <a:ea typeface="Calibri" panose="020F0502020204030204" pitchFamily="34" charset="0"/>
              <a:cs typeface="Calibri" panose="020F0502020204030204" pitchFamily="34" charset="0"/>
            </a:endParaRPr>
          </a:p>
          <a:p>
            <a:pPr lvl="0">
              <a:lnSpc>
                <a:spcPct val="107000"/>
              </a:lnSpc>
              <a:spcAft>
                <a:spcPts val="800"/>
              </a:spcAft>
            </a:pPr>
            <a:endParaRPr lang="en-CH" sz="18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0C59246-61F9-4344-994B-CAC75B954C24}"/>
              </a:ext>
            </a:extLst>
          </p:cNvPr>
          <p:cNvSpPr>
            <a:spLocks noGrp="1"/>
          </p:cNvSpPr>
          <p:nvPr>
            <p:ph type="sldNum" sz="quarter" idx="12"/>
          </p:nvPr>
        </p:nvSpPr>
        <p:spPr/>
        <p:txBody>
          <a:bodyPr/>
          <a:lstStyle/>
          <a:p>
            <a:fld id="{A65A5C87-DF58-40C8-B092-1DE63DB4547E}" type="slidenum">
              <a:rPr lang="en-US" smtClean="0"/>
              <a:pPr/>
              <a:t>3</a:t>
            </a:fld>
            <a:endParaRPr lang="en-US" dirty="0"/>
          </a:p>
        </p:txBody>
      </p:sp>
      <p:pic>
        <p:nvPicPr>
          <p:cNvPr id="5" name="Picture Placeholder 4">
            <a:extLst>
              <a:ext uri="{FF2B5EF4-FFF2-40B4-BE49-F238E27FC236}">
                <a16:creationId xmlns:a16="http://schemas.microsoft.com/office/drawing/2014/main" id="{DC2750B6-3393-32B9-A2E6-D707B1E9328E}"/>
              </a:ext>
            </a:extLst>
          </p:cNvPr>
          <p:cNvPicPr>
            <a:picLocks noGrp="1" noChangeAspect="1"/>
          </p:cNvPicPr>
          <p:nvPr>
            <p:ph type="pic" sz="quarter" idx="14"/>
          </p:nvPr>
        </p:nvPicPr>
        <p:blipFill>
          <a:blip r:embed="rId2"/>
          <a:srcRect t="952" b="952"/>
          <a:stretch>
            <a:fillRect/>
          </a:stretch>
        </p:blipFill>
        <p:spPr>
          <a:xfrm>
            <a:off x="7405688" y="2421462"/>
            <a:ext cx="4481512" cy="3170237"/>
          </a:xfrm>
          <a:prstGeom prst="rect">
            <a:avLst/>
          </a:prstGeom>
        </p:spPr>
      </p:pic>
      <p:sp>
        <p:nvSpPr>
          <p:cNvPr id="7" name="TextBox 6">
            <a:extLst>
              <a:ext uri="{FF2B5EF4-FFF2-40B4-BE49-F238E27FC236}">
                <a16:creationId xmlns:a16="http://schemas.microsoft.com/office/drawing/2014/main" id="{F01BDE4C-CF08-205B-A3AA-566DDF61E3ED}"/>
              </a:ext>
            </a:extLst>
          </p:cNvPr>
          <p:cNvSpPr txBox="1"/>
          <p:nvPr/>
        </p:nvSpPr>
        <p:spPr>
          <a:xfrm>
            <a:off x="7405688" y="5858178"/>
            <a:ext cx="4696431" cy="800219"/>
          </a:xfrm>
          <a:prstGeom prst="rect">
            <a:avLst/>
          </a:prstGeom>
          <a:noFill/>
        </p:spPr>
        <p:txBody>
          <a:bodyPr wrap="square">
            <a:spAutoFit/>
          </a:bodyPr>
          <a:lstStyle/>
          <a:p>
            <a:r>
              <a:rPr lang="en-US" sz="1200" i="1" dirty="0"/>
              <a:t>Spray &amp; Pray: the assumption that students, spurred on by hearing floods of scientific facts and words, will change the world professionally after they leave the classroom. </a:t>
            </a:r>
          </a:p>
          <a:p>
            <a:r>
              <a:rPr lang="en-US" sz="1000" i="1" dirty="0"/>
              <a:t>Illustration: Karl Herweg</a:t>
            </a:r>
          </a:p>
        </p:txBody>
      </p:sp>
    </p:spTree>
    <p:extLst>
      <p:ext uri="{BB962C8B-B14F-4D97-AF65-F5344CB8AC3E}">
        <p14:creationId xmlns:p14="http://schemas.microsoft.com/office/powerpoint/2010/main" val="3417093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E6A1A-7E83-2A26-F944-52D4B29C0989}"/>
              </a:ext>
            </a:extLst>
          </p:cNvPr>
          <p:cNvSpPr>
            <a:spLocks noGrp="1"/>
          </p:cNvSpPr>
          <p:nvPr>
            <p:ph type="title"/>
          </p:nvPr>
        </p:nvSpPr>
        <p:spPr>
          <a:xfrm>
            <a:off x="841246" y="978619"/>
            <a:ext cx="5991244" cy="1106424"/>
          </a:xfrm>
        </p:spPr>
        <p:txBody>
          <a:bodyPr vert="horz" lIns="91440" tIns="45720" rIns="91440" bIns="45720" rtlCol="0" anchor="ctr">
            <a:normAutofit/>
          </a:bodyPr>
          <a:lstStyle/>
          <a:p>
            <a:r>
              <a:rPr lang="en-US" sz="3200" dirty="0"/>
              <a:t>Plenary discussion </a:t>
            </a:r>
          </a:p>
        </p:txBody>
      </p:sp>
      <p:sp>
        <p:nvSpPr>
          <p:cNvPr id="9" name="TextBox 8">
            <a:extLst>
              <a:ext uri="{FF2B5EF4-FFF2-40B4-BE49-F238E27FC236}">
                <a16:creationId xmlns:a16="http://schemas.microsoft.com/office/drawing/2014/main" id="{079D97C2-AB43-5C8D-2AB8-71368E8734BB}"/>
              </a:ext>
            </a:extLst>
          </p:cNvPr>
          <p:cNvSpPr txBox="1"/>
          <p:nvPr/>
        </p:nvSpPr>
        <p:spPr>
          <a:xfrm>
            <a:off x="841248" y="2252870"/>
            <a:ext cx="5993892" cy="3560251"/>
          </a:xfrm>
          <a:prstGeom prst="rect">
            <a:avLst/>
          </a:prstGeom>
        </p:spPr>
        <p:txBody>
          <a:bodyPr vert="horz" lIns="91440" tIns="45720" rIns="91440" bIns="45720" rtlCol="0" anchor="t">
            <a:normAutofit fontScale="77500" lnSpcReduction="20000"/>
          </a:bodyPr>
          <a:lstStyle/>
          <a:p>
            <a:pPr marL="342900" indent="-342900">
              <a:lnSpc>
                <a:spcPct val="110000"/>
              </a:lnSpc>
              <a:spcAft>
                <a:spcPts val="600"/>
              </a:spcAft>
              <a:buFont typeface="Arial" panose="020B0604020202020204" pitchFamily="34" charset="0"/>
              <a:buChar char="•"/>
            </a:pPr>
            <a:r>
              <a:rPr lang="en-US" sz="2400" dirty="0"/>
              <a:t>Present the </a:t>
            </a:r>
            <a:r>
              <a:rPr lang="en-GB" sz="2400" dirty="0"/>
              <a:t>opportunities you have identified to incorporate Sustainable Development concepts and topics into your course(s) – task 2. </a:t>
            </a:r>
          </a:p>
          <a:p>
            <a:pPr marL="800100" lvl="1" indent="-342900">
              <a:lnSpc>
                <a:spcPct val="110000"/>
              </a:lnSpc>
              <a:spcAft>
                <a:spcPts val="600"/>
              </a:spcAft>
              <a:buFont typeface="Arial" panose="020B0604020202020204" pitchFamily="34" charset="0"/>
              <a:buChar char="•"/>
            </a:pPr>
            <a:r>
              <a:rPr lang="en-GB" sz="2400" dirty="0"/>
              <a:t>These could include the Sustainable Development Goals </a:t>
            </a:r>
            <a:r>
              <a:rPr lang="en-GB" sz="2400" dirty="0">
                <a:ea typeface="+mn-lt"/>
                <a:cs typeface="+mn-lt"/>
              </a:rPr>
              <a:t>(+other frameworks relevant to your context), </a:t>
            </a:r>
            <a:r>
              <a:rPr lang="en-GB" sz="2400" dirty="0"/>
              <a:t>global sustainability challenges, or different sustainability perspectives.</a:t>
            </a:r>
          </a:p>
          <a:p>
            <a:pPr marL="800100" lvl="1" indent="-342900">
              <a:lnSpc>
                <a:spcPct val="110000"/>
              </a:lnSpc>
              <a:spcAft>
                <a:spcPts val="600"/>
              </a:spcAft>
              <a:buFont typeface="Arial" panose="020B0604020202020204" pitchFamily="34" charset="0"/>
              <a:buChar char="•"/>
            </a:pPr>
            <a:r>
              <a:rPr lang="en-GB" sz="2400" dirty="0">
                <a:solidFill>
                  <a:srgbClr val="000000"/>
                </a:solidFill>
                <a:latin typeface="Avenir Next LT Pro"/>
                <a:cs typeface="Arial"/>
              </a:rPr>
              <a:t>What links does your discipline have with SD? </a:t>
            </a:r>
            <a:endParaRPr lang="en-US" sz="2400" dirty="0"/>
          </a:p>
          <a:p>
            <a:pPr>
              <a:lnSpc>
                <a:spcPct val="110000"/>
              </a:lnSpc>
              <a:spcAft>
                <a:spcPts val="600"/>
              </a:spcAft>
            </a:pPr>
            <a:endParaRPr lang="en-US" sz="2400" dirty="0"/>
          </a:p>
          <a:p>
            <a:pPr>
              <a:lnSpc>
                <a:spcPct val="110000"/>
              </a:lnSpc>
              <a:spcAft>
                <a:spcPts val="600"/>
              </a:spcAft>
            </a:pPr>
            <a:r>
              <a:rPr lang="en-US" sz="2400" dirty="0"/>
              <a:t>	</a:t>
            </a:r>
          </a:p>
        </p:txBody>
      </p:sp>
      <p:sp>
        <p:nvSpPr>
          <p:cNvPr id="6" name="Slide Number Placeholder 5">
            <a:extLst>
              <a:ext uri="{FF2B5EF4-FFF2-40B4-BE49-F238E27FC236}">
                <a16:creationId xmlns:a16="http://schemas.microsoft.com/office/drawing/2014/main" id="{FBD39606-4185-76E0-782E-5C756BE59826}"/>
              </a:ext>
            </a:extLst>
          </p:cNvPr>
          <p:cNvSpPr>
            <a:spLocks noGrp="1"/>
          </p:cNvSpPr>
          <p:nvPr>
            <p:ph type="sldNum" sz="quarter" idx="12"/>
          </p:nvPr>
        </p:nvSpPr>
        <p:spPr>
          <a:xfrm>
            <a:off x="8613648" y="6356350"/>
            <a:ext cx="2743200" cy="365125"/>
          </a:xfrm>
        </p:spPr>
        <p:txBody>
          <a:bodyPr vert="horz" lIns="91440" tIns="45720" rIns="91440" bIns="45720" rtlCol="0" anchor="ctr">
            <a:normAutofit/>
          </a:bodyPr>
          <a:lstStyle/>
          <a:p>
            <a:pPr>
              <a:spcAft>
                <a:spcPts val="600"/>
              </a:spcAft>
            </a:pPr>
            <a:fld id="{A65A5C87-DF58-40C8-B092-1DE63DB4547E}" type="slidenum">
              <a:rPr lang="en-US">
                <a:solidFill>
                  <a:schemeClr val="tx2">
                    <a:lumMod val="50000"/>
                    <a:lumOff val="50000"/>
                  </a:schemeClr>
                </a:solidFill>
              </a:rPr>
              <a:pPr>
                <a:spcAft>
                  <a:spcPts val="600"/>
                </a:spcAft>
              </a:pPr>
              <a:t>4</a:t>
            </a:fld>
            <a:endParaRPr lang="en-US">
              <a:solidFill>
                <a:schemeClr val="tx2">
                  <a:lumMod val="50000"/>
                  <a:lumOff val="50000"/>
                </a:schemeClr>
              </a:solidFill>
            </a:endParaRPr>
          </a:p>
        </p:txBody>
      </p:sp>
      <p:pic>
        <p:nvPicPr>
          <p:cNvPr id="5" name="Graphic 4" descr="Chat outline">
            <a:extLst>
              <a:ext uri="{FF2B5EF4-FFF2-40B4-BE49-F238E27FC236}">
                <a16:creationId xmlns:a16="http://schemas.microsoft.com/office/drawing/2014/main" id="{E93135F6-8C06-556C-81E6-802718EFB4D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378348" y="1660008"/>
            <a:ext cx="4217332" cy="4217332"/>
          </a:xfrm>
          <a:prstGeom prst="rect">
            <a:avLst/>
          </a:prstGeom>
        </p:spPr>
      </p:pic>
    </p:spTree>
    <p:extLst>
      <p:ext uri="{BB962C8B-B14F-4D97-AF65-F5344CB8AC3E}">
        <p14:creationId xmlns:p14="http://schemas.microsoft.com/office/powerpoint/2010/main" val="1676133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pPr marL="0" indent="0">
              <a:lnSpc>
                <a:spcPct val="110000"/>
              </a:lnSpc>
              <a:buNone/>
            </a:pPr>
            <a:r>
              <a:rPr lang="en-US" sz="5400" dirty="0">
                <a:effectLst/>
                <a:ea typeface="Calibri" panose="020F0502020204030204" pitchFamily="34" charset="0"/>
              </a:rPr>
              <a:t>Introduction to ESD</a:t>
            </a:r>
            <a:endParaRPr lang="en-US" sz="5400" dirty="0">
              <a:highlight>
                <a:srgbClr val="FFFF00"/>
              </a:highlight>
            </a:endParaRP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normAutofit/>
          </a:bodyPr>
          <a:lstStyle/>
          <a:p>
            <a:pPr algn="ctr"/>
            <a:r>
              <a:rPr lang="en-US" sz="9600" dirty="0"/>
              <a:t>1</a:t>
            </a:r>
          </a:p>
        </p:txBody>
      </p:sp>
    </p:spTree>
    <p:extLst>
      <p:ext uri="{BB962C8B-B14F-4D97-AF65-F5344CB8AC3E}">
        <p14:creationId xmlns:p14="http://schemas.microsoft.com/office/powerpoint/2010/main" val="2177544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3" name="Rectangle 1032">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35" name="Rectangle 1034">
            <a:extLst>
              <a:ext uri="{FF2B5EF4-FFF2-40B4-BE49-F238E27FC236}">
                <a16:creationId xmlns:a16="http://schemas.microsoft.com/office/drawing/2014/main" id="{D898B8EB-E53C-4E72-9817-B4BFCAD73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37" name="Freeform: Shape 1036">
            <a:extLst>
              <a:ext uri="{FF2B5EF4-FFF2-40B4-BE49-F238E27FC236}">
                <a16:creationId xmlns:a16="http://schemas.microsoft.com/office/drawing/2014/main" id="{4E130362-2F35-4AB7-9EA5-DBC0F771A5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39" name="Freeform: Shape 1038">
            <a:extLst>
              <a:ext uri="{FF2B5EF4-FFF2-40B4-BE49-F238E27FC236}">
                <a16:creationId xmlns:a16="http://schemas.microsoft.com/office/drawing/2014/main" id="{56BE988C-7A5B-41EC-A46C-AEA93D8D32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4D3CF62-DE1B-4B80-4688-689848AA4258}"/>
              </a:ext>
            </a:extLst>
          </p:cNvPr>
          <p:cNvSpPr>
            <a:spLocks noGrp="1"/>
          </p:cNvSpPr>
          <p:nvPr>
            <p:ph type="title"/>
          </p:nvPr>
        </p:nvSpPr>
        <p:spPr>
          <a:xfrm>
            <a:off x="475488" y="1124712"/>
            <a:ext cx="4023360" cy="3200400"/>
          </a:xfrm>
        </p:spPr>
        <p:txBody>
          <a:bodyPr vert="horz" lIns="91440" tIns="45720" rIns="91440" bIns="45720" rtlCol="0" anchor="b">
            <a:normAutofit/>
          </a:bodyPr>
          <a:lstStyle/>
          <a:p>
            <a:r>
              <a:rPr lang="en-US" sz="4800" dirty="0"/>
              <a:t>Complex sustainability challenges </a:t>
            </a:r>
          </a:p>
        </p:txBody>
      </p:sp>
      <p:sp>
        <p:nvSpPr>
          <p:cNvPr id="1041" name="Rectangle 1040">
            <a:extLst>
              <a:ext uri="{FF2B5EF4-FFF2-40B4-BE49-F238E27FC236}">
                <a16:creationId xmlns:a16="http://schemas.microsoft.com/office/drawing/2014/main" id="{E3CB1EC0-40A9-4D5E-B7E2-6E3423CE2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Grafik 8" descr="A diagram of a graph&#10;&#10;Description automatically generated">
            <a:extLst>
              <a:ext uri="{FF2B5EF4-FFF2-40B4-BE49-F238E27FC236}">
                <a16:creationId xmlns:a16="http://schemas.microsoft.com/office/drawing/2014/main" id="{8591BDE2-0643-DC6B-0F48-EFFD50BABD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677114" y="625682"/>
            <a:ext cx="2629996" cy="267004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 descr="A group of people in a street&#10;&#10;Description automatically generated">
            <a:extLst>
              <a:ext uri="{FF2B5EF4-FFF2-40B4-BE49-F238E27FC236}">
                <a16:creationId xmlns:a16="http://schemas.microsoft.com/office/drawing/2014/main" id="{E54F1FE0-280C-5701-8E99-5600F7EC2A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8705088" y="746840"/>
            <a:ext cx="3236976" cy="242773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3" name="Rectangle 1042">
            <a:extLst>
              <a:ext uri="{FF2B5EF4-FFF2-40B4-BE49-F238E27FC236}">
                <a16:creationId xmlns:a16="http://schemas.microsoft.com/office/drawing/2014/main" id="{DCBE52EF-2889-423F-947C-0E44A760D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2" descr="A green landscape with trees and hills&#10;&#10;Description automatically generated with medium confidence">
            <a:extLst>
              <a:ext uri="{FF2B5EF4-FFF2-40B4-BE49-F238E27FC236}">
                <a16:creationId xmlns:a16="http://schemas.microsoft.com/office/drawing/2014/main" id="{4D9C75AF-EA2A-56E5-506D-6C87F76CC09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b="388"/>
          <a:stretch>
            <a:fillRect/>
          </a:stretch>
        </p:blipFill>
        <p:spPr bwMode="auto">
          <a:xfrm>
            <a:off x="5373624" y="3513928"/>
            <a:ext cx="3236976" cy="241831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descr="A screenshot of a computer screen&#10;&#10;Description automatically generated">
            <a:extLst>
              <a:ext uri="{FF2B5EF4-FFF2-40B4-BE49-F238E27FC236}">
                <a16:creationId xmlns:a16="http://schemas.microsoft.com/office/drawing/2014/main" id="{821CBE4E-1959-9335-33EB-0932C5575B11}"/>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8706042" y="3748263"/>
            <a:ext cx="3236976" cy="195837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397D563A-A4DE-C2D1-9083-09AA5F8BCB63}"/>
              </a:ext>
            </a:extLst>
          </p:cNvPr>
          <p:cNvSpPr>
            <a:spLocks noGrp="1"/>
          </p:cNvSpPr>
          <p:nvPr>
            <p:ph type="sldNum" sz="quarter" idx="12"/>
          </p:nvPr>
        </p:nvSpPr>
        <p:spPr>
          <a:xfrm>
            <a:off x="9843588" y="6356350"/>
            <a:ext cx="1865376" cy="365125"/>
          </a:xfrm>
        </p:spPr>
        <p:txBody>
          <a:bodyPr vert="horz" lIns="91440" tIns="45720" rIns="91440" bIns="45720" rtlCol="0" anchor="ctr">
            <a:normAutofit/>
          </a:bodyPr>
          <a:lstStyle/>
          <a:p>
            <a:pPr>
              <a:spcAft>
                <a:spcPts val="600"/>
              </a:spcAft>
            </a:pPr>
            <a:fld id="{A65A5C87-DF58-40C8-B092-1DE63DB4547E}" type="slidenum">
              <a:rPr lang="en-US" smtClean="0"/>
              <a:pPr>
                <a:spcAft>
                  <a:spcPts val="600"/>
                </a:spcAft>
              </a:pPr>
              <a:t>6</a:t>
            </a:fld>
            <a:endParaRPr lang="en-US"/>
          </a:p>
        </p:txBody>
      </p:sp>
    </p:spTree>
    <p:extLst>
      <p:ext uri="{BB962C8B-B14F-4D97-AF65-F5344CB8AC3E}">
        <p14:creationId xmlns:p14="http://schemas.microsoft.com/office/powerpoint/2010/main" val="799858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BBFAC93-8CD6-7265-BEB2-45BC6DD3CC32}"/>
              </a:ext>
            </a:extLst>
          </p:cNvPr>
          <p:cNvSpPr>
            <a:spLocks noGrp="1"/>
          </p:cNvSpPr>
          <p:nvPr>
            <p:ph type="title"/>
          </p:nvPr>
        </p:nvSpPr>
        <p:spPr>
          <a:xfrm>
            <a:off x="841246" y="978619"/>
            <a:ext cx="5991244" cy="1106424"/>
          </a:xfrm>
        </p:spPr>
        <p:txBody>
          <a:bodyPr>
            <a:normAutofit/>
          </a:bodyPr>
          <a:lstStyle/>
          <a:p>
            <a:r>
              <a:rPr lang="de-CH" sz="3200"/>
              <a:t>New form of science and education </a:t>
            </a:r>
            <a:endParaRPr lang="en-CH" sz="3200"/>
          </a:p>
        </p:txBody>
      </p:sp>
      <p:sp>
        <p:nvSpPr>
          <p:cNvPr id="16" name="Rectangle 15">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8"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E48C929-10A9-83E7-B072-1F100672B4F9}"/>
              </a:ext>
            </a:extLst>
          </p:cNvPr>
          <p:cNvSpPr>
            <a:spLocks noGrp="1"/>
          </p:cNvSpPr>
          <p:nvPr>
            <p:ph idx="1"/>
          </p:nvPr>
        </p:nvSpPr>
        <p:spPr>
          <a:xfrm>
            <a:off x="841248" y="2252870"/>
            <a:ext cx="5993892" cy="3560251"/>
          </a:xfrm>
        </p:spPr>
        <p:txBody>
          <a:bodyPr>
            <a:normAutofit/>
          </a:bodyPr>
          <a:lstStyle/>
          <a:p>
            <a:r>
              <a:rPr lang="en-GB" sz="1800" dirty="0"/>
              <a:t>UN 2030 Agenda for Sustainable Development calls for a new form of science, actively contributing to sustainability transformation.</a:t>
            </a:r>
          </a:p>
          <a:p>
            <a:r>
              <a:rPr lang="en-GB" sz="1800" dirty="0"/>
              <a:t>Business as usual is no longer an option. </a:t>
            </a:r>
          </a:p>
          <a:p>
            <a:r>
              <a:rPr lang="en-GB" sz="1800" dirty="0"/>
              <a:t>What kind of research is required for sustainability and transformative science?</a:t>
            </a:r>
          </a:p>
          <a:p>
            <a:r>
              <a:rPr lang="en-GB" sz="1800" b="1" dirty="0"/>
              <a:t>What kind of education is required? </a:t>
            </a:r>
            <a:endParaRPr lang="en-CH" sz="1800" b="1" dirty="0"/>
          </a:p>
        </p:txBody>
      </p:sp>
      <p:pic>
        <p:nvPicPr>
          <p:cNvPr id="7" name="Picture 6">
            <a:extLst>
              <a:ext uri="{FF2B5EF4-FFF2-40B4-BE49-F238E27FC236}">
                <a16:creationId xmlns:a16="http://schemas.microsoft.com/office/drawing/2014/main" id="{4996097C-A4F7-8226-2739-A6DFB4967E2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7679814" y="2067025"/>
            <a:ext cx="4097657" cy="2623366"/>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a:extLst>
              <a:ext uri="{FF2B5EF4-FFF2-40B4-BE49-F238E27FC236}">
                <a16:creationId xmlns:a16="http://schemas.microsoft.com/office/drawing/2014/main" id="{1095F8FC-7DCA-4055-DA73-F0AA699D534C}"/>
              </a:ext>
            </a:extLst>
          </p:cNvPr>
          <p:cNvSpPr>
            <a:spLocks noGrp="1"/>
          </p:cNvSpPr>
          <p:nvPr>
            <p:ph type="sldNum" sz="quarter" idx="12"/>
          </p:nvPr>
        </p:nvSpPr>
        <p:spPr>
          <a:xfrm>
            <a:off x="8613648" y="6356350"/>
            <a:ext cx="2743200" cy="365125"/>
          </a:xfrm>
        </p:spPr>
        <p:txBody>
          <a:bodyPr>
            <a:normAutofit/>
          </a:bodyPr>
          <a:lstStyle/>
          <a:p>
            <a:pPr>
              <a:spcAft>
                <a:spcPts val="600"/>
              </a:spcAft>
            </a:pPr>
            <a:fld id="{A65A5C87-DF58-40C8-B092-1DE63DB4547E}" type="slidenum">
              <a:rPr lang="en-US">
                <a:solidFill>
                  <a:schemeClr val="tx2">
                    <a:lumMod val="50000"/>
                    <a:lumOff val="50000"/>
                  </a:schemeClr>
                </a:solidFill>
              </a:rPr>
              <a:pPr>
                <a:spcAft>
                  <a:spcPts val="600"/>
                </a:spcAft>
              </a:pPr>
              <a:t>7</a:t>
            </a:fld>
            <a:endParaRPr lang="en-US">
              <a:solidFill>
                <a:schemeClr val="tx2">
                  <a:lumMod val="50000"/>
                  <a:lumOff val="50000"/>
                </a:schemeClr>
              </a:solidFill>
            </a:endParaRPr>
          </a:p>
        </p:txBody>
      </p:sp>
      <p:sp>
        <p:nvSpPr>
          <p:cNvPr id="8" name="Rectangle 7">
            <a:extLst>
              <a:ext uri="{FF2B5EF4-FFF2-40B4-BE49-F238E27FC236}">
                <a16:creationId xmlns:a16="http://schemas.microsoft.com/office/drawing/2014/main" id="{7BA2FB44-77A8-B8DC-A9D5-37EC98C00B2F}"/>
              </a:ext>
            </a:extLst>
          </p:cNvPr>
          <p:cNvSpPr/>
          <p:nvPr/>
        </p:nvSpPr>
        <p:spPr>
          <a:xfrm>
            <a:off x="8084783" y="4846594"/>
            <a:ext cx="1795300" cy="267766"/>
          </a:xfrm>
          <a:prstGeom prst="rect">
            <a:avLst/>
          </a:prstGeom>
        </p:spPr>
        <p:txBody>
          <a:bodyPr wrap="none">
            <a:spAutoFit/>
          </a:bodyPr>
          <a:lstStyle/>
          <a:p>
            <a:pPr marL="0" lvl="1" indent="-381000">
              <a:lnSpc>
                <a:spcPct val="95000"/>
              </a:lnSpc>
              <a:spcBef>
                <a:spcPct val="20000"/>
              </a:spcBef>
              <a:spcAft>
                <a:spcPct val="10000"/>
              </a:spcAft>
              <a:buClr>
                <a:schemeClr val="hlink"/>
              </a:buClr>
              <a:buSzPct val="85000"/>
            </a:pPr>
            <a:r>
              <a:rPr lang="en-GB" sz="1200" dirty="0">
                <a:cs typeface="Arial" panose="020B0604020202020204" pitchFamily="34" charset="0"/>
              </a:rPr>
              <a:t>Illustrations: K Herweg</a:t>
            </a:r>
            <a:r>
              <a:rPr lang="en-GB" sz="1200" kern="0" dirty="0">
                <a:solidFill>
                  <a:srgbClr val="333333"/>
                </a:solidFill>
                <a:ea typeface="ヒラギノ角ゴ Pro W3" pitchFamily="-84" charset="-128"/>
                <a:cs typeface="Arial" panose="020B0604020202020204" pitchFamily="34" charset="0"/>
              </a:rPr>
              <a:t> </a:t>
            </a:r>
          </a:p>
        </p:txBody>
      </p:sp>
      <p:sp>
        <p:nvSpPr>
          <p:cNvPr id="9" name="Oval 8">
            <a:extLst>
              <a:ext uri="{FF2B5EF4-FFF2-40B4-BE49-F238E27FC236}">
                <a16:creationId xmlns:a16="http://schemas.microsoft.com/office/drawing/2014/main" id="{676B0418-7E6D-E05B-8E2B-78A63DA14878}"/>
              </a:ext>
            </a:extLst>
          </p:cNvPr>
          <p:cNvSpPr/>
          <p:nvPr/>
        </p:nvSpPr>
        <p:spPr>
          <a:xfrm>
            <a:off x="9813850" y="274531"/>
            <a:ext cx="2111061" cy="8967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CH" sz="1200" dirty="0"/>
              <a:t>Link </a:t>
            </a:r>
            <a:r>
              <a:rPr lang="de-CH" sz="1200" dirty="0" err="1"/>
              <a:t>to</a:t>
            </a:r>
            <a:r>
              <a:rPr lang="de-CH" sz="1200" dirty="0"/>
              <a:t> Session 2: </a:t>
            </a:r>
            <a:r>
              <a:rPr lang="en-GB" sz="1200" dirty="0"/>
              <a:t>Role of Higher Education and Universities</a:t>
            </a:r>
            <a:r>
              <a:rPr lang="en-GB" sz="1200" dirty="0">
                <a:solidFill>
                  <a:srgbClr val="FF0000"/>
                </a:solidFill>
              </a:rPr>
              <a:t> </a:t>
            </a:r>
            <a:endParaRPr lang="en-CH" sz="1200" dirty="0"/>
          </a:p>
        </p:txBody>
      </p:sp>
    </p:spTree>
    <p:extLst>
      <p:ext uri="{BB962C8B-B14F-4D97-AF65-F5344CB8AC3E}">
        <p14:creationId xmlns:p14="http://schemas.microsoft.com/office/powerpoint/2010/main" val="1610191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209E4-B947-4446-AD42-C1B3A0C1F583}"/>
              </a:ext>
            </a:extLst>
          </p:cNvPr>
          <p:cNvSpPr>
            <a:spLocks noGrp="1"/>
          </p:cNvSpPr>
          <p:nvPr>
            <p:ph type="title"/>
          </p:nvPr>
        </p:nvSpPr>
        <p:spPr/>
        <p:txBody>
          <a:bodyPr/>
          <a:lstStyle/>
          <a:p>
            <a:r>
              <a:rPr lang="en-US" dirty="0"/>
              <a:t>What is ESD? (UNESCO)</a:t>
            </a:r>
          </a:p>
        </p:txBody>
      </p:sp>
      <p:sp>
        <p:nvSpPr>
          <p:cNvPr id="12" name="Content Placeholder 11">
            <a:extLst>
              <a:ext uri="{FF2B5EF4-FFF2-40B4-BE49-F238E27FC236}">
                <a16:creationId xmlns:a16="http://schemas.microsoft.com/office/drawing/2014/main" id="{3D88E8B5-C20C-47A1-9C22-B545284DA4A4}"/>
              </a:ext>
            </a:extLst>
          </p:cNvPr>
          <p:cNvSpPr>
            <a:spLocks noGrp="1"/>
          </p:cNvSpPr>
          <p:nvPr>
            <p:ph sz="half" idx="2"/>
          </p:nvPr>
        </p:nvSpPr>
        <p:spPr>
          <a:xfrm>
            <a:off x="646324" y="2385391"/>
            <a:ext cx="10899352" cy="3923969"/>
          </a:xfrm>
        </p:spPr>
        <p:txBody>
          <a:bodyPr vert="horz" lIns="91440" tIns="45720" rIns="91440" bIns="45720" rtlCol="0" anchor="t">
            <a:normAutofit fontScale="77500" lnSpcReduction="20000"/>
          </a:bodyPr>
          <a:lstStyle/>
          <a:p>
            <a:pPr marL="0" indent="0">
              <a:lnSpc>
                <a:spcPct val="128000"/>
              </a:lnSpc>
              <a:buNone/>
            </a:pPr>
            <a:r>
              <a:rPr lang="en-GB" sz="2400" dirty="0"/>
              <a:t>“ESD gives learners of all ages the </a:t>
            </a:r>
            <a:r>
              <a:rPr lang="en-GB" sz="2400" b="1" dirty="0"/>
              <a:t>knowledge, skills, values </a:t>
            </a:r>
            <a:r>
              <a:rPr lang="en-GB" sz="2400" dirty="0"/>
              <a:t>and</a:t>
            </a:r>
            <a:r>
              <a:rPr lang="en-GB" sz="2400" b="1" dirty="0"/>
              <a:t> agency </a:t>
            </a:r>
            <a:r>
              <a:rPr lang="en-GB" sz="2400" dirty="0"/>
              <a:t>to address </a:t>
            </a:r>
            <a:r>
              <a:rPr lang="en-GB" sz="2400" b="1" dirty="0"/>
              <a:t>interconnected global challenges </a:t>
            </a:r>
            <a:r>
              <a:rPr lang="en-GB" sz="2400" dirty="0"/>
              <a:t>including climate change, loss of biodiversity, unsustainable use of resources, and inequality. It empowers </a:t>
            </a:r>
            <a:r>
              <a:rPr lang="en-GB" sz="2400" b="1" dirty="0"/>
              <a:t>learners of all ages </a:t>
            </a:r>
            <a:r>
              <a:rPr lang="en-GB" sz="2400" dirty="0"/>
              <a:t>to make </a:t>
            </a:r>
            <a:r>
              <a:rPr lang="en-GB" sz="2400" b="1" dirty="0"/>
              <a:t>informed decisions</a:t>
            </a:r>
            <a:r>
              <a:rPr lang="en-GB" sz="2400" dirty="0"/>
              <a:t> and take </a:t>
            </a:r>
            <a:r>
              <a:rPr lang="en-GB" sz="2400" b="1" dirty="0"/>
              <a:t>individual and collective action </a:t>
            </a:r>
            <a:r>
              <a:rPr lang="en-GB" sz="2400" dirty="0"/>
              <a:t>to change society and care for the planet.” </a:t>
            </a:r>
          </a:p>
          <a:p>
            <a:pPr marL="0" indent="0">
              <a:buNone/>
            </a:pPr>
            <a:r>
              <a:rPr lang="en-GB" sz="1400" dirty="0"/>
              <a:t>UNESCO: </a:t>
            </a:r>
            <a:r>
              <a:rPr lang="en-GB" sz="1400" dirty="0">
                <a:hlinkClick r:id="rId3"/>
              </a:rPr>
              <a:t>https://www.unesco.org/en/education-sustainable-development/need-know</a:t>
            </a:r>
            <a:endParaRPr lang="en-GB" sz="1400" dirty="0"/>
          </a:p>
          <a:p>
            <a:pPr marL="0" indent="0">
              <a:buNone/>
            </a:pPr>
            <a:endParaRPr lang="en-GB" sz="2400" dirty="0"/>
          </a:p>
          <a:p>
            <a:pPr marL="0" indent="0">
              <a:buNone/>
            </a:pPr>
            <a:r>
              <a:rPr lang="en-GB" sz="2400" dirty="0"/>
              <a:t>The founding value of ESD is respect</a:t>
            </a:r>
          </a:p>
          <a:p>
            <a:r>
              <a:rPr lang="en-GB" sz="2400" dirty="0"/>
              <a:t>Respect for others</a:t>
            </a:r>
          </a:p>
          <a:p>
            <a:r>
              <a:rPr lang="en-GB" sz="2400" dirty="0"/>
              <a:t>Respect for the present and future generations</a:t>
            </a:r>
          </a:p>
          <a:p>
            <a:r>
              <a:rPr lang="en-GB" sz="2400" dirty="0"/>
              <a:t>Respect for the planet and what it provides to us (resources, fauna, and flora)</a:t>
            </a:r>
          </a:p>
          <a:p>
            <a:pPr marL="0" indent="0">
              <a:buNone/>
            </a:pPr>
            <a:endParaRPr lang="en-GB" dirty="0"/>
          </a:p>
          <a:p>
            <a:pPr marL="0" indent="0">
              <a:buNone/>
            </a:pPr>
            <a:endParaRPr lang="en-GB" dirty="0"/>
          </a:p>
        </p:txBody>
      </p:sp>
      <p:sp>
        <p:nvSpPr>
          <p:cNvPr id="16" name="Slide Number Placeholder 5">
            <a:extLst>
              <a:ext uri="{FF2B5EF4-FFF2-40B4-BE49-F238E27FC236}">
                <a16:creationId xmlns:a16="http://schemas.microsoft.com/office/drawing/2014/main" id="{1A06BCBE-7F1D-4794-A964-0B03C6178B08}"/>
              </a:ext>
            </a:extLst>
          </p:cNvPr>
          <p:cNvSpPr>
            <a:spLocks noGrp="1"/>
          </p:cNvSpPr>
          <p:nvPr>
            <p:ph type="sldNum" sz="quarter" idx="12"/>
          </p:nvPr>
        </p:nvSpPr>
        <p:spPr/>
        <p:txBody>
          <a:bodyPr/>
          <a:lstStyle/>
          <a:p>
            <a:fld id="{A65A5C87-DF58-40C8-B092-1DE63DB4547E}" type="slidenum">
              <a:rPr lang="en-US" smtClean="0"/>
              <a:pPr/>
              <a:t>8</a:t>
            </a:fld>
            <a:endParaRPr lang="en-US" dirty="0"/>
          </a:p>
        </p:txBody>
      </p:sp>
    </p:spTree>
    <p:extLst>
      <p:ext uri="{BB962C8B-B14F-4D97-AF65-F5344CB8AC3E}">
        <p14:creationId xmlns:p14="http://schemas.microsoft.com/office/powerpoint/2010/main" val="3916407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209E4-B947-4446-AD42-C1B3A0C1F583}"/>
              </a:ext>
            </a:extLst>
          </p:cNvPr>
          <p:cNvSpPr>
            <a:spLocks noGrp="1"/>
          </p:cNvSpPr>
          <p:nvPr>
            <p:ph type="title"/>
          </p:nvPr>
        </p:nvSpPr>
        <p:spPr/>
        <p:txBody>
          <a:bodyPr>
            <a:normAutofit fontScale="90000"/>
          </a:bodyPr>
          <a:lstStyle/>
          <a:p>
            <a:r>
              <a:rPr lang="en-US" dirty="0"/>
              <a:t>What is ESD? (UNESCO’s Berlin Declaration) </a:t>
            </a:r>
          </a:p>
        </p:txBody>
      </p:sp>
      <p:sp>
        <p:nvSpPr>
          <p:cNvPr id="12" name="Content Placeholder 11">
            <a:extLst>
              <a:ext uri="{FF2B5EF4-FFF2-40B4-BE49-F238E27FC236}">
                <a16:creationId xmlns:a16="http://schemas.microsoft.com/office/drawing/2014/main" id="{3D88E8B5-C20C-47A1-9C22-B545284DA4A4}"/>
              </a:ext>
            </a:extLst>
          </p:cNvPr>
          <p:cNvSpPr>
            <a:spLocks noGrp="1"/>
          </p:cNvSpPr>
          <p:nvPr>
            <p:ph sz="half" idx="2"/>
          </p:nvPr>
        </p:nvSpPr>
        <p:spPr>
          <a:xfrm>
            <a:off x="646324" y="4152589"/>
            <a:ext cx="10899352" cy="977196"/>
          </a:xfrm>
        </p:spPr>
        <p:txBody>
          <a:bodyPr>
            <a:normAutofit/>
          </a:bodyPr>
          <a:lstStyle/>
          <a:p>
            <a:pPr marL="0" indent="0">
              <a:buNone/>
            </a:pPr>
            <a:endParaRPr lang="en-GB" sz="2000" dirty="0"/>
          </a:p>
          <a:p>
            <a:pPr marL="0" indent="0">
              <a:buNone/>
            </a:pPr>
            <a:endParaRPr lang="en-GB" dirty="0"/>
          </a:p>
        </p:txBody>
      </p:sp>
      <p:sp>
        <p:nvSpPr>
          <p:cNvPr id="16" name="Slide Number Placeholder 5">
            <a:extLst>
              <a:ext uri="{FF2B5EF4-FFF2-40B4-BE49-F238E27FC236}">
                <a16:creationId xmlns:a16="http://schemas.microsoft.com/office/drawing/2014/main" id="{1A06BCBE-7F1D-4794-A964-0B03C6178B08}"/>
              </a:ext>
            </a:extLst>
          </p:cNvPr>
          <p:cNvSpPr>
            <a:spLocks noGrp="1"/>
          </p:cNvSpPr>
          <p:nvPr>
            <p:ph type="sldNum" sz="quarter" idx="12"/>
          </p:nvPr>
        </p:nvSpPr>
        <p:spPr/>
        <p:txBody>
          <a:bodyPr/>
          <a:lstStyle/>
          <a:p>
            <a:fld id="{A65A5C87-DF58-40C8-B092-1DE63DB4547E}" type="slidenum">
              <a:rPr lang="en-US" smtClean="0"/>
              <a:pPr/>
              <a:t>9</a:t>
            </a:fld>
            <a:endParaRPr lang="en-US" dirty="0"/>
          </a:p>
        </p:txBody>
      </p:sp>
      <p:sp>
        <p:nvSpPr>
          <p:cNvPr id="8" name="TextBox 7">
            <a:extLst>
              <a:ext uri="{FF2B5EF4-FFF2-40B4-BE49-F238E27FC236}">
                <a16:creationId xmlns:a16="http://schemas.microsoft.com/office/drawing/2014/main" id="{FEB08DC8-DB57-C9BE-FE48-FCD437904A11}"/>
              </a:ext>
            </a:extLst>
          </p:cNvPr>
          <p:cNvSpPr txBox="1"/>
          <p:nvPr/>
        </p:nvSpPr>
        <p:spPr>
          <a:xfrm>
            <a:off x="566424" y="2356097"/>
            <a:ext cx="5275083" cy="1477328"/>
          </a:xfrm>
          <a:prstGeom prst="rect">
            <a:avLst/>
          </a:prstGeom>
          <a:noFill/>
        </p:spPr>
        <p:txBody>
          <a:bodyPr wrap="square">
            <a:spAutoFit/>
          </a:bodyPr>
          <a:lstStyle/>
          <a:p>
            <a:r>
              <a:rPr lang="en-GB" dirty="0"/>
              <a:t>ESD is the “foundation for the required transformation, providing everyone with the </a:t>
            </a:r>
            <a:r>
              <a:rPr lang="en-GB" b="1" dirty="0"/>
              <a:t>knowledge, skills, values and attitudes </a:t>
            </a:r>
            <a:r>
              <a:rPr lang="en-GB" dirty="0"/>
              <a:t>to become </a:t>
            </a:r>
            <a:r>
              <a:rPr lang="en-GB" b="1" dirty="0"/>
              <a:t>change agents </a:t>
            </a:r>
            <a:r>
              <a:rPr lang="en-GB" dirty="0"/>
              <a:t>for sustainable development”</a:t>
            </a:r>
          </a:p>
        </p:txBody>
      </p:sp>
      <p:pic>
        <p:nvPicPr>
          <p:cNvPr id="13" name="Picture 12">
            <a:hlinkClick r:id="rId3"/>
            <a:extLst>
              <a:ext uri="{FF2B5EF4-FFF2-40B4-BE49-F238E27FC236}">
                <a16:creationId xmlns:a16="http://schemas.microsoft.com/office/drawing/2014/main" id="{2CEFBCB0-FF6C-2DF4-8F6F-1A2A002DE5A6}"/>
              </a:ext>
            </a:extLst>
          </p:cNvPr>
          <p:cNvPicPr>
            <a:picLocks noChangeAspect="1"/>
          </p:cNvPicPr>
          <p:nvPr/>
        </p:nvPicPr>
        <p:blipFill>
          <a:blip r:embed="rId4"/>
          <a:stretch>
            <a:fillRect/>
          </a:stretch>
        </p:blipFill>
        <p:spPr>
          <a:xfrm>
            <a:off x="5855684" y="2277151"/>
            <a:ext cx="5897674" cy="3112547"/>
          </a:xfrm>
          <a:prstGeom prst="rect">
            <a:avLst/>
          </a:prstGeom>
        </p:spPr>
      </p:pic>
      <p:sp>
        <p:nvSpPr>
          <p:cNvPr id="3" name="TextBox 2">
            <a:extLst>
              <a:ext uri="{FF2B5EF4-FFF2-40B4-BE49-F238E27FC236}">
                <a16:creationId xmlns:a16="http://schemas.microsoft.com/office/drawing/2014/main" id="{36BC96D8-C695-DC50-87F5-5D75EAFDC11D}"/>
              </a:ext>
            </a:extLst>
          </p:cNvPr>
          <p:cNvSpPr txBox="1"/>
          <p:nvPr/>
        </p:nvSpPr>
        <p:spPr>
          <a:xfrm>
            <a:off x="6096001" y="5780488"/>
            <a:ext cx="2615920" cy="369332"/>
          </a:xfrm>
          <a:prstGeom prst="rect">
            <a:avLst/>
          </a:prstGeom>
          <a:noFill/>
        </p:spPr>
        <p:txBody>
          <a:bodyPr wrap="square" rtlCol="0">
            <a:spAutoFit/>
          </a:bodyPr>
          <a:lstStyle/>
          <a:p>
            <a:r>
              <a:rPr lang="en-US" dirty="0"/>
              <a:t>  </a:t>
            </a:r>
          </a:p>
        </p:txBody>
      </p:sp>
      <p:sp>
        <p:nvSpPr>
          <p:cNvPr id="4" name="Rectangle 3">
            <a:extLst>
              <a:ext uri="{FF2B5EF4-FFF2-40B4-BE49-F238E27FC236}">
                <a16:creationId xmlns:a16="http://schemas.microsoft.com/office/drawing/2014/main" id="{AA989BA2-446B-0D10-5802-1827FF5412E7}"/>
              </a:ext>
            </a:extLst>
          </p:cNvPr>
          <p:cNvSpPr/>
          <p:nvPr/>
        </p:nvSpPr>
        <p:spPr>
          <a:xfrm>
            <a:off x="462919" y="6125517"/>
            <a:ext cx="5633081" cy="461665"/>
          </a:xfrm>
          <a:prstGeom prst="rect">
            <a:avLst/>
          </a:prstGeom>
        </p:spPr>
        <p:txBody>
          <a:bodyPr wrap="none">
            <a:spAutoFit/>
          </a:bodyPr>
          <a:lstStyle/>
          <a:p>
            <a:r>
              <a:rPr lang="en-GB" sz="1200" dirty="0"/>
              <a:t>UNESCO’s Berlin Declaration of May 2021: </a:t>
            </a:r>
          </a:p>
          <a:p>
            <a:r>
              <a:rPr lang="en-GB" sz="1200" dirty="0">
                <a:hlinkClick r:id="rId3"/>
              </a:rPr>
              <a:t>https://en.unesco.org/sites/default/files/esdfor2030-berlin-declaration-en.pdf</a:t>
            </a:r>
            <a:endParaRPr lang="en-GB" sz="1200" dirty="0"/>
          </a:p>
        </p:txBody>
      </p:sp>
      <p:pic>
        <p:nvPicPr>
          <p:cNvPr id="6" name="Picture 5" descr="A poster with text and images&#10;&#10;Description automatically generated">
            <a:extLst>
              <a:ext uri="{FF2B5EF4-FFF2-40B4-BE49-F238E27FC236}">
                <a16:creationId xmlns:a16="http://schemas.microsoft.com/office/drawing/2014/main" id="{B8D8E83A-F092-7077-237F-537D58F99A50}"/>
              </a:ext>
            </a:extLst>
          </p:cNvPr>
          <p:cNvPicPr>
            <a:picLocks noChangeAspect="1"/>
          </p:cNvPicPr>
          <p:nvPr/>
        </p:nvPicPr>
        <p:blipFill>
          <a:blip r:embed="rId5"/>
          <a:stretch>
            <a:fillRect/>
          </a:stretch>
        </p:blipFill>
        <p:spPr>
          <a:xfrm>
            <a:off x="673737" y="3950061"/>
            <a:ext cx="3505200" cy="1972056"/>
          </a:xfrm>
          <a:prstGeom prst="rect">
            <a:avLst/>
          </a:prstGeom>
        </p:spPr>
      </p:pic>
    </p:spTree>
    <p:extLst>
      <p:ext uri="{BB962C8B-B14F-4D97-AF65-F5344CB8AC3E}">
        <p14:creationId xmlns:p14="http://schemas.microsoft.com/office/powerpoint/2010/main" val="3459876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Rectangle 22">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Rectangle 26">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Rectangle 28">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1" name="Rectangle 30">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5E209E4-B947-4446-AD42-C1B3A0C1F583}"/>
              </a:ext>
            </a:extLst>
          </p:cNvPr>
          <p:cNvSpPr>
            <a:spLocks noGrp="1"/>
          </p:cNvSpPr>
          <p:nvPr>
            <p:ph type="title"/>
          </p:nvPr>
        </p:nvSpPr>
        <p:spPr>
          <a:xfrm>
            <a:off x="1115568" y="548640"/>
            <a:ext cx="10168128" cy="1179576"/>
          </a:xfrm>
        </p:spPr>
        <p:txBody>
          <a:bodyPr vert="horz" lIns="91440" tIns="45720" rIns="91440" bIns="45720" rtlCol="0" anchor="ctr">
            <a:normAutofit/>
          </a:bodyPr>
          <a:lstStyle/>
          <a:p>
            <a:r>
              <a:rPr lang="en-US" dirty="0"/>
              <a:t>Definitions</a:t>
            </a:r>
          </a:p>
        </p:txBody>
      </p:sp>
      <p:sp>
        <p:nvSpPr>
          <p:cNvPr id="33" name="Rectangle 32">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6345C0EB-AD41-31B3-4E07-8A7C6C201DBE}"/>
              </a:ext>
            </a:extLst>
          </p:cNvPr>
          <p:cNvPicPr>
            <a:picLocks noChangeAspect="1"/>
          </p:cNvPicPr>
          <p:nvPr/>
        </p:nvPicPr>
        <p:blipFill rotWithShape="1">
          <a:blip r:embed="rId3"/>
          <a:srcRect l="5671" r="10274" b="-2"/>
          <a:stretch/>
        </p:blipFill>
        <p:spPr>
          <a:xfrm>
            <a:off x="908304" y="2478024"/>
            <a:ext cx="6009855" cy="3694176"/>
          </a:xfrm>
          <a:prstGeom prst="rect">
            <a:avLst/>
          </a:prstGeom>
        </p:spPr>
      </p:pic>
      <p:sp>
        <p:nvSpPr>
          <p:cNvPr id="3" name="TextBox 2">
            <a:extLst>
              <a:ext uri="{FF2B5EF4-FFF2-40B4-BE49-F238E27FC236}">
                <a16:creationId xmlns:a16="http://schemas.microsoft.com/office/drawing/2014/main" id="{06383F9A-F737-364F-DFF1-B134729F3573}"/>
              </a:ext>
            </a:extLst>
          </p:cNvPr>
          <p:cNvSpPr txBox="1"/>
          <p:nvPr/>
        </p:nvSpPr>
        <p:spPr>
          <a:xfrm>
            <a:off x="7411453" y="2478024"/>
            <a:ext cx="3872243" cy="3694176"/>
          </a:xfrm>
          <a:prstGeom prst="rect">
            <a:avLst/>
          </a:prstGeom>
        </p:spPr>
        <p:txBody>
          <a:bodyPr vert="horz" lIns="91440" tIns="45720" rIns="91440" bIns="45720" rtlCol="0" anchor="ctr">
            <a:normAutofit/>
          </a:bodyPr>
          <a:lstStyle/>
          <a:p>
            <a:pPr marL="285750" indent="-228600">
              <a:lnSpc>
                <a:spcPct val="110000"/>
              </a:lnSpc>
              <a:spcBef>
                <a:spcPts val="1000"/>
              </a:spcBef>
              <a:buFont typeface="Arial" panose="020B0604020202020204" pitchFamily="34" charset="0"/>
              <a:buChar char="•"/>
            </a:pPr>
            <a:r>
              <a:rPr lang="en-US" dirty="0"/>
              <a:t>Education </a:t>
            </a:r>
            <a:r>
              <a:rPr lang="en-US" b="1" dirty="0"/>
              <a:t>about</a:t>
            </a:r>
            <a:r>
              <a:rPr lang="en-US" dirty="0"/>
              <a:t> sustainable development is an awareness lesson or theoretical discussion. </a:t>
            </a:r>
            <a:endParaRPr lang="en-US"/>
          </a:p>
          <a:p>
            <a:pPr marL="285750" indent="-228600">
              <a:lnSpc>
                <a:spcPct val="110000"/>
              </a:lnSpc>
              <a:spcBef>
                <a:spcPts val="1000"/>
              </a:spcBef>
              <a:buFont typeface="Arial" panose="020B0604020202020204" pitchFamily="34" charset="0"/>
              <a:buChar char="•"/>
            </a:pPr>
            <a:r>
              <a:rPr lang="en-US" dirty="0"/>
              <a:t>Education </a:t>
            </a:r>
            <a:r>
              <a:rPr lang="en-US" b="1" dirty="0"/>
              <a:t>for </a:t>
            </a:r>
            <a:r>
              <a:rPr lang="en-US" dirty="0"/>
              <a:t>sustainable development (ESD) is the use of education as a tool to achieve sustainability: Giving people knowledge and skills for lifelong learning to help them find new solutions to their environmental, economic and social issues.  </a:t>
            </a:r>
          </a:p>
        </p:txBody>
      </p:sp>
      <p:sp>
        <p:nvSpPr>
          <p:cNvPr id="16" name="Slide Number Placeholder 5">
            <a:extLst>
              <a:ext uri="{FF2B5EF4-FFF2-40B4-BE49-F238E27FC236}">
                <a16:creationId xmlns:a16="http://schemas.microsoft.com/office/drawing/2014/main" id="{1A06BCBE-7F1D-4794-A964-0B03C6178B08}"/>
              </a:ext>
            </a:extLst>
          </p:cNvPr>
          <p:cNvSpPr>
            <a:spLocks noGrp="1"/>
          </p:cNvSpPr>
          <p:nvPr>
            <p:ph type="sldNum" sz="quarter" idx="12"/>
          </p:nvPr>
        </p:nvSpPr>
        <p:spPr>
          <a:xfrm>
            <a:off x="8540496" y="6356350"/>
            <a:ext cx="2743200" cy="365125"/>
          </a:xfrm>
        </p:spPr>
        <p:txBody>
          <a:bodyPr vert="horz" lIns="91440" tIns="45720" rIns="91440" bIns="45720" rtlCol="0" anchor="ctr">
            <a:normAutofit/>
          </a:bodyPr>
          <a:lstStyle/>
          <a:p>
            <a:pPr>
              <a:spcAft>
                <a:spcPts val="600"/>
              </a:spcAft>
            </a:pPr>
            <a:fld id="{A65A5C87-DF58-40C8-B092-1DE63DB4547E}" type="slidenum">
              <a:rPr lang="en-US" smtClean="0"/>
              <a:pPr>
                <a:spcAft>
                  <a:spcPts val="600"/>
                </a:spcAft>
              </a:pPr>
              <a:t>10</a:t>
            </a:fld>
            <a:endParaRPr lang="en-US"/>
          </a:p>
        </p:txBody>
      </p:sp>
    </p:spTree>
    <p:extLst>
      <p:ext uri="{BB962C8B-B14F-4D97-AF65-F5344CB8AC3E}">
        <p14:creationId xmlns:p14="http://schemas.microsoft.com/office/powerpoint/2010/main" val="2341183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209E4-B947-4446-AD42-C1B3A0C1F583}"/>
              </a:ext>
            </a:extLst>
          </p:cNvPr>
          <p:cNvSpPr>
            <a:spLocks noGrp="1"/>
          </p:cNvSpPr>
          <p:nvPr>
            <p:ph type="title"/>
          </p:nvPr>
        </p:nvSpPr>
        <p:spPr/>
        <p:txBody>
          <a:bodyPr>
            <a:normAutofit/>
          </a:bodyPr>
          <a:lstStyle/>
          <a:p>
            <a:r>
              <a:rPr lang="en-US" dirty="0"/>
              <a:t>The UN Sustainable Development Goal 4</a:t>
            </a:r>
          </a:p>
        </p:txBody>
      </p:sp>
      <p:sp>
        <p:nvSpPr>
          <p:cNvPr id="12" name="Content Placeholder 11">
            <a:extLst>
              <a:ext uri="{FF2B5EF4-FFF2-40B4-BE49-F238E27FC236}">
                <a16:creationId xmlns:a16="http://schemas.microsoft.com/office/drawing/2014/main" id="{3D88E8B5-C20C-47A1-9C22-B545284DA4A4}"/>
              </a:ext>
            </a:extLst>
          </p:cNvPr>
          <p:cNvSpPr>
            <a:spLocks noGrp="1"/>
          </p:cNvSpPr>
          <p:nvPr>
            <p:ph sz="half" idx="2"/>
          </p:nvPr>
        </p:nvSpPr>
        <p:spPr>
          <a:xfrm>
            <a:off x="548639" y="2288066"/>
            <a:ext cx="8730272" cy="3591739"/>
          </a:xfrm>
        </p:spPr>
        <p:txBody>
          <a:bodyPr vert="horz" lIns="91440" tIns="45720" rIns="91440" bIns="45720" rtlCol="0" anchor="t">
            <a:normAutofit lnSpcReduction="10000"/>
          </a:bodyPr>
          <a:lstStyle/>
          <a:p>
            <a:r>
              <a:rPr lang="en-GB" sz="2000" dirty="0"/>
              <a:t>Education is at the heart of the UN 2030 Agenda</a:t>
            </a:r>
          </a:p>
          <a:p>
            <a:r>
              <a:rPr lang="en-GB" sz="2000" dirty="0"/>
              <a:t>Education as a stand-alone goal (SDG 4)</a:t>
            </a:r>
          </a:p>
          <a:p>
            <a:pPr lvl="1"/>
            <a:r>
              <a:rPr lang="en-GB" sz="2000" dirty="0"/>
              <a:t> Ensures inclusive and quality education for all</a:t>
            </a:r>
          </a:p>
          <a:p>
            <a:pPr lvl="1"/>
            <a:r>
              <a:rPr lang="en-GB" sz="2000" dirty="0"/>
              <a:t>Promotes lifelong learning</a:t>
            </a:r>
          </a:p>
          <a:p>
            <a:r>
              <a:rPr lang="en-GB" sz="2000" dirty="0"/>
              <a:t>Targets on education are under several other SDGs (e.g. SDG 3 "Good Health and well-being, SDG 8 "Decent growth and economic growth", SDG 12 "Responsible consumption and production" and SDG 13 "Climate change")</a:t>
            </a:r>
          </a:p>
          <a:p>
            <a:r>
              <a:rPr lang="en-GB" sz="2000" dirty="0"/>
              <a:t>Education can accelerate progress towards the achievement of all SDGs</a:t>
            </a:r>
          </a:p>
        </p:txBody>
      </p:sp>
      <p:sp>
        <p:nvSpPr>
          <p:cNvPr id="16" name="Slide Number Placeholder 5">
            <a:extLst>
              <a:ext uri="{FF2B5EF4-FFF2-40B4-BE49-F238E27FC236}">
                <a16:creationId xmlns:a16="http://schemas.microsoft.com/office/drawing/2014/main" id="{1A06BCBE-7F1D-4794-A964-0B03C6178B08}"/>
              </a:ext>
            </a:extLst>
          </p:cNvPr>
          <p:cNvSpPr>
            <a:spLocks noGrp="1"/>
          </p:cNvSpPr>
          <p:nvPr>
            <p:ph type="sldNum" sz="quarter" idx="12"/>
          </p:nvPr>
        </p:nvSpPr>
        <p:spPr/>
        <p:txBody>
          <a:bodyPr/>
          <a:lstStyle/>
          <a:p>
            <a:fld id="{A65A5C87-DF58-40C8-B092-1DE63DB4547E}" type="slidenum">
              <a:rPr lang="en-US" smtClean="0"/>
              <a:pPr/>
              <a:t>11</a:t>
            </a:fld>
            <a:endParaRPr lang="en-US" dirty="0"/>
          </a:p>
        </p:txBody>
      </p:sp>
      <p:pic>
        <p:nvPicPr>
          <p:cNvPr id="4" name="Picture 3">
            <a:extLst>
              <a:ext uri="{FF2B5EF4-FFF2-40B4-BE49-F238E27FC236}">
                <a16:creationId xmlns:a16="http://schemas.microsoft.com/office/drawing/2014/main" id="{04A35969-06FA-2437-954A-CD8DBE4DA64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0192" y="2457033"/>
            <a:ext cx="1585249" cy="1585249"/>
          </a:xfrm>
          <a:prstGeom prst="rect">
            <a:avLst/>
          </a:prstGeom>
        </p:spPr>
      </p:pic>
      <p:sp>
        <p:nvSpPr>
          <p:cNvPr id="3" name="Rectangle 2">
            <a:extLst>
              <a:ext uri="{FF2B5EF4-FFF2-40B4-BE49-F238E27FC236}">
                <a16:creationId xmlns:a16="http://schemas.microsoft.com/office/drawing/2014/main" id="{D961EDA5-98F4-7745-1BAB-ECA599D0C0BE}"/>
              </a:ext>
            </a:extLst>
          </p:cNvPr>
          <p:cNvSpPr/>
          <p:nvPr/>
        </p:nvSpPr>
        <p:spPr>
          <a:xfrm>
            <a:off x="806475" y="6170860"/>
            <a:ext cx="5289525" cy="276999"/>
          </a:xfrm>
          <a:prstGeom prst="rect">
            <a:avLst/>
          </a:prstGeom>
        </p:spPr>
        <p:txBody>
          <a:bodyPr wrap="none">
            <a:spAutoFit/>
          </a:bodyPr>
          <a:lstStyle/>
          <a:p>
            <a:pPr marL="0" indent="0">
              <a:buNone/>
            </a:pPr>
            <a:r>
              <a:rPr lang="en-GB" sz="1200" dirty="0"/>
              <a:t>United Nations: </a:t>
            </a:r>
            <a:r>
              <a:rPr lang="en-GB" sz="1200" dirty="0">
                <a:hlinkClick r:id="rId4"/>
              </a:rPr>
              <a:t>https://sdgs.un.org/goals/goal4#targets_and_indicators</a:t>
            </a:r>
            <a:r>
              <a:rPr lang="en-GB" sz="1200" dirty="0"/>
              <a:t> </a:t>
            </a:r>
          </a:p>
        </p:txBody>
      </p:sp>
    </p:spTree>
    <p:extLst>
      <p:ext uri="{BB962C8B-B14F-4D97-AF65-F5344CB8AC3E}">
        <p14:creationId xmlns:p14="http://schemas.microsoft.com/office/powerpoint/2010/main" val="4180183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209E4-B947-4446-AD42-C1B3A0C1F583}"/>
              </a:ext>
            </a:extLst>
          </p:cNvPr>
          <p:cNvSpPr>
            <a:spLocks noGrp="1"/>
          </p:cNvSpPr>
          <p:nvPr>
            <p:ph type="title"/>
          </p:nvPr>
        </p:nvSpPr>
        <p:spPr/>
        <p:txBody>
          <a:bodyPr>
            <a:normAutofit/>
          </a:bodyPr>
          <a:lstStyle/>
          <a:p>
            <a:r>
              <a:rPr lang="en-US" dirty="0"/>
              <a:t>ESD is anchored in SDG 4.7</a:t>
            </a:r>
          </a:p>
        </p:txBody>
      </p:sp>
      <p:sp>
        <p:nvSpPr>
          <p:cNvPr id="12" name="Content Placeholder 11">
            <a:extLst>
              <a:ext uri="{FF2B5EF4-FFF2-40B4-BE49-F238E27FC236}">
                <a16:creationId xmlns:a16="http://schemas.microsoft.com/office/drawing/2014/main" id="{3D88E8B5-C20C-47A1-9C22-B545284DA4A4}"/>
              </a:ext>
            </a:extLst>
          </p:cNvPr>
          <p:cNvSpPr>
            <a:spLocks noGrp="1"/>
          </p:cNvSpPr>
          <p:nvPr>
            <p:ph sz="half" idx="2"/>
          </p:nvPr>
        </p:nvSpPr>
        <p:spPr>
          <a:xfrm>
            <a:off x="548640" y="2288066"/>
            <a:ext cx="6130456" cy="4021294"/>
          </a:xfrm>
        </p:spPr>
        <p:txBody>
          <a:bodyPr>
            <a:normAutofit/>
          </a:bodyPr>
          <a:lstStyle/>
          <a:p>
            <a:pPr marL="0" indent="0">
              <a:buNone/>
            </a:pPr>
            <a:endParaRPr lang="en-GB" sz="2000" dirty="0"/>
          </a:p>
          <a:p>
            <a:pPr marL="0" indent="0">
              <a:buNone/>
            </a:pPr>
            <a:r>
              <a:rPr lang="en-GB" sz="2000" dirty="0"/>
              <a:t>SDG Goal 4, Target 7 states: “By 2030, ensure that all learners acquire the </a:t>
            </a:r>
            <a:r>
              <a:rPr lang="en-GB" sz="2000" b="1" dirty="0"/>
              <a:t>knowledge and skills needed to promote sustainable development</a:t>
            </a:r>
            <a:r>
              <a:rPr lang="en-GB" sz="2000" dirty="0"/>
              <a:t>, including, among others, through </a:t>
            </a:r>
            <a:r>
              <a:rPr lang="en-GB" sz="2000" b="1" dirty="0"/>
              <a:t>education for sustainable development</a:t>
            </a:r>
            <a:r>
              <a:rPr lang="en-GB" sz="2000" dirty="0">
                <a:solidFill>
                  <a:schemeClr val="accent4">
                    <a:lumMod val="75000"/>
                  </a:schemeClr>
                </a:solidFill>
              </a:rPr>
              <a:t> </a:t>
            </a:r>
            <a:r>
              <a:rPr lang="en-GB" sz="2000" dirty="0"/>
              <a:t>and sustainable lifestyles, human rights, gender equality, promotion of a culture of peace and non-violence, global citizenship and appreciation of cultural diversity and of culture’s contribution to sustainable development.”</a:t>
            </a:r>
          </a:p>
        </p:txBody>
      </p:sp>
      <p:sp>
        <p:nvSpPr>
          <p:cNvPr id="16" name="Slide Number Placeholder 5">
            <a:extLst>
              <a:ext uri="{FF2B5EF4-FFF2-40B4-BE49-F238E27FC236}">
                <a16:creationId xmlns:a16="http://schemas.microsoft.com/office/drawing/2014/main" id="{1A06BCBE-7F1D-4794-A964-0B03C6178B08}"/>
              </a:ext>
            </a:extLst>
          </p:cNvPr>
          <p:cNvSpPr>
            <a:spLocks noGrp="1"/>
          </p:cNvSpPr>
          <p:nvPr>
            <p:ph type="sldNum" sz="quarter" idx="12"/>
          </p:nvPr>
        </p:nvSpPr>
        <p:spPr/>
        <p:txBody>
          <a:bodyPr/>
          <a:lstStyle/>
          <a:p>
            <a:fld id="{A65A5C87-DF58-40C8-B092-1DE63DB4547E}" type="slidenum">
              <a:rPr lang="en-US" smtClean="0"/>
              <a:pPr/>
              <a:t>12</a:t>
            </a:fld>
            <a:endParaRPr lang="en-US" dirty="0"/>
          </a:p>
        </p:txBody>
      </p:sp>
      <p:pic>
        <p:nvPicPr>
          <p:cNvPr id="3" name="Picture 2" descr="http://dochas.ie/sites/default/files/Sustainable%20Development%20Goals.png">
            <a:extLst>
              <a:ext uri="{FF2B5EF4-FFF2-40B4-BE49-F238E27FC236}">
                <a16:creationId xmlns:a16="http://schemas.microsoft.com/office/drawing/2014/main" id="{7FE32320-3193-C36E-7609-C62DCC20E2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0760" y="2288065"/>
            <a:ext cx="4617522" cy="228393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0B69289-F996-11F4-C9C8-D3700848D80B}"/>
              </a:ext>
            </a:extLst>
          </p:cNvPr>
          <p:cNvSpPr/>
          <p:nvPr/>
        </p:nvSpPr>
        <p:spPr>
          <a:xfrm>
            <a:off x="548640" y="6400412"/>
            <a:ext cx="5289525" cy="276999"/>
          </a:xfrm>
          <a:prstGeom prst="rect">
            <a:avLst/>
          </a:prstGeom>
        </p:spPr>
        <p:txBody>
          <a:bodyPr wrap="none">
            <a:spAutoFit/>
          </a:bodyPr>
          <a:lstStyle/>
          <a:p>
            <a:pPr marL="0" indent="0">
              <a:buNone/>
            </a:pPr>
            <a:r>
              <a:rPr lang="en-GB" sz="1200" dirty="0"/>
              <a:t>United Nations: </a:t>
            </a:r>
            <a:r>
              <a:rPr lang="en-GB" sz="1200" dirty="0">
                <a:hlinkClick r:id="rId4"/>
              </a:rPr>
              <a:t>https://sdgs.un.org/goals/goal4#targets_and_indicators</a:t>
            </a:r>
            <a:r>
              <a:rPr lang="en-GB" sz="1200" dirty="0"/>
              <a:t> </a:t>
            </a:r>
          </a:p>
        </p:txBody>
      </p:sp>
    </p:spTree>
    <p:extLst>
      <p:ext uri="{BB962C8B-B14F-4D97-AF65-F5344CB8AC3E}">
        <p14:creationId xmlns:p14="http://schemas.microsoft.com/office/powerpoint/2010/main" val="1258598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209E4-B947-4446-AD42-C1B3A0C1F583}"/>
              </a:ext>
            </a:extLst>
          </p:cNvPr>
          <p:cNvSpPr>
            <a:spLocks noGrp="1"/>
          </p:cNvSpPr>
          <p:nvPr>
            <p:ph type="title"/>
          </p:nvPr>
        </p:nvSpPr>
        <p:spPr/>
        <p:txBody>
          <a:bodyPr>
            <a:normAutofit fontScale="90000"/>
          </a:bodyPr>
          <a:lstStyle/>
          <a:p>
            <a:r>
              <a:rPr lang="en-US" dirty="0"/>
              <a:t>Education in the African Union Agenda 2063</a:t>
            </a:r>
          </a:p>
        </p:txBody>
      </p:sp>
      <p:sp>
        <p:nvSpPr>
          <p:cNvPr id="16" name="Slide Number Placeholder 5">
            <a:extLst>
              <a:ext uri="{FF2B5EF4-FFF2-40B4-BE49-F238E27FC236}">
                <a16:creationId xmlns:a16="http://schemas.microsoft.com/office/drawing/2014/main" id="{1A06BCBE-7F1D-4794-A964-0B03C6178B08}"/>
              </a:ext>
            </a:extLst>
          </p:cNvPr>
          <p:cNvSpPr>
            <a:spLocks noGrp="1"/>
          </p:cNvSpPr>
          <p:nvPr>
            <p:ph type="sldNum" sz="quarter" idx="12"/>
          </p:nvPr>
        </p:nvSpPr>
        <p:spPr/>
        <p:txBody>
          <a:bodyPr/>
          <a:lstStyle/>
          <a:p>
            <a:fld id="{A65A5C87-DF58-40C8-B092-1DE63DB4547E}" type="slidenum">
              <a:rPr lang="en-US" smtClean="0"/>
              <a:pPr/>
              <a:t>13</a:t>
            </a:fld>
            <a:endParaRPr lang="en-US" dirty="0"/>
          </a:p>
        </p:txBody>
      </p:sp>
      <p:pic>
        <p:nvPicPr>
          <p:cNvPr id="8" name="Content Placeholder 7" descr="A close-up of a diagram&#10;&#10;Description automatically generated">
            <a:extLst>
              <a:ext uri="{FF2B5EF4-FFF2-40B4-BE49-F238E27FC236}">
                <a16:creationId xmlns:a16="http://schemas.microsoft.com/office/drawing/2014/main" id="{759551C9-D5E9-1BF1-155D-E782FE506D93}"/>
              </a:ext>
            </a:extLst>
          </p:cNvPr>
          <p:cNvPicPr>
            <a:picLocks noGrp="1" noChangeAspect="1"/>
          </p:cNvPicPr>
          <p:nvPr>
            <p:ph sz="half" idx="2"/>
          </p:nvPr>
        </p:nvPicPr>
        <p:blipFill>
          <a:blip r:embed="rId3"/>
          <a:stretch>
            <a:fillRect/>
          </a:stretch>
        </p:blipFill>
        <p:spPr>
          <a:xfrm>
            <a:off x="1650380" y="2913084"/>
            <a:ext cx="7781572" cy="3577131"/>
          </a:xfrm>
        </p:spPr>
      </p:pic>
      <p:sp>
        <p:nvSpPr>
          <p:cNvPr id="9" name="Content Placeholder 11">
            <a:extLst>
              <a:ext uri="{FF2B5EF4-FFF2-40B4-BE49-F238E27FC236}">
                <a16:creationId xmlns:a16="http://schemas.microsoft.com/office/drawing/2014/main" id="{A31B70BD-B31B-7DCE-50F9-18DAC03A0D47}"/>
              </a:ext>
            </a:extLst>
          </p:cNvPr>
          <p:cNvSpPr txBox="1">
            <a:spLocks/>
          </p:cNvSpPr>
          <p:nvPr/>
        </p:nvSpPr>
        <p:spPr>
          <a:xfrm>
            <a:off x="5820727" y="2031636"/>
            <a:ext cx="6130456" cy="4021294"/>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sz="2000" dirty="0"/>
          </a:p>
        </p:txBody>
      </p:sp>
      <p:sp>
        <p:nvSpPr>
          <p:cNvPr id="10" name="Rectangle 9">
            <a:extLst>
              <a:ext uri="{FF2B5EF4-FFF2-40B4-BE49-F238E27FC236}">
                <a16:creationId xmlns:a16="http://schemas.microsoft.com/office/drawing/2014/main" id="{11D4C483-6802-80C3-8461-B9BDAFEE7710}"/>
              </a:ext>
            </a:extLst>
          </p:cNvPr>
          <p:cNvSpPr/>
          <p:nvPr/>
        </p:nvSpPr>
        <p:spPr>
          <a:xfrm>
            <a:off x="1028768" y="6558413"/>
            <a:ext cx="1154483" cy="238527"/>
          </a:xfrm>
          <a:prstGeom prst="rect">
            <a:avLst/>
          </a:prstGeom>
        </p:spPr>
        <p:txBody>
          <a:bodyPr wrap="none">
            <a:spAutoFit/>
          </a:bodyPr>
          <a:lstStyle/>
          <a:p>
            <a:pPr marL="0" lvl="1" indent="-381000">
              <a:lnSpc>
                <a:spcPct val="95000"/>
              </a:lnSpc>
              <a:spcBef>
                <a:spcPct val="20000"/>
              </a:spcBef>
              <a:spcAft>
                <a:spcPct val="10000"/>
              </a:spcAft>
              <a:buClr>
                <a:schemeClr val="hlink"/>
              </a:buClr>
              <a:buSzPct val="85000"/>
            </a:pPr>
            <a:r>
              <a:rPr lang="en-GB" sz="1000" dirty="0" err="1">
                <a:cs typeface="Arial" panose="020B0604020202020204" pitchFamily="34" charset="0"/>
              </a:rPr>
              <a:t>Royo</a:t>
            </a:r>
            <a:r>
              <a:rPr lang="en-GB" sz="1000" dirty="0">
                <a:cs typeface="Arial" panose="020B0604020202020204" pitchFamily="34" charset="0"/>
              </a:rPr>
              <a:t> et al., 2022</a:t>
            </a:r>
            <a:endParaRPr lang="en-GB" sz="1000" kern="0" dirty="0">
              <a:solidFill>
                <a:srgbClr val="333333"/>
              </a:solidFill>
              <a:ea typeface="ヒラギノ角ゴ Pro W3" pitchFamily="-84" charset="-128"/>
              <a:cs typeface="Arial" panose="020B0604020202020204" pitchFamily="34" charset="0"/>
            </a:endParaRPr>
          </a:p>
        </p:txBody>
      </p:sp>
      <p:sp>
        <p:nvSpPr>
          <p:cNvPr id="14" name="TextBox 13">
            <a:extLst>
              <a:ext uri="{FF2B5EF4-FFF2-40B4-BE49-F238E27FC236}">
                <a16:creationId xmlns:a16="http://schemas.microsoft.com/office/drawing/2014/main" id="{D4EDA87A-AD24-34F1-BE7F-1EA611082AF5}"/>
              </a:ext>
            </a:extLst>
          </p:cNvPr>
          <p:cNvSpPr txBox="1"/>
          <p:nvPr/>
        </p:nvSpPr>
        <p:spPr>
          <a:xfrm>
            <a:off x="467833" y="2047668"/>
            <a:ext cx="11724167" cy="584775"/>
          </a:xfrm>
          <a:prstGeom prst="rect">
            <a:avLst/>
          </a:prstGeom>
          <a:noFill/>
        </p:spPr>
        <p:txBody>
          <a:bodyPr wrap="square" rtlCol="0">
            <a:spAutoFit/>
          </a:bodyPr>
          <a:lstStyle/>
          <a:p>
            <a:r>
              <a:rPr lang="en-GB" b="1" dirty="0"/>
              <a:t>Goal 2</a:t>
            </a:r>
            <a:r>
              <a:rPr lang="en-GB" dirty="0"/>
              <a:t>: Well Educated Citizens and Skills revolution underpinned by Science, Technology and Innovation </a:t>
            </a:r>
            <a:r>
              <a:rPr lang="en-GB" sz="1400" dirty="0"/>
              <a:t>(</a:t>
            </a:r>
            <a:r>
              <a:rPr lang="de-CH" sz="1400" dirty="0">
                <a:hlinkClick r:id="rId4"/>
              </a:rPr>
              <a:t>https://au.int/en/agenda2063/goals</a:t>
            </a:r>
            <a:r>
              <a:rPr lang="de-CH" sz="1400" dirty="0"/>
              <a:t>)</a:t>
            </a:r>
            <a:endParaRPr lang="en-CH" sz="1400" dirty="0"/>
          </a:p>
        </p:txBody>
      </p:sp>
      <p:grpSp>
        <p:nvGrpSpPr>
          <p:cNvPr id="3" name="Group 2">
            <a:extLst>
              <a:ext uri="{FF2B5EF4-FFF2-40B4-BE49-F238E27FC236}">
                <a16:creationId xmlns:a16="http://schemas.microsoft.com/office/drawing/2014/main" id="{4768117B-B496-64A0-AA92-7257BC26DBEA}"/>
              </a:ext>
            </a:extLst>
          </p:cNvPr>
          <p:cNvGrpSpPr/>
          <p:nvPr/>
        </p:nvGrpSpPr>
        <p:grpSpPr>
          <a:xfrm>
            <a:off x="11369860" y="-3696"/>
            <a:ext cx="822140" cy="847296"/>
            <a:chOff x="8600746" y="57953"/>
            <a:chExt cx="822140" cy="847296"/>
          </a:xfrm>
        </p:grpSpPr>
        <p:sp>
          <p:nvSpPr>
            <p:cNvPr id="4" name="Rectangle 3">
              <a:extLst>
                <a:ext uri="{FF2B5EF4-FFF2-40B4-BE49-F238E27FC236}">
                  <a16:creationId xmlns:a16="http://schemas.microsoft.com/office/drawing/2014/main" id="{3365BCE2-D90E-8021-672F-2F41C62BC40E}"/>
                </a:ext>
              </a:extLst>
            </p:cNvPr>
            <p:cNvSpPr/>
            <p:nvPr/>
          </p:nvSpPr>
          <p:spPr>
            <a:xfrm>
              <a:off x="8956346" y="57955"/>
              <a:ext cx="466540" cy="812090"/>
            </a:xfrm>
            <a:prstGeom prst="rect">
              <a:avLst/>
            </a:prstGeom>
            <a:solidFill>
              <a:srgbClr val="FFF5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 name="Rectangle 4">
              <a:extLst>
                <a:ext uri="{FF2B5EF4-FFF2-40B4-BE49-F238E27FC236}">
                  <a16:creationId xmlns:a16="http://schemas.microsoft.com/office/drawing/2014/main" id="{649851DF-580F-19E0-A5DE-543C09EC48FF}"/>
                </a:ext>
              </a:extLst>
            </p:cNvPr>
            <p:cNvSpPr/>
            <p:nvPr/>
          </p:nvSpPr>
          <p:spPr>
            <a:xfrm>
              <a:off x="8721396" y="57954"/>
              <a:ext cx="234950" cy="812090"/>
            </a:xfrm>
            <a:prstGeom prst="rect">
              <a:avLst/>
            </a:prstGeom>
            <a:solidFill>
              <a:srgbClr val="FBD3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 name="Rectangle 5">
              <a:extLst>
                <a:ext uri="{FF2B5EF4-FFF2-40B4-BE49-F238E27FC236}">
                  <a16:creationId xmlns:a16="http://schemas.microsoft.com/office/drawing/2014/main" id="{75EDBDAF-4C5B-2781-7746-C0DF2E53742A}"/>
                </a:ext>
              </a:extLst>
            </p:cNvPr>
            <p:cNvSpPr/>
            <p:nvPr/>
          </p:nvSpPr>
          <p:spPr>
            <a:xfrm>
              <a:off x="8600746" y="57953"/>
              <a:ext cx="120650" cy="8120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7" name="Picture 6">
              <a:extLst>
                <a:ext uri="{FF2B5EF4-FFF2-40B4-BE49-F238E27FC236}">
                  <a16:creationId xmlns:a16="http://schemas.microsoft.com/office/drawing/2014/main" id="{01B19A2B-AB2F-FEFA-C079-E0602FEF3587}"/>
                </a:ext>
              </a:extLst>
            </p:cNvPr>
            <p:cNvPicPr>
              <a:picLocks noChangeAspect="1"/>
            </p:cNvPicPr>
            <p:nvPr/>
          </p:nvPicPr>
          <p:blipFill>
            <a:blip r:embed="rId5"/>
            <a:stretch>
              <a:fillRect/>
            </a:stretch>
          </p:blipFill>
          <p:spPr>
            <a:xfrm>
              <a:off x="8648895" y="131258"/>
              <a:ext cx="773991" cy="773991"/>
            </a:xfrm>
            <a:prstGeom prst="rect">
              <a:avLst/>
            </a:prstGeom>
          </p:spPr>
        </p:pic>
      </p:grpSp>
    </p:spTree>
    <p:extLst>
      <p:ext uri="{BB962C8B-B14F-4D97-AF65-F5344CB8AC3E}">
        <p14:creationId xmlns:p14="http://schemas.microsoft.com/office/powerpoint/2010/main" val="3449258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E6A1A-7E83-2A26-F944-52D4B29C0989}"/>
              </a:ext>
            </a:extLst>
          </p:cNvPr>
          <p:cNvSpPr>
            <a:spLocks noGrp="1"/>
          </p:cNvSpPr>
          <p:nvPr>
            <p:ph type="title"/>
          </p:nvPr>
        </p:nvSpPr>
        <p:spPr>
          <a:xfrm>
            <a:off x="746760" y="449072"/>
            <a:ext cx="5217160" cy="1088136"/>
          </a:xfrm>
        </p:spPr>
        <p:txBody>
          <a:bodyPr anchor="b">
            <a:normAutofit/>
          </a:bodyPr>
          <a:lstStyle/>
          <a:p>
            <a:r>
              <a:rPr lang="de-CH" sz="3100" dirty="0" err="1"/>
              <a:t>Competences</a:t>
            </a:r>
            <a:endParaRPr lang="en-CH" sz="3100" dirty="0"/>
          </a:p>
        </p:txBody>
      </p:sp>
      <p:sp>
        <p:nvSpPr>
          <p:cNvPr id="3" name="Content Placeholder 2">
            <a:extLst>
              <a:ext uri="{FF2B5EF4-FFF2-40B4-BE49-F238E27FC236}">
                <a16:creationId xmlns:a16="http://schemas.microsoft.com/office/drawing/2014/main" id="{0E692BD5-4517-FE08-F395-FE69649F18A0}"/>
              </a:ext>
            </a:extLst>
          </p:cNvPr>
          <p:cNvSpPr>
            <a:spLocks noGrp="1"/>
          </p:cNvSpPr>
          <p:nvPr>
            <p:ph idx="1"/>
          </p:nvPr>
        </p:nvSpPr>
        <p:spPr>
          <a:xfrm>
            <a:off x="411479" y="2688336"/>
            <a:ext cx="4498848" cy="3584448"/>
          </a:xfrm>
        </p:spPr>
        <p:txBody>
          <a:bodyPr anchor="t">
            <a:normAutofit/>
          </a:bodyPr>
          <a:lstStyle/>
          <a:p>
            <a:pPr marL="0" indent="0">
              <a:buNone/>
            </a:pPr>
            <a:r>
              <a:rPr lang="en-GB" sz="1700" dirty="0"/>
              <a:t>Education for Sustainable Development should lead to </a:t>
            </a:r>
            <a:r>
              <a:rPr lang="en-GB" sz="1700" b="1" dirty="0"/>
              <a:t>the development of competences for action</a:t>
            </a:r>
            <a:r>
              <a:rPr lang="en-GB" sz="1700" dirty="0"/>
              <a:t>. </a:t>
            </a:r>
          </a:p>
          <a:p>
            <a:pPr marL="0" indent="0">
              <a:buNone/>
            </a:pPr>
            <a:endParaRPr lang="en-GB" sz="1700" dirty="0"/>
          </a:p>
          <a:p>
            <a:pPr marL="0" indent="0">
              <a:buNone/>
            </a:pPr>
            <a:r>
              <a:rPr lang="en-GB" sz="1700" dirty="0"/>
              <a:t>Education and training should be based on the concept of competences.</a:t>
            </a:r>
          </a:p>
          <a:p>
            <a:pPr marL="0" indent="0">
              <a:buNone/>
            </a:pPr>
            <a:endParaRPr lang="en-GB" sz="1700" dirty="0"/>
          </a:p>
        </p:txBody>
      </p:sp>
      <p:pic>
        <p:nvPicPr>
          <p:cNvPr id="9" name="Picture 8" descr="A diagram of skills and attitude&#10;&#10;Description automatically generated">
            <a:extLst>
              <a:ext uri="{FF2B5EF4-FFF2-40B4-BE49-F238E27FC236}">
                <a16:creationId xmlns:a16="http://schemas.microsoft.com/office/drawing/2014/main" id="{0ED780BC-B8BB-6C07-D264-3577115002DD}"/>
              </a:ext>
            </a:extLst>
          </p:cNvPr>
          <p:cNvPicPr>
            <a:picLocks noChangeAspect="1"/>
          </p:cNvPicPr>
          <p:nvPr/>
        </p:nvPicPr>
        <p:blipFill rotWithShape="1">
          <a:blip r:embed="rId2"/>
          <a:srcRect l="20122" r="23415"/>
          <a:stretch/>
        </p:blipFill>
        <p:spPr>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effectLst>
            <a:outerShdw blurRad="50800" dist="38100" dir="10800000" algn="r" rotWithShape="0">
              <a:schemeClr val="bg1">
                <a:lumMod val="85000"/>
                <a:alpha val="30000"/>
              </a:schemeClr>
            </a:outerShdw>
          </a:effectLst>
        </p:spPr>
      </p:pic>
      <p:sp>
        <p:nvSpPr>
          <p:cNvPr id="6" name="Slide Number Placeholder 5">
            <a:extLst>
              <a:ext uri="{FF2B5EF4-FFF2-40B4-BE49-F238E27FC236}">
                <a16:creationId xmlns:a16="http://schemas.microsoft.com/office/drawing/2014/main" id="{FBD39606-4185-76E0-782E-5C756BE59826}"/>
              </a:ext>
            </a:extLst>
          </p:cNvPr>
          <p:cNvSpPr>
            <a:spLocks noGrp="1"/>
          </p:cNvSpPr>
          <p:nvPr>
            <p:ph type="sldNum" sz="quarter" idx="12"/>
          </p:nvPr>
        </p:nvSpPr>
        <p:spPr>
          <a:xfrm>
            <a:off x="9037321" y="6356350"/>
            <a:ext cx="2743200" cy="365125"/>
          </a:xfrm>
        </p:spPr>
        <p:txBody>
          <a:bodyPr>
            <a:normAutofit/>
          </a:bodyPr>
          <a:lstStyle/>
          <a:p>
            <a:pPr>
              <a:spcAft>
                <a:spcPts val="600"/>
              </a:spcAft>
            </a:pPr>
            <a:fld id="{A65A5C87-DF58-40C8-B092-1DE63DB4547E}" type="slidenum">
              <a:rPr lang="en-US">
                <a:solidFill>
                  <a:srgbClr val="FFFFFF"/>
                </a:solidFill>
              </a:rPr>
              <a:pPr>
                <a:spcAft>
                  <a:spcPts val="600"/>
                </a:spcAft>
              </a:pPr>
              <a:t>14</a:t>
            </a:fld>
            <a:endParaRPr lang="en-US">
              <a:solidFill>
                <a:srgbClr val="FFFFFF"/>
              </a:solidFill>
            </a:endParaRPr>
          </a:p>
        </p:txBody>
      </p:sp>
    </p:spTree>
    <p:extLst>
      <p:ext uri="{BB962C8B-B14F-4D97-AF65-F5344CB8AC3E}">
        <p14:creationId xmlns:p14="http://schemas.microsoft.com/office/powerpoint/2010/main" val="3843079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2861F-53A1-A373-315E-EB35CCE0616C}"/>
              </a:ext>
            </a:extLst>
          </p:cNvPr>
          <p:cNvSpPr>
            <a:spLocks noGrp="1"/>
          </p:cNvSpPr>
          <p:nvPr>
            <p:ph type="title"/>
          </p:nvPr>
        </p:nvSpPr>
        <p:spPr>
          <a:xfrm>
            <a:off x="5359510" y="978619"/>
            <a:ext cx="5991244" cy="1106424"/>
          </a:xfrm>
        </p:spPr>
        <p:txBody>
          <a:bodyPr>
            <a:normAutofit/>
          </a:bodyPr>
          <a:lstStyle/>
          <a:p>
            <a:r>
              <a:rPr lang="de-CH" sz="3200"/>
              <a:t>Competences</a:t>
            </a:r>
            <a:endParaRPr lang="en-CH" sz="3200"/>
          </a:p>
        </p:txBody>
      </p:sp>
      <p:pic>
        <p:nvPicPr>
          <p:cNvPr id="7" name="Picture 6">
            <a:extLst>
              <a:ext uri="{FF2B5EF4-FFF2-40B4-BE49-F238E27FC236}">
                <a16:creationId xmlns:a16="http://schemas.microsoft.com/office/drawing/2014/main" id="{845C7048-C996-32B9-6DCA-8D4096902624}"/>
              </a:ext>
            </a:extLst>
          </p:cNvPr>
          <p:cNvPicPr>
            <a:picLocks noChangeAspect="1"/>
          </p:cNvPicPr>
          <p:nvPr/>
        </p:nvPicPr>
        <p:blipFill>
          <a:blip r:embed="rId2"/>
          <a:stretch>
            <a:fillRect/>
          </a:stretch>
        </p:blipFill>
        <p:spPr>
          <a:xfrm>
            <a:off x="414528" y="1881216"/>
            <a:ext cx="4033647" cy="2994983"/>
          </a:xfrm>
          <a:prstGeom prst="rect">
            <a:avLst/>
          </a:prstGeom>
        </p:spPr>
      </p:pic>
      <p:sp>
        <p:nvSpPr>
          <p:cNvPr id="3" name="Content Placeholder 2">
            <a:extLst>
              <a:ext uri="{FF2B5EF4-FFF2-40B4-BE49-F238E27FC236}">
                <a16:creationId xmlns:a16="http://schemas.microsoft.com/office/drawing/2014/main" id="{0A156D29-7879-A904-C3A1-18FCFBE1869C}"/>
              </a:ext>
            </a:extLst>
          </p:cNvPr>
          <p:cNvSpPr>
            <a:spLocks noGrp="1"/>
          </p:cNvSpPr>
          <p:nvPr>
            <p:ph idx="1"/>
          </p:nvPr>
        </p:nvSpPr>
        <p:spPr>
          <a:xfrm>
            <a:off x="5356861" y="2252870"/>
            <a:ext cx="5993892" cy="3560251"/>
          </a:xfrm>
        </p:spPr>
        <p:txBody>
          <a:bodyPr>
            <a:normAutofit/>
          </a:bodyPr>
          <a:lstStyle/>
          <a:p>
            <a:pPr marL="0" indent="0">
              <a:lnSpc>
                <a:spcPct val="100000"/>
              </a:lnSpc>
              <a:buNone/>
            </a:pPr>
            <a:r>
              <a:rPr lang="en-GB" sz="1500" dirty="0"/>
              <a:t>Competence = Umbrella term for a person's knowledge, skills, abilities (and experience) (Abelha et al., 2020):</a:t>
            </a:r>
          </a:p>
          <a:p>
            <a:pPr>
              <a:lnSpc>
                <a:spcPct val="100000"/>
              </a:lnSpc>
            </a:pPr>
            <a:r>
              <a:rPr lang="en-GB" sz="1500" dirty="0"/>
              <a:t>refers to people who have a </a:t>
            </a:r>
            <a:r>
              <a:rPr lang="en-GB" sz="1500" b="1" dirty="0"/>
              <a:t>previous background </a:t>
            </a:r>
            <a:r>
              <a:rPr lang="en-GB" sz="1500" dirty="0"/>
              <a:t>(knowledge, skills, abilities, past experiences, beliefs, values, etc.) that might be called resources  </a:t>
            </a:r>
          </a:p>
          <a:p>
            <a:pPr>
              <a:lnSpc>
                <a:spcPct val="100000"/>
              </a:lnSpc>
            </a:pPr>
            <a:r>
              <a:rPr lang="en-GB" sz="1500" dirty="0"/>
              <a:t>implies the </a:t>
            </a:r>
            <a:r>
              <a:rPr lang="en-GB" sz="1500" b="1" dirty="0"/>
              <a:t>mobilization of those resources in a specific context </a:t>
            </a:r>
            <a:r>
              <a:rPr lang="en-GB" sz="1500" dirty="0"/>
              <a:t>(e.g., solve a problem)</a:t>
            </a:r>
          </a:p>
          <a:p>
            <a:pPr>
              <a:lnSpc>
                <a:spcPct val="100000"/>
              </a:lnSpc>
            </a:pPr>
            <a:r>
              <a:rPr lang="en-GB" sz="1500" dirty="0"/>
              <a:t>is </a:t>
            </a:r>
            <a:r>
              <a:rPr lang="en-GB" sz="1500" b="1" dirty="0"/>
              <a:t>visible inside of a particular context</a:t>
            </a:r>
            <a:r>
              <a:rPr lang="en-GB" sz="1500" dirty="0"/>
              <a:t>, in which it is possible to identify which competences people need to develop</a:t>
            </a:r>
          </a:p>
          <a:p>
            <a:pPr>
              <a:lnSpc>
                <a:spcPct val="100000"/>
              </a:lnSpc>
            </a:pPr>
            <a:r>
              <a:rPr lang="en-GB" sz="1500" dirty="0"/>
              <a:t>requires </a:t>
            </a:r>
            <a:r>
              <a:rPr lang="en-GB" sz="1500" b="1" dirty="0"/>
              <a:t>more than the acquisition of knowledge</a:t>
            </a:r>
            <a:r>
              <a:rPr lang="en-GB" sz="1500" dirty="0"/>
              <a:t>; it is also more than a skill (something that a person is able to do)   </a:t>
            </a:r>
          </a:p>
          <a:p>
            <a:pPr marL="0" indent="0">
              <a:lnSpc>
                <a:spcPct val="100000"/>
              </a:lnSpc>
              <a:buNone/>
            </a:pPr>
            <a:endParaRPr lang="en-CH" sz="1500" dirty="0"/>
          </a:p>
        </p:txBody>
      </p:sp>
      <p:sp>
        <p:nvSpPr>
          <p:cNvPr id="6" name="Slide Number Placeholder 5">
            <a:extLst>
              <a:ext uri="{FF2B5EF4-FFF2-40B4-BE49-F238E27FC236}">
                <a16:creationId xmlns:a16="http://schemas.microsoft.com/office/drawing/2014/main" id="{05DF0579-E366-AE8F-934D-B95A38187C11}"/>
              </a:ext>
            </a:extLst>
          </p:cNvPr>
          <p:cNvSpPr>
            <a:spLocks noGrp="1"/>
          </p:cNvSpPr>
          <p:nvPr>
            <p:ph type="sldNum" sz="quarter" idx="12"/>
          </p:nvPr>
        </p:nvSpPr>
        <p:spPr>
          <a:xfrm>
            <a:off x="8613648" y="6356350"/>
            <a:ext cx="2743200" cy="365125"/>
          </a:xfrm>
        </p:spPr>
        <p:txBody>
          <a:bodyPr>
            <a:normAutofit/>
          </a:bodyPr>
          <a:lstStyle/>
          <a:p>
            <a:pPr>
              <a:spcAft>
                <a:spcPts val="600"/>
              </a:spcAft>
            </a:pPr>
            <a:fld id="{A65A5C87-DF58-40C8-B092-1DE63DB4547E}" type="slidenum">
              <a:rPr lang="en-US">
                <a:solidFill>
                  <a:schemeClr val="tx2">
                    <a:lumMod val="50000"/>
                    <a:lumOff val="50000"/>
                  </a:schemeClr>
                </a:solidFill>
              </a:rPr>
              <a:pPr>
                <a:spcAft>
                  <a:spcPts val="600"/>
                </a:spcAft>
              </a:pPr>
              <a:t>15</a:t>
            </a:fld>
            <a:endParaRPr lang="en-US">
              <a:solidFill>
                <a:schemeClr val="tx2">
                  <a:lumMod val="50000"/>
                  <a:lumOff val="50000"/>
                </a:schemeClr>
              </a:solidFill>
            </a:endParaRPr>
          </a:p>
        </p:txBody>
      </p:sp>
    </p:spTree>
    <p:extLst>
      <p:ext uri="{BB962C8B-B14F-4D97-AF65-F5344CB8AC3E}">
        <p14:creationId xmlns:p14="http://schemas.microsoft.com/office/powerpoint/2010/main" val="4021926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0661F61-B4EE-DF0C-544E-EC804651F011}"/>
              </a:ext>
            </a:extLst>
          </p:cNvPr>
          <p:cNvPicPr>
            <a:picLocks noChangeAspect="1"/>
          </p:cNvPicPr>
          <p:nvPr/>
        </p:nvPicPr>
        <p:blipFill>
          <a:blip r:embed="rId3"/>
          <a:srcRect l="48014" t="16366" r="25000" b="16366"/>
          <a:stretch/>
        </p:blipFill>
        <p:spPr>
          <a:xfrm>
            <a:off x="589654" y="1122360"/>
            <a:ext cx="3619146" cy="5074563"/>
          </a:xfrm>
          <a:prstGeom prst="rect">
            <a:avLst/>
          </a:prstGeom>
          <a:ln w="12700">
            <a:solidFill>
              <a:schemeClr val="tx1"/>
            </a:solidFill>
          </a:ln>
        </p:spPr>
      </p:pic>
      <p:sp>
        <p:nvSpPr>
          <p:cNvPr id="6" name="TextBox 5">
            <a:extLst>
              <a:ext uri="{FF2B5EF4-FFF2-40B4-BE49-F238E27FC236}">
                <a16:creationId xmlns:a16="http://schemas.microsoft.com/office/drawing/2014/main" id="{853887A2-9707-8EFB-894A-29DB873ABCC2}"/>
              </a:ext>
            </a:extLst>
          </p:cNvPr>
          <p:cNvSpPr txBox="1"/>
          <p:nvPr/>
        </p:nvSpPr>
        <p:spPr>
          <a:xfrm>
            <a:off x="4287854" y="1027803"/>
            <a:ext cx="7167546" cy="5170646"/>
          </a:xfrm>
          <a:prstGeom prst="rect">
            <a:avLst/>
          </a:prstGeom>
          <a:noFill/>
        </p:spPr>
        <p:txBody>
          <a:bodyPr wrap="square">
            <a:spAutoFit/>
          </a:bodyPr>
          <a:lstStyle/>
          <a:p>
            <a:r>
              <a:rPr lang="de-CH" sz="2200" dirty="0"/>
              <a:t>Shift from the 8-4-4 system (Objective – </a:t>
            </a:r>
            <a:r>
              <a:rPr lang="de-CH" sz="2200" dirty="0" err="1"/>
              <a:t>driven</a:t>
            </a:r>
            <a:r>
              <a:rPr lang="de-CH" sz="2200" dirty="0"/>
              <a:t> </a:t>
            </a:r>
            <a:r>
              <a:rPr lang="de-CH" sz="2200" dirty="0" err="1"/>
              <a:t>curriculum</a:t>
            </a:r>
            <a:r>
              <a:rPr lang="de-CH" sz="2200" dirty="0"/>
              <a:t>)</a:t>
            </a:r>
            <a:r>
              <a:rPr lang="de-CH" sz="2200" dirty="0">
                <a:sym typeface="Wingdings" panose="05000000000000000000" pitchFamily="2" charset="2"/>
              </a:rPr>
              <a:t> </a:t>
            </a:r>
            <a:r>
              <a:rPr lang="de-CH" sz="2200" b="1" dirty="0"/>
              <a:t>content-based </a:t>
            </a:r>
            <a:r>
              <a:rPr lang="de-CH" sz="2200" dirty="0"/>
              <a:t>(but performance based-pedagogic practice)</a:t>
            </a:r>
            <a:r>
              <a:rPr lang="de-CH" sz="2200" b="1" dirty="0"/>
              <a:t> to the competence-based </a:t>
            </a:r>
            <a:r>
              <a:rPr lang="de-CH" sz="2200" dirty="0"/>
              <a:t>2-6-3-3-3 system.</a:t>
            </a:r>
            <a:endParaRPr lang="de-CH" sz="2200" u="sng" dirty="0"/>
          </a:p>
          <a:p>
            <a:endParaRPr lang="en-US" sz="2200" b="0" i="0" dirty="0">
              <a:solidFill>
                <a:srgbClr val="000000"/>
              </a:solidFill>
              <a:effectLst/>
            </a:endParaRPr>
          </a:p>
          <a:p>
            <a:r>
              <a:rPr lang="en-US" sz="2200" b="0" i="0" dirty="0">
                <a:solidFill>
                  <a:srgbClr val="000000"/>
                </a:solidFill>
                <a:effectLst/>
              </a:rPr>
              <a:t>The competency-based curriculum </a:t>
            </a:r>
            <a:r>
              <a:rPr lang="en-US" sz="2200" b="0" i="0" dirty="0" err="1">
                <a:solidFill>
                  <a:srgbClr val="000000"/>
                </a:solidFill>
                <a:effectLst/>
              </a:rPr>
              <a:t>emphasises</a:t>
            </a:r>
            <a:r>
              <a:rPr lang="en-US" sz="2200" b="0" i="0" dirty="0">
                <a:solidFill>
                  <a:srgbClr val="000000"/>
                </a:solidFill>
                <a:effectLst/>
              </a:rPr>
              <a:t> student-centered teaching and practical experiences that better equip learners with 21st-century skills like </a:t>
            </a:r>
            <a:r>
              <a:rPr lang="en-US" sz="2200" b="1" i="0" dirty="0">
                <a:solidFill>
                  <a:srgbClr val="000000"/>
                </a:solidFill>
                <a:effectLst/>
              </a:rPr>
              <a:t>critical thinking and problem-solving</a:t>
            </a:r>
            <a:r>
              <a:rPr lang="en-US" sz="2200" b="0" i="0" dirty="0">
                <a:solidFill>
                  <a:srgbClr val="000000"/>
                </a:solidFill>
                <a:effectLst/>
              </a:rPr>
              <a:t>.</a:t>
            </a:r>
          </a:p>
          <a:p>
            <a:endParaRPr lang="en-GB" sz="2200" dirty="0"/>
          </a:p>
          <a:p>
            <a:r>
              <a:rPr lang="en-GB" sz="2200" dirty="0"/>
              <a:t>The core competencies expected to be developed by all learners at all levels include: </a:t>
            </a:r>
          </a:p>
          <a:p>
            <a:endParaRPr lang="en-GB" sz="2200" dirty="0"/>
          </a:p>
          <a:p>
            <a:r>
              <a:rPr lang="en-US" sz="2200" b="1" dirty="0"/>
              <a:t>creativity, innovation, critical thinking and problem solving, inclusivity and sustainable development.</a:t>
            </a:r>
          </a:p>
        </p:txBody>
      </p:sp>
      <p:sp>
        <p:nvSpPr>
          <p:cNvPr id="2" name="TextBox 1">
            <a:extLst>
              <a:ext uri="{FF2B5EF4-FFF2-40B4-BE49-F238E27FC236}">
                <a16:creationId xmlns:a16="http://schemas.microsoft.com/office/drawing/2014/main" id="{E512689F-85C5-878A-40E5-589917C523E8}"/>
              </a:ext>
            </a:extLst>
          </p:cNvPr>
          <p:cNvSpPr txBox="1"/>
          <p:nvPr/>
        </p:nvSpPr>
        <p:spPr>
          <a:xfrm>
            <a:off x="755904" y="316992"/>
            <a:ext cx="9302496" cy="523220"/>
          </a:xfrm>
          <a:prstGeom prst="rect">
            <a:avLst/>
          </a:prstGeom>
          <a:noFill/>
        </p:spPr>
        <p:txBody>
          <a:bodyPr wrap="square" rtlCol="0">
            <a:spAutoFit/>
          </a:bodyPr>
          <a:lstStyle/>
          <a:p>
            <a:r>
              <a:rPr lang="en-GB" sz="2800" dirty="0"/>
              <a:t>Example from Kenya</a:t>
            </a:r>
            <a:endParaRPr lang="en-CH" sz="2800" dirty="0"/>
          </a:p>
        </p:txBody>
      </p:sp>
      <p:grpSp>
        <p:nvGrpSpPr>
          <p:cNvPr id="3" name="Group 2">
            <a:extLst>
              <a:ext uri="{FF2B5EF4-FFF2-40B4-BE49-F238E27FC236}">
                <a16:creationId xmlns:a16="http://schemas.microsoft.com/office/drawing/2014/main" id="{AC10A1EA-9F7B-4DE7-FC02-2DB12D649506}"/>
              </a:ext>
            </a:extLst>
          </p:cNvPr>
          <p:cNvGrpSpPr/>
          <p:nvPr/>
        </p:nvGrpSpPr>
        <p:grpSpPr>
          <a:xfrm>
            <a:off x="11369860" y="-3696"/>
            <a:ext cx="822140" cy="847296"/>
            <a:chOff x="8600746" y="57953"/>
            <a:chExt cx="822140" cy="847296"/>
          </a:xfrm>
        </p:grpSpPr>
        <p:sp>
          <p:nvSpPr>
            <p:cNvPr id="4" name="Rectangle 3">
              <a:extLst>
                <a:ext uri="{FF2B5EF4-FFF2-40B4-BE49-F238E27FC236}">
                  <a16:creationId xmlns:a16="http://schemas.microsoft.com/office/drawing/2014/main" id="{E0CBC619-E3B0-9062-3822-4B235C53A8CC}"/>
                </a:ext>
              </a:extLst>
            </p:cNvPr>
            <p:cNvSpPr/>
            <p:nvPr/>
          </p:nvSpPr>
          <p:spPr>
            <a:xfrm>
              <a:off x="8956346" y="57955"/>
              <a:ext cx="466540" cy="812090"/>
            </a:xfrm>
            <a:prstGeom prst="rect">
              <a:avLst/>
            </a:prstGeom>
            <a:solidFill>
              <a:srgbClr val="FFF5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7" name="Rectangle 6">
              <a:extLst>
                <a:ext uri="{FF2B5EF4-FFF2-40B4-BE49-F238E27FC236}">
                  <a16:creationId xmlns:a16="http://schemas.microsoft.com/office/drawing/2014/main" id="{FB8971C4-901F-FD58-C714-BBE65878F459}"/>
                </a:ext>
              </a:extLst>
            </p:cNvPr>
            <p:cNvSpPr/>
            <p:nvPr/>
          </p:nvSpPr>
          <p:spPr>
            <a:xfrm>
              <a:off x="8721396" y="57954"/>
              <a:ext cx="234950" cy="812090"/>
            </a:xfrm>
            <a:prstGeom prst="rect">
              <a:avLst/>
            </a:prstGeom>
            <a:solidFill>
              <a:srgbClr val="FBD3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8" name="Rectangle 7">
              <a:extLst>
                <a:ext uri="{FF2B5EF4-FFF2-40B4-BE49-F238E27FC236}">
                  <a16:creationId xmlns:a16="http://schemas.microsoft.com/office/drawing/2014/main" id="{B5BDFF59-5C54-1B15-E215-CA8B03013DEE}"/>
                </a:ext>
              </a:extLst>
            </p:cNvPr>
            <p:cNvSpPr/>
            <p:nvPr/>
          </p:nvSpPr>
          <p:spPr>
            <a:xfrm>
              <a:off x="8600746" y="57953"/>
              <a:ext cx="120650" cy="8120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9" name="Picture 8">
              <a:extLst>
                <a:ext uri="{FF2B5EF4-FFF2-40B4-BE49-F238E27FC236}">
                  <a16:creationId xmlns:a16="http://schemas.microsoft.com/office/drawing/2014/main" id="{EC3088D7-80FC-4A29-31CF-308C2B8DFA19}"/>
                </a:ext>
              </a:extLst>
            </p:cNvPr>
            <p:cNvPicPr>
              <a:picLocks noChangeAspect="1"/>
            </p:cNvPicPr>
            <p:nvPr/>
          </p:nvPicPr>
          <p:blipFill>
            <a:blip r:embed="rId4"/>
            <a:stretch>
              <a:fillRect/>
            </a:stretch>
          </p:blipFill>
          <p:spPr>
            <a:xfrm>
              <a:off x="8648895" y="131258"/>
              <a:ext cx="773991" cy="773991"/>
            </a:xfrm>
            <a:prstGeom prst="rect">
              <a:avLst/>
            </a:prstGeom>
          </p:spPr>
        </p:pic>
      </p:grpSp>
    </p:spTree>
    <p:extLst>
      <p:ext uri="{BB962C8B-B14F-4D97-AF65-F5344CB8AC3E}">
        <p14:creationId xmlns:p14="http://schemas.microsoft.com/office/powerpoint/2010/main" val="1752042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97553-CF5B-EDE8-6246-47F950692EC3}"/>
              </a:ext>
            </a:extLst>
          </p:cNvPr>
          <p:cNvSpPr>
            <a:spLocks noGrp="1"/>
          </p:cNvSpPr>
          <p:nvPr>
            <p:ph type="title"/>
          </p:nvPr>
        </p:nvSpPr>
        <p:spPr/>
        <p:txBody>
          <a:bodyPr>
            <a:normAutofit fontScale="90000"/>
          </a:bodyPr>
          <a:lstStyle/>
          <a:p>
            <a:r>
              <a:rPr lang="de-CH" dirty="0" err="1"/>
              <a:t>Pedagogical</a:t>
            </a:r>
            <a:r>
              <a:rPr lang="de-CH" dirty="0"/>
              <a:t> </a:t>
            </a:r>
            <a:r>
              <a:rPr lang="de-CH" dirty="0" err="1"/>
              <a:t>strategies</a:t>
            </a:r>
            <a:r>
              <a:rPr lang="de-CH" dirty="0"/>
              <a:t> </a:t>
            </a:r>
            <a:r>
              <a:rPr lang="de-CH" dirty="0" err="1"/>
              <a:t>that</a:t>
            </a:r>
            <a:r>
              <a:rPr lang="de-CH" dirty="0"/>
              <a:t> </a:t>
            </a:r>
            <a:r>
              <a:rPr lang="de-CH" dirty="0" err="1"/>
              <a:t>foster</a:t>
            </a:r>
            <a:r>
              <a:rPr lang="de-CH" dirty="0"/>
              <a:t> SD </a:t>
            </a:r>
            <a:r>
              <a:rPr lang="de-CH" dirty="0" err="1"/>
              <a:t>competences</a:t>
            </a:r>
            <a:endParaRPr lang="en-CH" dirty="0"/>
          </a:p>
        </p:txBody>
      </p:sp>
      <p:sp>
        <p:nvSpPr>
          <p:cNvPr id="3" name="Content Placeholder 2">
            <a:extLst>
              <a:ext uri="{FF2B5EF4-FFF2-40B4-BE49-F238E27FC236}">
                <a16:creationId xmlns:a16="http://schemas.microsoft.com/office/drawing/2014/main" id="{B61D24C7-3545-6968-7547-3AE4D34E3D1F}"/>
              </a:ext>
            </a:extLst>
          </p:cNvPr>
          <p:cNvSpPr>
            <a:spLocks noGrp="1"/>
          </p:cNvSpPr>
          <p:nvPr>
            <p:ph idx="1"/>
          </p:nvPr>
        </p:nvSpPr>
        <p:spPr/>
        <p:txBody>
          <a:bodyPr/>
          <a:lstStyle/>
          <a:p>
            <a:r>
              <a:rPr lang="de-CH" dirty="0" err="1"/>
              <a:t>Mounting</a:t>
            </a:r>
            <a:r>
              <a:rPr lang="de-CH" dirty="0"/>
              <a:t> global </a:t>
            </a:r>
            <a:r>
              <a:rPr lang="de-CH" dirty="0" err="1"/>
              <a:t>challenges</a:t>
            </a:r>
            <a:r>
              <a:rPr lang="de-CH" dirty="0"/>
              <a:t> </a:t>
            </a:r>
            <a:r>
              <a:rPr lang="de-CH" dirty="0" err="1"/>
              <a:t>call</a:t>
            </a:r>
            <a:r>
              <a:rPr lang="de-CH" dirty="0"/>
              <a:t> for </a:t>
            </a:r>
            <a:r>
              <a:rPr lang="de-CH" b="1" dirty="0" err="1"/>
              <a:t>suitable</a:t>
            </a:r>
            <a:r>
              <a:rPr lang="de-CH" b="1" dirty="0"/>
              <a:t> </a:t>
            </a:r>
            <a:r>
              <a:rPr lang="de-CH" b="1" dirty="0" err="1"/>
              <a:t>strategies</a:t>
            </a:r>
            <a:r>
              <a:rPr lang="de-CH" b="1" dirty="0"/>
              <a:t> and prompt </a:t>
            </a:r>
            <a:r>
              <a:rPr lang="de-CH" b="1" dirty="0" err="1"/>
              <a:t>action</a:t>
            </a:r>
            <a:r>
              <a:rPr lang="de-CH" dirty="0"/>
              <a:t>. </a:t>
            </a:r>
          </a:p>
          <a:p>
            <a:r>
              <a:rPr lang="de-CH" dirty="0"/>
              <a:t>Change </a:t>
            </a:r>
            <a:r>
              <a:rPr lang="de-CH" dirty="0" err="1"/>
              <a:t>agents</a:t>
            </a:r>
            <a:r>
              <a:rPr lang="de-CH" dirty="0"/>
              <a:t> </a:t>
            </a:r>
            <a:r>
              <a:rPr lang="de-CH" dirty="0" err="1"/>
              <a:t>need</a:t>
            </a:r>
            <a:r>
              <a:rPr lang="de-CH" dirty="0"/>
              <a:t> </a:t>
            </a:r>
            <a:r>
              <a:rPr lang="de-CH" dirty="0" err="1"/>
              <a:t>to</a:t>
            </a:r>
            <a:r>
              <a:rPr lang="de-CH" dirty="0"/>
              <a:t> </a:t>
            </a:r>
            <a:r>
              <a:rPr lang="de-CH" dirty="0" err="1"/>
              <a:t>be</a:t>
            </a:r>
            <a:r>
              <a:rPr lang="de-CH" dirty="0"/>
              <a:t> </a:t>
            </a:r>
            <a:r>
              <a:rPr lang="de-CH" dirty="0" err="1"/>
              <a:t>capable</a:t>
            </a:r>
            <a:r>
              <a:rPr lang="de-CH" dirty="0"/>
              <a:t> </a:t>
            </a:r>
            <a:r>
              <a:rPr lang="de-CH" dirty="0" err="1"/>
              <a:t>of</a:t>
            </a:r>
            <a:r>
              <a:rPr lang="de-CH" dirty="0"/>
              <a:t> </a:t>
            </a:r>
            <a:r>
              <a:rPr lang="de-CH" b="1" dirty="0" err="1"/>
              <a:t>addressing</a:t>
            </a:r>
            <a:r>
              <a:rPr lang="de-CH" b="1" dirty="0"/>
              <a:t> </a:t>
            </a:r>
            <a:r>
              <a:rPr lang="de-CH" b="1" dirty="0" err="1"/>
              <a:t>wicked</a:t>
            </a:r>
            <a:r>
              <a:rPr lang="de-CH" b="1" dirty="0"/>
              <a:t> </a:t>
            </a:r>
            <a:r>
              <a:rPr lang="de-CH" b="1" dirty="0" err="1"/>
              <a:t>problems</a:t>
            </a:r>
            <a:r>
              <a:rPr lang="de-CH" b="1" dirty="0"/>
              <a:t>.</a:t>
            </a:r>
          </a:p>
          <a:p>
            <a:r>
              <a:rPr lang="de-CH" dirty="0" err="1"/>
              <a:t>We</a:t>
            </a:r>
            <a:r>
              <a:rPr lang="de-CH" dirty="0"/>
              <a:t> </a:t>
            </a:r>
            <a:r>
              <a:rPr lang="de-CH" dirty="0" err="1"/>
              <a:t>need</a:t>
            </a:r>
            <a:r>
              <a:rPr lang="de-CH" dirty="0"/>
              <a:t> </a:t>
            </a:r>
            <a:r>
              <a:rPr lang="de-CH" dirty="0" err="1"/>
              <a:t>to</a:t>
            </a:r>
            <a:r>
              <a:rPr lang="de-CH" dirty="0"/>
              <a:t> </a:t>
            </a:r>
            <a:r>
              <a:rPr lang="de-CH" b="1" dirty="0" err="1"/>
              <a:t>create</a:t>
            </a:r>
            <a:r>
              <a:rPr lang="de-CH" b="1" dirty="0"/>
              <a:t> </a:t>
            </a:r>
            <a:r>
              <a:rPr lang="de-CH" b="1" dirty="0" err="1"/>
              <a:t>learning</a:t>
            </a:r>
            <a:r>
              <a:rPr lang="de-CH" b="1" dirty="0"/>
              <a:t> </a:t>
            </a:r>
            <a:r>
              <a:rPr lang="de-CH" b="1" dirty="0" err="1"/>
              <a:t>environments</a:t>
            </a:r>
            <a:r>
              <a:rPr lang="de-CH" b="1" dirty="0"/>
              <a:t> </a:t>
            </a:r>
            <a:r>
              <a:rPr lang="de-CH" b="1" dirty="0" err="1"/>
              <a:t>that</a:t>
            </a:r>
            <a:r>
              <a:rPr lang="de-CH" b="1" dirty="0"/>
              <a:t> </a:t>
            </a:r>
            <a:r>
              <a:rPr lang="de-CH" b="1" dirty="0" err="1"/>
              <a:t>foster</a:t>
            </a:r>
            <a:r>
              <a:rPr lang="de-CH" b="1" dirty="0"/>
              <a:t> </a:t>
            </a:r>
            <a:r>
              <a:rPr lang="de-CH" b="1" dirty="0" err="1"/>
              <a:t>sustainability</a:t>
            </a:r>
            <a:r>
              <a:rPr lang="de-CH" b="1" dirty="0"/>
              <a:t> </a:t>
            </a:r>
            <a:r>
              <a:rPr lang="de-CH" b="1" dirty="0" err="1"/>
              <a:t>competences</a:t>
            </a:r>
            <a:r>
              <a:rPr lang="de-CH" b="1" dirty="0"/>
              <a:t>.</a:t>
            </a:r>
            <a:endParaRPr lang="de-CH" dirty="0"/>
          </a:p>
          <a:p>
            <a:endParaRPr lang="de-CH" dirty="0"/>
          </a:p>
        </p:txBody>
      </p:sp>
      <p:sp>
        <p:nvSpPr>
          <p:cNvPr id="6" name="Slide Number Placeholder 5">
            <a:extLst>
              <a:ext uri="{FF2B5EF4-FFF2-40B4-BE49-F238E27FC236}">
                <a16:creationId xmlns:a16="http://schemas.microsoft.com/office/drawing/2014/main" id="{F0577622-0DEF-1362-B49F-700EC377E318}"/>
              </a:ext>
            </a:extLst>
          </p:cNvPr>
          <p:cNvSpPr>
            <a:spLocks noGrp="1"/>
          </p:cNvSpPr>
          <p:nvPr>
            <p:ph type="sldNum" sz="quarter" idx="12"/>
          </p:nvPr>
        </p:nvSpPr>
        <p:spPr/>
        <p:txBody>
          <a:bodyPr/>
          <a:lstStyle/>
          <a:p>
            <a:fld id="{A65A5C87-DF58-40C8-B092-1DE63DB4547E}" type="slidenum">
              <a:rPr lang="en-US" smtClean="0"/>
              <a:t>17</a:t>
            </a:fld>
            <a:endParaRPr lang="en-US" dirty="0"/>
          </a:p>
        </p:txBody>
      </p:sp>
    </p:spTree>
    <p:extLst>
      <p:ext uri="{BB962C8B-B14F-4D97-AF65-F5344CB8AC3E}">
        <p14:creationId xmlns:p14="http://schemas.microsoft.com/office/powerpoint/2010/main" val="2292259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F5215-DDBD-13A6-6D9D-F8983A6E403A}"/>
              </a:ext>
            </a:extLst>
          </p:cNvPr>
          <p:cNvSpPr>
            <a:spLocks noGrp="1"/>
          </p:cNvSpPr>
          <p:nvPr>
            <p:ph type="title"/>
          </p:nvPr>
        </p:nvSpPr>
        <p:spPr/>
        <p:txBody>
          <a:bodyPr/>
          <a:lstStyle/>
          <a:p>
            <a:r>
              <a:rPr lang="de-CH" dirty="0"/>
              <a:t>Key </a:t>
            </a:r>
            <a:r>
              <a:rPr lang="de-CH" dirty="0" err="1"/>
              <a:t>pedagogical</a:t>
            </a:r>
            <a:r>
              <a:rPr lang="de-CH" dirty="0"/>
              <a:t> </a:t>
            </a:r>
            <a:r>
              <a:rPr lang="de-CH" dirty="0" err="1"/>
              <a:t>approaches</a:t>
            </a:r>
            <a:r>
              <a:rPr lang="de-CH" dirty="0"/>
              <a:t> in ESD </a:t>
            </a:r>
            <a:endParaRPr lang="en-CH" dirty="0"/>
          </a:p>
        </p:txBody>
      </p:sp>
      <p:pic>
        <p:nvPicPr>
          <p:cNvPr id="8" name="Content Placeholder 7">
            <a:extLst>
              <a:ext uri="{FF2B5EF4-FFF2-40B4-BE49-F238E27FC236}">
                <a16:creationId xmlns:a16="http://schemas.microsoft.com/office/drawing/2014/main" id="{1514D6AA-DBB4-EDEC-6C58-889E2CB64C1F}"/>
              </a:ext>
            </a:extLst>
          </p:cNvPr>
          <p:cNvPicPr>
            <a:picLocks noGrp="1" noChangeAspect="1"/>
          </p:cNvPicPr>
          <p:nvPr>
            <p:ph idx="1"/>
          </p:nvPr>
        </p:nvPicPr>
        <p:blipFill>
          <a:blip r:embed="rId2"/>
          <a:stretch>
            <a:fillRect/>
          </a:stretch>
        </p:blipFill>
        <p:spPr>
          <a:xfrm>
            <a:off x="1882206" y="1743912"/>
            <a:ext cx="8443692" cy="2749534"/>
          </a:xfrm>
        </p:spPr>
      </p:pic>
      <p:sp>
        <p:nvSpPr>
          <p:cNvPr id="6" name="Slide Number Placeholder 5">
            <a:extLst>
              <a:ext uri="{FF2B5EF4-FFF2-40B4-BE49-F238E27FC236}">
                <a16:creationId xmlns:a16="http://schemas.microsoft.com/office/drawing/2014/main" id="{0E998700-6F2C-1AEA-048D-FE5A80DB3CC3}"/>
              </a:ext>
            </a:extLst>
          </p:cNvPr>
          <p:cNvSpPr>
            <a:spLocks noGrp="1"/>
          </p:cNvSpPr>
          <p:nvPr>
            <p:ph type="sldNum" sz="quarter" idx="12"/>
          </p:nvPr>
        </p:nvSpPr>
        <p:spPr/>
        <p:txBody>
          <a:bodyPr/>
          <a:lstStyle/>
          <a:p>
            <a:fld id="{A65A5C87-DF58-40C8-B092-1DE63DB4547E}" type="slidenum">
              <a:rPr lang="en-US" smtClean="0"/>
              <a:t>18</a:t>
            </a:fld>
            <a:endParaRPr lang="en-US" dirty="0"/>
          </a:p>
        </p:txBody>
      </p:sp>
      <p:sp>
        <p:nvSpPr>
          <p:cNvPr id="9" name="TextBox 8">
            <a:extLst>
              <a:ext uri="{FF2B5EF4-FFF2-40B4-BE49-F238E27FC236}">
                <a16:creationId xmlns:a16="http://schemas.microsoft.com/office/drawing/2014/main" id="{32FA8A22-1525-F456-6350-938E6BFEF92F}"/>
              </a:ext>
            </a:extLst>
          </p:cNvPr>
          <p:cNvSpPr txBox="1"/>
          <p:nvPr/>
        </p:nvSpPr>
        <p:spPr>
          <a:xfrm>
            <a:off x="1882206" y="4509120"/>
            <a:ext cx="2664296" cy="1815882"/>
          </a:xfrm>
          <a:prstGeom prst="rect">
            <a:avLst/>
          </a:prstGeom>
          <a:noFill/>
        </p:spPr>
        <p:txBody>
          <a:bodyPr wrap="square" rtlCol="0">
            <a:spAutoFit/>
          </a:bodyPr>
          <a:lstStyle/>
          <a:p>
            <a:pPr marL="342900" indent="-342900">
              <a:buFont typeface="Wingdings" panose="05000000000000000000" pitchFamily="2" charset="2"/>
              <a:buChar char="ü"/>
            </a:pPr>
            <a:r>
              <a:rPr lang="en-US" sz="1600" dirty="0"/>
              <a:t>Active development of knowledge rather than transfer/passive learning</a:t>
            </a:r>
          </a:p>
          <a:p>
            <a:pPr marL="342900" indent="-342900">
              <a:buFont typeface="Wingdings" panose="05000000000000000000" pitchFamily="2" charset="2"/>
              <a:buChar char="ü"/>
            </a:pPr>
            <a:endParaRPr lang="en-US" sz="1600" dirty="0"/>
          </a:p>
          <a:p>
            <a:pPr marL="342900" indent="-342900">
              <a:buFont typeface="Wingdings" panose="05000000000000000000" pitchFamily="2" charset="2"/>
              <a:buChar char="ü"/>
            </a:pPr>
            <a:r>
              <a:rPr lang="en-US" sz="1600" dirty="0"/>
              <a:t>Educator: facilitator of learning processes</a:t>
            </a:r>
            <a:endParaRPr lang="en-CH" sz="1600" dirty="0"/>
          </a:p>
        </p:txBody>
      </p:sp>
      <p:sp>
        <p:nvSpPr>
          <p:cNvPr id="10" name="TextBox 9">
            <a:extLst>
              <a:ext uri="{FF2B5EF4-FFF2-40B4-BE49-F238E27FC236}">
                <a16:creationId xmlns:a16="http://schemas.microsoft.com/office/drawing/2014/main" id="{CD91EFA3-8473-ED81-1892-115F1D64A841}"/>
              </a:ext>
            </a:extLst>
          </p:cNvPr>
          <p:cNvSpPr txBox="1"/>
          <p:nvPr/>
        </p:nvSpPr>
        <p:spPr>
          <a:xfrm>
            <a:off x="4877200" y="4455558"/>
            <a:ext cx="2768300" cy="2062103"/>
          </a:xfrm>
          <a:prstGeom prst="rect">
            <a:avLst/>
          </a:prstGeom>
          <a:noFill/>
        </p:spPr>
        <p:txBody>
          <a:bodyPr wrap="square" rtlCol="0">
            <a:spAutoFit/>
          </a:bodyPr>
          <a:lstStyle/>
          <a:p>
            <a:pPr marL="342900" indent="-342900">
              <a:buFont typeface="Wingdings" panose="05000000000000000000" pitchFamily="2" charset="2"/>
              <a:buChar char="ü"/>
            </a:pPr>
            <a:r>
              <a:rPr lang="en-US" sz="1600" dirty="0"/>
              <a:t>Learner engage in action and reflect on their experiences</a:t>
            </a:r>
          </a:p>
          <a:p>
            <a:pPr marL="342900" indent="-342900">
              <a:buFont typeface="Wingdings" panose="05000000000000000000" pitchFamily="2" charset="2"/>
              <a:buChar char="ü"/>
            </a:pPr>
            <a:endParaRPr lang="en-US" sz="1600" dirty="0"/>
          </a:p>
          <a:p>
            <a:pPr marL="342900" indent="-342900">
              <a:buFont typeface="Wingdings" panose="05000000000000000000" pitchFamily="2" charset="2"/>
              <a:buChar char="ü"/>
            </a:pPr>
            <a:r>
              <a:rPr lang="en-US" sz="1600" dirty="0"/>
              <a:t>Educator: create learning environment that prompts reflexive thought processes</a:t>
            </a:r>
            <a:endParaRPr lang="en-CH" sz="1600" dirty="0"/>
          </a:p>
        </p:txBody>
      </p:sp>
      <p:sp>
        <p:nvSpPr>
          <p:cNvPr id="11" name="TextBox 10">
            <a:extLst>
              <a:ext uri="{FF2B5EF4-FFF2-40B4-BE49-F238E27FC236}">
                <a16:creationId xmlns:a16="http://schemas.microsoft.com/office/drawing/2014/main" id="{657B89DC-8991-49E4-A856-98A4ECF5C6F9}"/>
              </a:ext>
            </a:extLst>
          </p:cNvPr>
          <p:cNvSpPr txBox="1"/>
          <p:nvPr/>
        </p:nvSpPr>
        <p:spPr>
          <a:xfrm>
            <a:off x="7900174" y="4386010"/>
            <a:ext cx="2664296" cy="2062103"/>
          </a:xfrm>
          <a:prstGeom prst="rect">
            <a:avLst/>
          </a:prstGeom>
          <a:noFill/>
        </p:spPr>
        <p:txBody>
          <a:bodyPr wrap="square" rtlCol="0">
            <a:spAutoFit/>
          </a:bodyPr>
          <a:lstStyle/>
          <a:p>
            <a:pPr marL="342900" indent="-342900">
              <a:buFont typeface="Wingdings" panose="05000000000000000000" pitchFamily="2" charset="2"/>
              <a:buChar char="ü"/>
            </a:pPr>
            <a:r>
              <a:rPr lang="en-US" sz="1600" dirty="0"/>
              <a:t>Empowers learners to question and change their ways of seeing and thinking about the world</a:t>
            </a:r>
          </a:p>
          <a:p>
            <a:pPr marL="342900" indent="-342900">
              <a:buFont typeface="Wingdings" panose="05000000000000000000" pitchFamily="2" charset="2"/>
              <a:buChar char="ü"/>
            </a:pPr>
            <a:r>
              <a:rPr lang="en-US" sz="1600" dirty="0"/>
              <a:t>Educator: facilitator who challenges learners</a:t>
            </a:r>
            <a:endParaRPr lang="en-CH" sz="1600" dirty="0"/>
          </a:p>
        </p:txBody>
      </p:sp>
      <p:sp>
        <p:nvSpPr>
          <p:cNvPr id="3" name="TextBox 2">
            <a:extLst>
              <a:ext uri="{FF2B5EF4-FFF2-40B4-BE49-F238E27FC236}">
                <a16:creationId xmlns:a16="http://schemas.microsoft.com/office/drawing/2014/main" id="{C987862D-4D34-6A6D-3453-801537CC3D0D}"/>
              </a:ext>
            </a:extLst>
          </p:cNvPr>
          <p:cNvSpPr txBox="1"/>
          <p:nvPr/>
        </p:nvSpPr>
        <p:spPr>
          <a:xfrm>
            <a:off x="627321" y="6517661"/>
            <a:ext cx="2551814" cy="276999"/>
          </a:xfrm>
          <a:prstGeom prst="rect">
            <a:avLst/>
          </a:prstGeom>
          <a:noFill/>
        </p:spPr>
        <p:txBody>
          <a:bodyPr wrap="square" rtlCol="0">
            <a:spAutoFit/>
          </a:bodyPr>
          <a:lstStyle/>
          <a:p>
            <a:r>
              <a:rPr lang="de-CH" sz="1200" dirty="0"/>
              <a:t>Rieckmann, 2018</a:t>
            </a:r>
            <a:endParaRPr lang="en-CH" sz="1200" dirty="0"/>
          </a:p>
        </p:txBody>
      </p:sp>
    </p:spTree>
    <p:extLst>
      <p:ext uri="{BB962C8B-B14F-4D97-AF65-F5344CB8AC3E}">
        <p14:creationId xmlns:p14="http://schemas.microsoft.com/office/powerpoint/2010/main" val="210293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B90EDA9-2517-46EC-B6D4-3918D04786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91F374-DDD5-D108-E870-EB99F74AF401}"/>
              </a:ext>
            </a:extLst>
          </p:cNvPr>
          <p:cNvSpPr>
            <a:spLocks noGrp="1"/>
          </p:cNvSpPr>
          <p:nvPr>
            <p:ph type="title"/>
          </p:nvPr>
        </p:nvSpPr>
        <p:spPr>
          <a:xfrm>
            <a:off x="612648" y="1078992"/>
            <a:ext cx="6272784" cy="1536192"/>
          </a:xfrm>
        </p:spPr>
        <p:txBody>
          <a:bodyPr anchor="b">
            <a:normAutofit/>
          </a:bodyPr>
          <a:lstStyle/>
          <a:p>
            <a:r>
              <a:rPr lang="de-CH" sz="5200"/>
              <a:t>Suggestions for teaching principles</a:t>
            </a:r>
            <a:endParaRPr lang="en-CH" sz="5200"/>
          </a:p>
        </p:txBody>
      </p:sp>
      <p:sp>
        <p:nvSpPr>
          <p:cNvPr id="15" name="Rectangle 14">
            <a:extLst>
              <a:ext uri="{FF2B5EF4-FFF2-40B4-BE49-F238E27FC236}">
                <a16:creationId xmlns:a16="http://schemas.microsoft.com/office/drawing/2014/main" id="{D449B1F2-532C-44C7-8AC7-28EA15EE0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0392"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70DB3DC8-E544-89A2-B0DE-0A71920A4982}"/>
              </a:ext>
            </a:extLst>
          </p:cNvPr>
          <p:cNvPicPr>
            <a:picLocks noChangeAspect="1"/>
          </p:cNvPicPr>
          <p:nvPr/>
        </p:nvPicPr>
        <p:blipFill rotWithShape="1">
          <a:blip r:embed="rId2"/>
          <a:srcRect b="2110"/>
          <a:stretch/>
        </p:blipFill>
        <p:spPr>
          <a:xfrm>
            <a:off x="7684008" y="10"/>
            <a:ext cx="4507992" cy="2934576"/>
          </a:xfrm>
          <a:prstGeom prst="rect">
            <a:avLst/>
          </a:prstGeom>
        </p:spPr>
      </p:pic>
      <p:sp>
        <p:nvSpPr>
          <p:cNvPr id="17" name="Rectangle 16">
            <a:extLst>
              <a:ext uri="{FF2B5EF4-FFF2-40B4-BE49-F238E27FC236}">
                <a16:creationId xmlns:a16="http://schemas.microsoft.com/office/drawing/2014/main" id="{EE7D3784-5CF9-4282-9B1C-523957852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792"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19F41D0-7DAA-8AAA-A071-BC18C5FB4DDA}"/>
              </a:ext>
            </a:extLst>
          </p:cNvPr>
          <p:cNvSpPr>
            <a:spLocks noGrp="1"/>
          </p:cNvSpPr>
          <p:nvPr>
            <p:ph idx="1"/>
          </p:nvPr>
        </p:nvSpPr>
        <p:spPr>
          <a:xfrm>
            <a:off x="612648" y="3355848"/>
            <a:ext cx="6272784" cy="2825496"/>
          </a:xfrm>
        </p:spPr>
        <p:txBody>
          <a:bodyPr vert="horz" lIns="91440" tIns="45720" rIns="91440" bIns="45720" rtlCol="0" anchor="t">
            <a:normAutofit fontScale="85000" lnSpcReduction="20000"/>
          </a:bodyPr>
          <a:lstStyle/>
          <a:p>
            <a:r>
              <a:rPr lang="en-GB" sz="1800" dirty="0"/>
              <a:t>Work on a real-world context with complex problem settings; be solution-oriented</a:t>
            </a:r>
          </a:p>
          <a:p>
            <a:r>
              <a:rPr lang="en-GB" sz="1800" dirty="0"/>
              <a:t>Bring together students from various disciplines: interdisciplinary and holistic learning rather than subject-based learning</a:t>
            </a:r>
          </a:p>
          <a:p>
            <a:r>
              <a:rPr lang="en-GB" sz="1800" u="none" strike="noStrike" baseline="0" dirty="0"/>
              <a:t>Build on participation and cooperation</a:t>
            </a:r>
          </a:p>
          <a:p>
            <a:r>
              <a:rPr lang="en-GB" sz="1800" u="none" strike="noStrike" baseline="0" dirty="0"/>
              <a:t>Meet practitioners</a:t>
            </a:r>
          </a:p>
          <a:p>
            <a:r>
              <a:rPr lang="en-GB" sz="1800" u="none" strike="noStrike" baseline="0" dirty="0"/>
              <a:t>Values-based learning</a:t>
            </a:r>
          </a:p>
          <a:p>
            <a:r>
              <a:rPr lang="en-GB" sz="1800" u="none" strike="noStrike" baseline="0" dirty="0"/>
              <a:t>Critical thinking rather than memorizing</a:t>
            </a:r>
          </a:p>
          <a:p>
            <a:r>
              <a:rPr lang="en-GB" sz="1800" u="none" strike="noStrike" baseline="0" dirty="0"/>
              <a:t>Locally relevant information, rather than national</a:t>
            </a:r>
          </a:p>
          <a:p>
            <a:endParaRPr lang="en-GB" sz="1800" u="none" strike="noStrike" baseline="0" dirty="0"/>
          </a:p>
          <a:p>
            <a:endParaRPr lang="en-GB" sz="1800" b="1" u="none" strike="noStrike" baseline="0" dirty="0">
              <a:solidFill>
                <a:srgbClr val="FFC000"/>
              </a:solidFill>
            </a:endParaRPr>
          </a:p>
          <a:p>
            <a:endParaRPr lang="en-GB" sz="1800" dirty="0"/>
          </a:p>
          <a:p>
            <a:endParaRPr lang="en-GB" sz="1800" dirty="0"/>
          </a:p>
          <a:p>
            <a:endParaRPr lang="en-GB" sz="1800" dirty="0"/>
          </a:p>
          <a:p>
            <a:endParaRPr lang="en-CH" sz="1800" dirty="0"/>
          </a:p>
        </p:txBody>
      </p:sp>
      <p:sp>
        <p:nvSpPr>
          <p:cNvPr id="6" name="Slide Number Placeholder 5">
            <a:extLst>
              <a:ext uri="{FF2B5EF4-FFF2-40B4-BE49-F238E27FC236}">
                <a16:creationId xmlns:a16="http://schemas.microsoft.com/office/drawing/2014/main" id="{41AA327F-7B26-A3A4-35A9-67DFD3506EA4}"/>
              </a:ext>
            </a:extLst>
          </p:cNvPr>
          <p:cNvSpPr>
            <a:spLocks noGrp="1"/>
          </p:cNvSpPr>
          <p:nvPr>
            <p:ph type="sldNum" sz="quarter" idx="12"/>
          </p:nvPr>
        </p:nvSpPr>
        <p:spPr>
          <a:xfrm>
            <a:off x="5605272" y="6356350"/>
            <a:ext cx="1280160" cy="365125"/>
          </a:xfrm>
        </p:spPr>
        <p:txBody>
          <a:bodyPr>
            <a:normAutofit/>
          </a:bodyPr>
          <a:lstStyle/>
          <a:p>
            <a:pPr>
              <a:spcAft>
                <a:spcPts val="600"/>
              </a:spcAft>
            </a:pPr>
            <a:fld id="{A65A5C87-DF58-40C8-B092-1DE63DB4547E}" type="slidenum">
              <a:rPr lang="en-US" smtClean="0"/>
              <a:pPr>
                <a:spcAft>
                  <a:spcPts val="600"/>
                </a:spcAft>
              </a:pPr>
              <a:t>19</a:t>
            </a:fld>
            <a:endParaRPr lang="en-US"/>
          </a:p>
        </p:txBody>
      </p:sp>
      <p:pic>
        <p:nvPicPr>
          <p:cNvPr id="7" name="Picture 6">
            <a:extLst>
              <a:ext uri="{FF2B5EF4-FFF2-40B4-BE49-F238E27FC236}">
                <a16:creationId xmlns:a16="http://schemas.microsoft.com/office/drawing/2014/main" id="{437E8CE6-16B8-1FD8-5560-B13E955B76E1}"/>
              </a:ext>
            </a:extLst>
          </p:cNvPr>
          <p:cNvPicPr>
            <a:picLocks noChangeAspect="1"/>
          </p:cNvPicPr>
          <p:nvPr/>
        </p:nvPicPr>
        <p:blipFill rotWithShape="1">
          <a:blip r:embed="rId3"/>
          <a:srcRect t="1358" b="3866"/>
          <a:stretch/>
        </p:blipFill>
        <p:spPr>
          <a:xfrm>
            <a:off x="7684008" y="3172968"/>
            <a:ext cx="4507992" cy="3685032"/>
          </a:xfrm>
          <a:prstGeom prst="rect">
            <a:avLst/>
          </a:prstGeom>
        </p:spPr>
      </p:pic>
    </p:spTree>
    <p:extLst>
      <p:ext uri="{BB962C8B-B14F-4D97-AF65-F5344CB8AC3E}">
        <p14:creationId xmlns:p14="http://schemas.microsoft.com/office/powerpoint/2010/main" val="29070832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954F66B-3BF3-4495-BAEE-BEB2B0188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F2AF65-2BDE-FAD1-8745-AC57E81D5D3E}"/>
              </a:ext>
            </a:extLst>
          </p:cNvPr>
          <p:cNvSpPr>
            <a:spLocks noGrp="1"/>
          </p:cNvSpPr>
          <p:nvPr>
            <p:ph type="title"/>
          </p:nvPr>
        </p:nvSpPr>
        <p:spPr>
          <a:xfrm>
            <a:off x="5296874" y="1076324"/>
            <a:ext cx="6742726" cy="1535051"/>
          </a:xfrm>
        </p:spPr>
        <p:txBody>
          <a:bodyPr anchor="b">
            <a:normAutofit/>
          </a:bodyPr>
          <a:lstStyle/>
          <a:p>
            <a:r>
              <a:rPr lang="de-CH" sz="5200" dirty="0" err="1"/>
              <a:t>Discussion</a:t>
            </a:r>
            <a:r>
              <a:rPr lang="de-CH" sz="5200" dirty="0"/>
              <a:t>/</a:t>
            </a:r>
            <a:r>
              <a:rPr lang="de-CH" sz="5200" dirty="0" err="1"/>
              <a:t>Reflection</a:t>
            </a:r>
            <a:endParaRPr lang="en-CH" sz="5200" dirty="0"/>
          </a:p>
        </p:txBody>
      </p:sp>
      <p:pic>
        <p:nvPicPr>
          <p:cNvPr id="8" name="Graphic 7" descr="Chat outline">
            <a:extLst>
              <a:ext uri="{FF2B5EF4-FFF2-40B4-BE49-F238E27FC236}">
                <a16:creationId xmlns:a16="http://schemas.microsoft.com/office/drawing/2014/main" id="{4C7D6A51-BE6A-987D-08DE-58E81B31E6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7200" y="1283758"/>
            <a:ext cx="4217332" cy="4217332"/>
          </a:xfrm>
          <a:prstGeom prst="rect">
            <a:avLst/>
          </a:prstGeom>
        </p:spPr>
      </p:pic>
      <p:sp>
        <p:nvSpPr>
          <p:cNvPr id="22" name="Rectangle 21">
            <a:extLst>
              <a:ext uri="{FF2B5EF4-FFF2-40B4-BE49-F238E27FC236}">
                <a16:creationId xmlns:a16="http://schemas.microsoft.com/office/drawing/2014/main" id="{EABAD4DA-87BA-4F70-9EF0-45C6BCF17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34618"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915128D9-2797-47FA-B6FE-EC24E6B84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15924"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56144AE-E1BC-DD5C-39B9-C0DB74B1B00E}"/>
              </a:ext>
            </a:extLst>
          </p:cNvPr>
          <p:cNvSpPr>
            <a:spLocks noGrp="1"/>
          </p:cNvSpPr>
          <p:nvPr>
            <p:ph idx="1"/>
          </p:nvPr>
        </p:nvSpPr>
        <p:spPr>
          <a:xfrm>
            <a:off x="5296874" y="3351276"/>
            <a:ext cx="6272784" cy="2825686"/>
          </a:xfrm>
        </p:spPr>
        <p:txBody>
          <a:bodyPr vert="horz" lIns="91440" tIns="45720" rIns="91440" bIns="45720" rtlCol="0" anchor="t">
            <a:normAutofit/>
          </a:bodyPr>
          <a:lstStyle/>
          <a:p>
            <a:r>
              <a:rPr lang="de-CH" dirty="0"/>
              <a:t>What </a:t>
            </a:r>
            <a:r>
              <a:rPr lang="de-CH" dirty="0" err="1"/>
              <a:t>teaching</a:t>
            </a:r>
            <a:r>
              <a:rPr lang="de-CH" dirty="0"/>
              <a:t> </a:t>
            </a:r>
            <a:r>
              <a:rPr lang="de-CH" dirty="0" err="1"/>
              <a:t>principles</a:t>
            </a:r>
            <a:r>
              <a:rPr lang="de-CH" dirty="0"/>
              <a:t> do </a:t>
            </a:r>
            <a:r>
              <a:rPr lang="de-CH" dirty="0" err="1"/>
              <a:t>you</a:t>
            </a:r>
            <a:r>
              <a:rPr lang="de-CH" dirty="0"/>
              <a:t> </a:t>
            </a:r>
            <a:r>
              <a:rPr lang="de-CH" dirty="0" err="1"/>
              <a:t>apply</a:t>
            </a:r>
            <a:r>
              <a:rPr lang="de-CH" dirty="0"/>
              <a:t> in </a:t>
            </a:r>
            <a:r>
              <a:rPr lang="de-CH" dirty="0" err="1"/>
              <a:t>your</a:t>
            </a:r>
            <a:r>
              <a:rPr lang="de-CH" dirty="0"/>
              <a:t> </a:t>
            </a:r>
            <a:r>
              <a:rPr lang="de-CH" dirty="0" err="1"/>
              <a:t>courses</a:t>
            </a:r>
            <a:r>
              <a:rPr lang="de-CH" dirty="0"/>
              <a:t>?</a:t>
            </a:r>
          </a:p>
        </p:txBody>
      </p:sp>
      <p:sp>
        <p:nvSpPr>
          <p:cNvPr id="6" name="Slide Number Placeholder 5">
            <a:extLst>
              <a:ext uri="{FF2B5EF4-FFF2-40B4-BE49-F238E27FC236}">
                <a16:creationId xmlns:a16="http://schemas.microsoft.com/office/drawing/2014/main" id="{AAA68A63-0091-08D4-3609-403EE881D06B}"/>
              </a:ext>
            </a:extLst>
          </p:cNvPr>
          <p:cNvSpPr>
            <a:spLocks noGrp="1"/>
          </p:cNvSpPr>
          <p:nvPr>
            <p:ph type="sldNum" sz="quarter" idx="12"/>
          </p:nvPr>
        </p:nvSpPr>
        <p:spPr>
          <a:xfrm>
            <a:off x="9970258" y="6356350"/>
            <a:ext cx="1600200" cy="365125"/>
          </a:xfrm>
        </p:spPr>
        <p:txBody>
          <a:bodyPr>
            <a:normAutofit/>
          </a:bodyPr>
          <a:lstStyle/>
          <a:p>
            <a:pPr>
              <a:spcAft>
                <a:spcPts val="600"/>
              </a:spcAft>
            </a:pPr>
            <a:fld id="{A65A5C87-DF58-40C8-B092-1DE63DB4547E}" type="slidenum">
              <a:rPr lang="en-US">
                <a:solidFill>
                  <a:schemeClr val="tx2">
                    <a:lumMod val="50000"/>
                    <a:lumOff val="50000"/>
                  </a:schemeClr>
                </a:solidFill>
              </a:rPr>
              <a:pPr>
                <a:spcAft>
                  <a:spcPts val="600"/>
                </a:spcAft>
              </a:pPr>
              <a:t>20</a:t>
            </a:fld>
            <a:endParaRPr lang="en-US">
              <a:solidFill>
                <a:schemeClr val="tx2">
                  <a:lumMod val="50000"/>
                  <a:lumOff val="50000"/>
                </a:schemeClr>
              </a:solidFill>
            </a:endParaRPr>
          </a:p>
        </p:txBody>
      </p:sp>
    </p:spTree>
    <p:extLst>
      <p:ext uri="{BB962C8B-B14F-4D97-AF65-F5344CB8AC3E}">
        <p14:creationId xmlns:p14="http://schemas.microsoft.com/office/powerpoint/2010/main" val="2021128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r>
              <a:rPr lang="en-US" dirty="0"/>
              <a:t>Introduction to Constructive Alignment</a:t>
            </a: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lstStyle/>
          <a:p>
            <a:pPr marL="0" marR="0" lvl="0" indent="0" algn="ctr"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9600" b="0" i="0" u="none" strike="noStrike" kern="1200" cap="none" spc="0" normalizeH="0" baseline="0" noProof="0" dirty="0">
                <a:ln>
                  <a:noFill/>
                </a:ln>
                <a:solidFill>
                  <a:prstClr val="white"/>
                </a:solidFill>
                <a:effectLst/>
                <a:uLnTx/>
                <a:uFillTx/>
                <a:latin typeface="Avenir Next LT Pro"/>
                <a:ea typeface="+mn-ea"/>
                <a:cs typeface="+mn-cs"/>
              </a:rPr>
              <a:t>2</a:t>
            </a:r>
          </a:p>
          <a:p>
            <a:endParaRPr lang="en-US" dirty="0"/>
          </a:p>
        </p:txBody>
      </p:sp>
    </p:spTree>
    <p:extLst>
      <p:ext uri="{BB962C8B-B14F-4D97-AF65-F5344CB8AC3E}">
        <p14:creationId xmlns:p14="http://schemas.microsoft.com/office/powerpoint/2010/main" val="223752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E6A1A-7E83-2A26-F944-52D4B29C0989}"/>
              </a:ext>
            </a:extLst>
          </p:cNvPr>
          <p:cNvSpPr>
            <a:spLocks noGrp="1"/>
          </p:cNvSpPr>
          <p:nvPr>
            <p:ph type="title"/>
          </p:nvPr>
        </p:nvSpPr>
        <p:spPr/>
        <p:txBody>
          <a:bodyPr/>
          <a:lstStyle/>
          <a:p>
            <a:r>
              <a:rPr lang="de-CH"/>
              <a:t>Constructive Alignment</a:t>
            </a:r>
            <a:endParaRPr lang="en-CH" dirty="0"/>
          </a:p>
        </p:txBody>
      </p:sp>
      <p:sp>
        <p:nvSpPr>
          <p:cNvPr id="3" name="Content Placeholder 2">
            <a:extLst>
              <a:ext uri="{FF2B5EF4-FFF2-40B4-BE49-F238E27FC236}">
                <a16:creationId xmlns:a16="http://schemas.microsoft.com/office/drawing/2014/main" id="{0E692BD5-4517-FE08-F395-FE69649F18A0}"/>
              </a:ext>
            </a:extLst>
          </p:cNvPr>
          <p:cNvSpPr>
            <a:spLocks noGrp="1"/>
          </p:cNvSpPr>
          <p:nvPr>
            <p:ph idx="1"/>
          </p:nvPr>
        </p:nvSpPr>
        <p:spPr>
          <a:xfrm>
            <a:off x="1115568" y="2478024"/>
            <a:ext cx="10334752" cy="3694176"/>
          </a:xfrm>
        </p:spPr>
        <p:txBody>
          <a:bodyPr vert="horz" lIns="91440" tIns="45720" rIns="91440" bIns="45720" rtlCol="0" anchor="t">
            <a:normAutofit fontScale="92500" lnSpcReduction="20000"/>
          </a:bodyPr>
          <a:lstStyle/>
          <a:p>
            <a:pPr marL="0" indent="0">
              <a:buNone/>
            </a:pPr>
            <a:r>
              <a:rPr lang="en-GB" dirty="0"/>
              <a:t>In the mid-1990s, John Biggs presented constructive alignment as a guiding idea for the design of study programmes.</a:t>
            </a:r>
          </a:p>
          <a:p>
            <a:pPr marL="0" indent="0">
              <a:buNone/>
            </a:pPr>
            <a:r>
              <a:rPr lang="en-GB" b="1" dirty="0"/>
              <a:t>Three core elements must be aligned</a:t>
            </a:r>
            <a:r>
              <a:rPr lang="en-GB" dirty="0"/>
              <a:t>:</a:t>
            </a:r>
          </a:p>
          <a:p>
            <a:r>
              <a:rPr lang="en-GB" b="1" dirty="0">
                <a:solidFill>
                  <a:schemeClr val="accent1"/>
                </a:solidFill>
              </a:rPr>
              <a:t>Learning outcomes </a:t>
            </a:r>
            <a:r>
              <a:rPr lang="en-GB" dirty="0"/>
              <a:t>(specifying the competences to be built)</a:t>
            </a:r>
          </a:p>
          <a:p>
            <a:r>
              <a:rPr lang="en-GB" b="1" dirty="0">
                <a:solidFill>
                  <a:schemeClr val="accent1"/>
                </a:solidFill>
              </a:rPr>
              <a:t>Learning activities </a:t>
            </a:r>
            <a:r>
              <a:rPr lang="en-GB" dirty="0"/>
              <a:t>(teaching-learning arrangements)</a:t>
            </a:r>
          </a:p>
          <a:p>
            <a:r>
              <a:rPr lang="en-GB" b="1" dirty="0">
                <a:solidFill>
                  <a:schemeClr val="accent1"/>
                </a:solidFill>
              </a:rPr>
              <a:t>Assessment </a:t>
            </a:r>
            <a:r>
              <a:rPr lang="en-GB" dirty="0"/>
              <a:t>(of competences)</a:t>
            </a:r>
          </a:p>
          <a:p>
            <a:pPr marL="0" indent="0">
              <a:buNone/>
            </a:pPr>
            <a:r>
              <a:rPr lang="en-GB" dirty="0"/>
              <a:t>The term "constructive" means that learners themselves make content meaningful through relevant learning activities.</a:t>
            </a:r>
          </a:p>
          <a:p>
            <a:pPr marL="0" indent="0">
              <a:buNone/>
            </a:pPr>
            <a:endParaRPr lang="en-GB" dirty="0"/>
          </a:p>
        </p:txBody>
      </p:sp>
      <p:sp>
        <p:nvSpPr>
          <p:cNvPr id="6" name="Slide Number Placeholder 5">
            <a:extLst>
              <a:ext uri="{FF2B5EF4-FFF2-40B4-BE49-F238E27FC236}">
                <a16:creationId xmlns:a16="http://schemas.microsoft.com/office/drawing/2014/main" id="{FBD39606-4185-76E0-782E-5C756BE59826}"/>
              </a:ext>
            </a:extLst>
          </p:cNvPr>
          <p:cNvSpPr>
            <a:spLocks noGrp="1"/>
          </p:cNvSpPr>
          <p:nvPr>
            <p:ph type="sldNum" sz="quarter" idx="12"/>
          </p:nvPr>
        </p:nvSpPr>
        <p:spPr/>
        <p:txBody>
          <a:bodyPr/>
          <a:lstStyle/>
          <a:p>
            <a:fld id="{A65A5C87-DF58-40C8-B092-1DE63DB4547E}" type="slidenum">
              <a:rPr lang="en-US" smtClean="0"/>
              <a:t>22</a:t>
            </a:fld>
            <a:endParaRPr lang="en-US" dirty="0"/>
          </a:p>
        </p:txBody>
      </p:sp>
      <p:sp>
        <p:nvSpPr>
          <p:cNvPr id="8" name="TextBox 7">
            <a:extLst>
              <a:ext uri="{FF2B5EF4-FFF2-40B4-BE49-F238E27FC236}">
                <a16:creationId xmlns:a16="http://schemas.microsoft.com/office/drawing/2014/main" id="{82CE407E-65F6-4BA2-27B9-E5936D67A41E}"/>
              </a:ext>
            </a:extLst>
          </p:cNvPr>
          <p:cNvSpPr txBox="1"/>
          <p:nvPr/>
        </p:nvSpPr>
        <p:spPr>
          <a:xfrm>
            <a:off x="1284936" y="6413698"/>
            <a:ext cx="6096000" cy="261610"/>
          </a:xfrm>
          <a:prstGeom prst="rect">
            <a:avLst/>
          </a:prstGeom>
          <a:noFill/>
        </p:spPr>
        <p:txBody>
          <a:bodyPr wrap="square">
            <a:spAutoFit/>
          </a:bodyPr>
          <a:lstStyle/>
          <a:p>
            <a:r>
              <a:rPr lang="es-ES" sz="1100" dirty="0"/>
              <a:t>Herweg et al. (2021)</a:t>
            </a:r>
            <a:endParaRPr lang="en-CH" sz="1100" dirty="0"/>
          </a:p>
        </p:txBody>
      </p:sp>
    </p:spTree>
    <p:extLst>
      <p:ext uri="{BB962C8B-B14F-4D97-AF65-F5344CB8AC3E}">
        <p14:creationId xmlns:p14="http://schemas.microsoft.com/office/powerpoint/2010/main" val="1587601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95563-A901-28B2-47D7-DC194C052F64}"/>
              </a:ext>
            </a:extLst>
          </p:cNvPr>
          <p:cNvSpPr>
            <a:spLocks noGrp="1"/>
          </p:cNvSpPr>
          <p:nvPr>
            <p:ph type="title"/>
          </p:nvPr>
        </p:nvSpPr>
        <p:spPr/>
        <p:txBody>
          <a:bodyPr/>
          <a:lstStyle/>
          <a:p>
            <a:r>
              <a:rPr lang="de-CH" dirty="0" err="1"/>
              <a:t>Aligning</a:t>
            </a:r>
            <a:r>
              <a:rPr lang="de-CH" dirty="0"/>
              <a:t> </a:t>
            </a:r>
            <a:r>
              <a:rPr lang="de-CH" dirty="0" err="1"/>
              <a:t>three</a:t>
            </a:r>
            <a:r>
              <a:rPr lang="de-CH" dirty="0"/>
              <a:t> </a:t>
            </a:r>
            <a:r>
              <a:rPr lang="de-CH" dirty="0" err="1"/>
              <a:t>elements</a:t>
            </a:r>
            <a:endParaRPr lang="en-CH" dirty="0"/>
          </a:p>
        </p:txBody>
      </p:sp>
      <p:sp>
        <p:nvSpPr>
          <p:cNvPr id="6" name="Slide Number Placeholder 5">
            <a:extLst>
              <a:ext uri="{FF2B5EF4-FFF2-40B4-BE49-F238E27FC236}">
                <a16:creationId xmlns:a16="http://schemas.microsoft.com/office/drawing/2014/main" id="{953734B0-5181-0102-F470-17D4718D976F}"/>
              </a:ext>
            </a:extLst>
          </p:cNvPr>
          <p:cNvSpPr>
            <a:spLocks noGrp="1"/>
          </p:cNvSpPr>
          <p:nvPr>
            <p:ph type="sldNum" sz="quarter" idx="12"/>
          </p:nvPr>
        </p:nvSpPr>
        <p:spPr/>
        <p:txBody>
          <a:bodyPr/>
          <a:lstStyle/>
          <a:p>
            <a:fld id="{A65A5C87-DF58-40C8-B092-1DE63DB4547E}" type="slidenum">
              <a:rPr lang="en-US" smtClean="0"/>
              <a:t>23</a:t>
            </a:fld>
            <a:endParaRPr lang="en-US" dirty="0"/>
          </a:p>
        </p:txBody>
      </p:sp>
      <p:pic>
        <p:nvPicPr>
          <p:cNvPr id="7" name="Content Placeholder 6">
            <a:extLst>
              <a:ext uri="{FF2B5EF4-FFF2-40B4-BE49-F238E27FC236}">
                <a16:creationId xmlns:a16="http://schemas.microsoft.com/office/drawing/2014/main" id="{68A9C378-44D8-34EA-8025-7BC4B754F19D}"/>
              </a:ext>
            </a:extLst>
          </p:cNvPr>
          <p:cNvPicPr>
            <a:picLocks noGrp="1" noChangeAspect="1"/>
          </p:cNvPicPr>
          <p:nvPr>
            <p:ph idx="1"/>
          </p:nvPr>
        </p:nvPicPr>
        <p:blipFill>
          <a:blip r:embed="rId2"/>
          <a:stretch>
            <a:fillRect/>
          </a:stretch>
        </p:blipFill>
        <p:spPr>
          <a:xfrm>
            <a:off x="3958577" y="2196718"/>
            <a:ext cx="3740772" cy="3035488"/>
          </a:xfrm>
          <a:prstGeom prst="rect">
            <a:avLst/>
          </a:prstGeom>
        </p:spPr>
      </p:pic>
      <p:sp>
        <p:nvSpPr>
          <p:cNvPr id="8" name="Rechteck 6">
            <a:extLst>
              <a:ext uri="{FF2B5EF4-FFF2-40B4-BE49-F238E27FC236}">
                <a16:creationId xmlns:a16="http://schemas.microsoft.com/office/drawing/2014/main" id="{7B1932B4-3FB5-468F-52B2-364FDAA0BEF9}"/>
              </a:ext>
            </a:extLst>
          </p:cNvPr>
          <p:cNvSpPr/>
          <p:nvPr/>
        </p:nvSpPr>
        <p:spPr>
          <a:xfrm>
            <a:off x="578244" y="3534451"/>
            <a:ext cx="3839656" cy="1015663"/>
          </a:xfrm>
          <a:prstGeom prst="rect">
            <a:avLst/>
          </a:prstGeom>
          <a:noFill/>
        </p:spPr>
        <p:txBody>
          <a:bodyPr wrap="square">
            <a:spAutoFit/>
          </a:bodyPr>
          <a:lstStyle/>
          <a:p>
            <a:r>
              <a:rPr lang="en-GB" sz="2000" dirty="0">
                <a:latin typeface="+mj-lt"/>
                <a:cs typeface="Arial" panose="020B0604020202020204" pitchFamily="34" charset="0"/>
              </a:rPr>
              <a:t>1  What do students know?</a:t>
            </a:r>
          </a:p>
          <a:p>
            <a:r>
              <a:rPr lang="en-GB" sz="2000" dirty="0">
                <a:latin typeface="+mj-lt"/>
                <a:cs typeface="Arial" panose="020B0604020202020204" pitchFamily="34" charset="0"/>
              </a:rPr>
              <a:t>What can they do at the end of the curriculum / course?</a:t>
            </a:r>
          </a:p>
        </p:txBody>
      </p:sp>
      <p:sp>
        <p:nvSpPr>
          <p:cNvPr id="11" name="TextBox 10">
            <a:extLst>
              <a:ext uri="{FF2B5EF4-FFF2-40B4-BE49-F238E27FC236}">
                <a16:creationId xmlns:a16="http://schemas.microsoft.com/office/drawing/2014/main" id="{D49F68A1-311B-05C8-0357-CA6005CECCC8}"/>
              </a:ext>
            </a:extLst>
          </p:cNvPr>
          <p:cNvSpPr txBox="1"/>
          <p:nvPr/>
        </p:nvSpPr>
        <p:spPr>
          <a:xfrm>
            <a:off x="6683388" y="2286591"/>
            <a:ext cx="3740772" cy="1015663"/>
          </a:xfrm>
          <a:prstGeom prst="rect">
            <a:avLst/>
          </a:prstGeom>
          <a:noFill/>
        </p:spPr>
        <p:txBody>
          <a:bodyPr wrap="square">
            <a:spAutoFit/>
          </a:bodyPr>
          <a:lstStyle/>
          <a:p>
            <a:r>
              <a:rPr lang="en-GB" sz="2000" dirty="0">
                <a:latin typeface="+mj-lt"/>
                <a:cs typeface="Arial" panose="020B0604020202020204" pitchFamily="34" charset="0"/>
              </a:rPr>
              <a:t>2 What learning activities</a:t>
            </a:r>
          </a:p>
          <a:p>
            <a:r>
              <a:rPr lang="en-GB" sz="2000" dirty="0">
                <a:latin typeface="+mj-lt"/>
                <a:cs typeface="Arial" panose="020B0604020202020204" pitchFamily="34" charset="0"/>
              </a:rPr>
              <a:t>will help students to achieve</a:t>
            </a:r>
          </a:p>
          <a:p>
            <a:r>
              <a:rPr lang="en-GB" sz="2000" dirty="0">
                <a:latin typeface="+mj-lt"/>
                <a:cs typeface="Arial" panose="020B0604020202020204" pitchFamily="34" charset="0"/>
              </a:rPr>
              <a:t>these learning outcomes?</a:t>
            </a:r>
          </a:p>
        </p:txBody>
      </p:sp>
      <p:sp>
        <p:nvSpPr>
          <p:cNvPr id="12" name="Rechteck 6">
            <a:extLst>
              <a:ext uri="{FF2B5EF4-FFF2-40B4-BE49-F238E27FC236}">
                <a16:creationId xmlns:a16="http://schemas.microsoft.com/office/drawing/2014/main" id="{9D7FAB6B-138B-CC71-C1CC-BDF7BAB2AE06}"/>
              </a:ext>
            </a:extLst>
          </p:cNvPr>
          <p:cNvSpPr/>
          <p:nvPr/>
        </p:nvSpPr>
        <p:spPr>
          <a:xfrm>
            <a:off x="4232148" y="5359815"/>
            <a:ext cx="3193631" cy="1015663"/>
          </a:xfrm>
          <a:prstGeom prst="rect">
            <a:avLst/>
          </a:prstGeom>
          <a:noFill/>
        </p:spPr>
        <p:txBody>
          <a:bodyPr wrap="none">
            <a:spAutoFit/>
          </a:bodyPr>
          <a:lstStyle/>
          <a:p>
            <a:r>
              <a:rPr lang="en-GB" sz="2000" dirty="0">
                <a:latin typeface="+mj-lt"/>
                <a:cs typeface="Arial" panose="020B0604020202020204" pitchFamily="34" charset="0"/>
              </a:rPr>
              <a:t>3 </a:t>
            </a:r>
            <a:r>
              <a:rPr lang="en-GB" sz="2000" dirty="0">
                <a:latin typeface="Arial" panose="020B0604020202020204" pitchFamily="34" charset="0"/>
                <a:cs typeface="Arial" panose="020B0604020202020204" pitchFamily="34" charset="0"/>
              </a:rPr>
              <a:t> </a:t>
            </a:r>
            <a:r>
              <a:rPr lang="en-GB" sz="2000" dirty="0">
                <a:latin typeface="+mj-lt"/>
                <a:cs typeface="Arial" panose="020B0604020202020204" pitchFamily="34" charset="0"/>
              </a:rPr>
              <a:t>How do we know</a:t>
            </a:r>
          </a:p>
          <a:p>
            <a:r>
              <a:rPr lang="en-GB" sz="2000" dirty="0">
                <a:latin typeface="+mj-lt"/>
                <a:cs typeface="Arial" panose="020B0604020202020204" pitchFamily="34" charset="0"/>
              </a:rPr>
              <a:t>if students have achieved</a:t>
            </a:r>
          </a:p>
          <a:p>
            <a:r>
              <a:rPr lang="en-GB" sz="2000" dirty="0">
                <a:latin typeface="+mj-lt"/>
                <a:cs typeface="Arial" panose="020B0604020202020204" pitchFamily="34" charset="0"/>
              </a:rPr>
              <a:t>these learning outcomes?</a:t>
            </a:r>
          </a:p>
        </p:txBody>
      </p:sp>
      <p:sp>
        <p:nvSpPr>
          <p:cNvPr id="3" name="TextBox 2">
            <a:extLst>
              <a:ext uri="{FF2B5EF4-FFF2-40B4-BE49-F238E27FC236}">
                <a16:creationId xmlns:a16="http://schemas.microsoft.com/office/drawing/2014/main" id="{BDAD29AC-9489-60A3-7CCA-2E5B311B10B1}"/>
              </a:ext>
            </a:extLst>
          </p:cNvPr>
          <p:cNvSpPr txBox="1"/>
          <p:nvPr/>
        </p:nvSpPr>
        <p:spPr>
          <a:xfrm>
            <a:off x="803673" y="6503087"/>
            <a:ext cx="6096000" cy="261610"/>
          </a:xfrm>
          <a:prstGeom prst="rect">
            <a:avLst/>
          </a:prstGeom>
          <a:noFill/>
        </p:spPr>
        <p:txBody>
          <a:bodyPr wrap="square">
            <a:spAutoFit/>
          </a:bodyPr>
          <a:lstStyle/>
          <a:p>
            <a:r>
              <a:rPr lang="es-ES" sz="1100" dirty="0"/>
              <a:t>Herweg et al. (2021)</a:t>
            </a:r>
            <a:endParaRPr lang="en-CH" sz="1100" dirty="0"/>
          </a:p>
        </p:txBody>
      </p:sp>
    </p:spTree>
    <p:extLst>
      <p:ext uri="{BB962C8B-B14F-4D97-AF65-F5344CB8AC3E}">
        <p14:creationId xmlns:p14="http://schemas.microsoft.com/office/powerpoint/2010/main" val="788220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CF154-B4CD-95E2-1D51-0737A466A2E4}"/>
              </a:ext>
            </a:extLst>
          </p:cNvPr>
          <p:cNvSpPr>
            <a:spLocks noGrp="1"/>
          </p:cNvSpPr>
          <p:nvPr>
            <p:ph type="title"/>
          </p:nvPr>
        </p:nvSpPr>
        <p:spPr>
          <a:xfrm>
            <a:off x="841246" y="978619"/>
            <a:ext cx="5991244" cy="1106424"/>
          </a:xfrm>
        </p:spPr>
        <p:txBody>
          <a:bodyPr>
            <a:normAutofit/>
          </a:bodyPr>
          <a:lstStyle/>
          <a:p>
            <a:r>
              <a:rPr lang="de-CH" sz="3200"/>
              <a:t>Learning Outcomes</a:t>
            </a:r>
            <a:endParaRPr lang="en-CH" sz="3200"/>
          </a:p>
        </p:txBody>
      </p:sp>
      <p:sp>
        <p:nvSpPr>
          <p:cNvPr id="3" name="Content Placeholder 2">
            <a:extLst>
              <a:ext uri="{FF2B5EF4-FFF2-40B4-BE49-F238E27FC236}">
                <a16:creationId xmlns:a16="http://schemas.microsoft.com/office/drawing/2014/main" id="{1CF051FE-E1A0-4C9E-7901-A7ADBC9E4249}"/>
              </a:ext>
            </a:extLst>
          </p:cNvPr>
          <p:cNvSpPr>
            <a:spLocks noGrp="1"/>
          </p:cNvSpPr>
          <p:nvPr>
            <p:ph idx="1"/>
          </p:nvPr>
        </p:nvSpPr>
        <p:spPr>
          <a:xfrm>
            <a:off x="841248" y="2252870"/>
            <a:ext cx="5993892" cy="3560251"/>
          </a:xfrm>
        </p:spPr>
        <p:txBody>
          <a:bodyPr vert="horz" lIns="91440" tIns="45720" rIns="91440" bIns="45720" rtlCol="0" anchor="t">
            <a:normAutofit fontScale="92500" lnSpcReduction="10000"/>
          </a:bodyPr>
          <a:lstStyle/>
          <a:p>
            <a:pPr marL="0" indent="0">
              <a:buNone/>
            </a:pPr>
            <a:r>
              <a:rPr lang="en-GB" sz="2400" dirty="0"/>
              <a:t>Specify competences to be built:</a:t>
            </a:r>
          </a:p>
          <a:p>
            <a:r>
              <a:rPr lang="en-GB" sz="2400" dirty="0"/>
              <a:t>Define what learners are expected </a:t>
            </a:r>
            <a:r>
              <a:rPr lang="en-GB" sz="2400" b="1" dirty="0"/>
              <a:t>to know</a:t>
            </a:r>
            <a:r>
              <a:rPr lang="en-GB" sz="2400" dirty="0"/>
              <a:t> (knowledge) and be able </a:t>
            </a:r>
            <a:r>
              <a:rPr lang="en-GB" sz="2400" b="1" dirty="0"/>
              <a:t>to do </a:t>
            </a:r>
            <a:r>
              <a:rPr lang="en-GB" sz="2400" dirty="0"/>
              <a:t>(skills).</a:t>
            </a:r>
          </a:p>
          <a:p>
            <a:r>
              <a:rPr lang="en-GB" sz="2400"/>
              <a:t>Ensure that learners understand the importance of </a:t>
            </a:r>
            <a:r>
              <a:rPr lang="en-GB" sz="2400" b="1"/>
              <a:t>critical awareness</a:t>
            </a:r>
            <a:r>
              <a:rPr lang="en-GB" sz="2400"/>
              <a:t> and can self-assess their attitude and values at the end of the course. </a:t>
            </a:r>
          </a:p>
          <a:p>
            <a:pPr marL="0" indent="0">
              <a:buNone/>
            </a:pPr>
            <a:r>
              <a:rPr lang="en-GB" sz="2400" i="1" dirty="0"/>
              <a:t>Clear learning outcomes are formulated in an action-oriented way.</a:t>
            </a:r>
          </a:p>
          <a:p>
            <a:pPr marL="0" indent="0">
              <a:buNone/>
            </a:pPr>
            <a:endParaRPr lang="en-GB" sz="1800" dirty="0"/>
          </a:p>
          <a:p>
            <a:pPr marL="0" indent="0">
              <a:buNone/>
            </a:pPr>
            <a:endParaRPr lang="en-CH" sz="1800" dirty="0"/>
          </a:p>
        </p:txBody>
      </p:sp>
      <p:pic>
        <p:nvPicPr>
          <p:cNvPr id="7" name="Picture 6">
            <a:extLst>
              <a:ext uri="{FF2B5EF4-FFF2-40B4-BE49-F238E27FC236}">
                <a16:creationId xmlns:a16="http://schemas.microsoft.com/office/drawing/2014/main" id="{25B82F36-32E3-0793-9639-703A3DF9CCDF}"/>
              </a:ext>
            </a:extLst>
          </p:cNvPr>
          <p:cNvPicPr>
            <a:picLocks noChangeAspect="1"/>
          </p:cNvPicPr>
          <p:nvPr/>
        </p:nvPicPr>
        <p:blipFill>
          <a:blip r:embed="rId2"/>
          <a:stretch>
            <a:fillRect/>
          </a:stretch>
        </p:blipFill>
        <p:spPr>
          <a:xfrm>
            <a:off x="7679814" y="1857453"/>
            <a:ext cx="4097657" cy="3042510"/>
          </a:xfrm>
          <a:prstGeom prst="rect">
            <a:avLst/>
          </a:prstGeom>
        </p:spPr>
      </p:pic>
      <p:sp>
        <p:nvSpPr>
          <p:cNvPr id="6" name="Slide Number Placeholder 5">
            <a:extLst>
              <a:ext uri="{FF2B5EF4-FFF2-40B4-BE49-F238E27FC236}">
                <a16:creationId xmlns:a16="http://schemas.microsoft.com/office/drawing/2014/main" id="{343A02B3-1CCD-49DA-8C22-191486F940AB}"/>
              </a:ext>
            </a:extLst>
          </p:cNvPr>
          <p:cNvSpPr>
            <a:spLocks noGrp="1"/>
          </p:cNvSpPr>
          <p:nvPr>
            <p:ph type="sldNum" sz="quarter" idx="12"/>
          </p:nvPr>
        </p:nvSpPr>
        <p:spPr>
          <a:xfrm>
            <a:off x="8613648" y="6356350"/>
            <a:ext cx="2743200" cy="365125"/>
          </a:xfrm>
        </p:spPr>
        <p:txBody>
          <a:bodyPr>
            <a:normAutofit/>
          </a:bodyPr>
          <a:lstStyle/>
          <a:p>
            <a:pPr>
              <a:spcAft>
                <a:spcPts val="600"/>
              </a:spcAft>
            </a:pPr>
            <a:fld id="{A65A5C87-DF58-40C8-B092-1DE63DB4547E}" type="slidenum">
              <a:rPr lang="en-US">
                <a:solidFill>
                  <a:schemeClr val="tx2">
                    <a:lumMod val="50000"/>
                    <a:lumOff val="50000"/>
                  </a:schemeClr>
                </a:solidFill>
              </a:rPr>
              <a:pPr>
                <a:spcAft>
                  <a:spcPts val="600"/>
                </a:spcAft>
              </a:pPr>
              <a:t>24</a:t>
            </a:fld>
            <a:endParaRPr lang="en-US">
              <a:solidFill>
                <a:schemeClr val="tx2">
                  <a:lumMod val="50000"/>
                  <a:lumOff val="50000"/>
                </a:schemeClr>
              </a:solidFill>
            </a:endParaRPr>
          </a:p>
        </p:txBody>
      </p:sp>
      <p:pic>
        <p:nvPicPr>
          <p:cNvPr id="8" name="Content Placeholder 6">
            <a:extLst>
              <a:ext uri="{FF2B5EF4-FFF2-40B4-BE49-F238E27FC236}">
                <a16:creationId xmlns:a16="http://schemas.microsoft.com/office/drawing/2014/main" id="{8E43F4BB-6079-2EA2-DA26-8F6008BC0631}"/>
              </a:ext>
            </a:extLst>
          </p:cNvPr>
          <p:cNvPicPr>
            <a:picLocks noChangeAspect="1"/>
          </p:cNvPicPr>
          <p:nvPr/>
        </p:nvPicPr>
        <p:blipFill>
          <a:blip r:embed="rId3"/>
          <a:stretch>
            <a:fillRect/>
          </a:stretch>
        </p:blipFill>
        <p:spPr>
          <a:xfrm>
            <a:off x="4988307" y="438452"/>
            <a:ext cx="2051448" cy="1664668"/>
          </a:xfrm>
          <a:prstGeom prst="rect">
            <a:avLst/>
          </a:prstGeom>
        </p:spPr>
      </p:pic>
      <p:sp>
        <p:nvSpPr>
          <p:cNvPr id="9" name="Oval 8">
            <a:extLst>
              <a:ext uri="{FF2B5EF4-FFF2-40B4-BE49-F238E27FC236}">
                <a16:creationId xmlns:a16="http://schemas.microsoft.com/office/drawing/2014/main" id="{261282D6-AA04-D774-C99D-4C9E40C9402D}"/>
              </a:ext>
            </a:extLst>
          </p:cNvPr>
          <p:cNvSpPr/>
          <p:nvPr/>
        </p:nvSpPr>
        <p:spPr>
          <a:xfrm rot="18069088">
            <a:off x="4872295" y="1280894"/>
            <a:ext cx="1467950" cy="616945"/>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1" name="TextBox 10">
            <a:extLst>
              <a:ext uri="{FF2B5EF4-FFF2-40B4-BE49-F238E27FC236}">
                <a16:creationId xmlns:a16="http://schemas.microsoft.com/office/drawing/2014/main" id="{5C10F5EF-7F47-E8B3-C38E-466008FD79C0}"/>
              </a:ext>
            </a:extLst>
          </p:cNvPr>
          <p:cNvSpPr txBox="1"/>
          <p:nvPr/>
        </p:nvSpPr>
        <p:spPr>
          <a:xfrm>
            <a:off x="877458" y="6419548"/>
            <a:ext cx="6096000" cy="261610"/>
          </a:xfrm>
          <a:prstGeom prst="rect">
            <a:avLst/>
          </a:prstGeom>
          <a:noFill/>
        </p:spPr>
        <p:txBody>
          <a:bodyPr wrap="square">
            <a:spAutoFit/>
          </a:bodyPr>
          <a:lstStyle/>
          <a:p>
            <a:r>
              <a:rPr lang="es-ES" sz="1100" dirty="0"/>
              <a:t>Herweg et al. (2021)</a:t>
            </a:r>
            <a:endParaRPr lang="en-CH" sz="1100" dirty="0"/>
          </a:p>
        </p:txBody>
      </p:sp>
    </p:spTree>
    <p:extLst>
      <p:ext uri="{BB962C8B-B14F-4D97-AF65-F5344CB8AC3E}">
        <p14:creationId xmlns:p14="http://schemas.microsoft.com/office/powerpoint/2010/main" val="1980970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CF154-B4CD-95E2-1D51-0737A466A2E4}"/>
              </a:ext>
            </a:extLst>
          </p:cNvPr>
          <p:cNvSpPr>
            <a:spLocks noGrp="1"/>
          </p:cNvSpPr>
          <p:nvPr>
            <p:ph type="title"/>
          </p:nvPr>
        </p:nvSpPr>
        <p:spPr/>
        <p:txBody>
          <a:bodyPr/>
          <a:lstStyle/>
          <a:p>
            <a:r>
              <a:rPr lang="de-CH" dirty="0"/>
              <a:t>Learning Outcomes</a:t>
            </a:r>
            <a:endParaRPr lang="en-CH" dirty="0"/>
          </a:p>
        </p:txBody>
      </p:sp>
      <p:sp>
        <p:nvSpPr>
          <p:cNvPr id="3" name="Content Placeholder 2">
            <a:extLst>
              <a:ext uri="{FF2B5EF4-FFF2-40B4-BE49-F238E27FC236}">
                <a16:creationId xmlns:a16="http://schemas.microsoft.com/office/drawing/2014/main" id="{1CF051FE-E1A0-4C9E-7901-A7ADBC9E4249}"/>
              </a:ext>
            </a:extLst>
          </p:cNvPr>
          <p:cNvSpPr>
            <a:spLocks noGrp="1"/>
          </p:cNvSpPr>
          <p:nvPr>
            <p:ph idx="1"/>
          </p:nvPr>
        </p:nvSpPr>
        <p:spPr>
          <a:xfrm>
            <a:off x="1035304" y="2081784"/>
            <a:ext cx="10168128" cy="509651"/>
          </a:xfrm>
        </p:spPr>
        <p:txBody>
          <a:bodyPr>
            <a:normAutofit/>
          </a:bodyPr>
          <a:lstStyle/>
          <a:p>
            <a:pPr marL="0" indent="0">
              <a:buNone/>
            </a:pPr>
            <a:r>
              <a:rPr lang="en-GB" sz="2200" dirty="0"/>
              <a:t>Useful active verbs for the definition of learning outcomes:</a:t>
            </a:r>
          </a:p>
          <a:p>
            <a:pPr marL="0" indent="0">
              <a:buNone/>
            </a:pPr>
            <a:endParaRPr lang="en-CH" dirty="0"/>
          </a:p>
        </p:txBody>
      </p:sp>
      <p:sp>
        <p:nvSpPr>
          <p:cNvPr id="6" name="Slide Number Placeholder 5">
            <a:extLst>
              <a:ext uri="{FF2B5EF4-FFF2-40B4-BE49-F238E27FC236}">
                <a16:creationId xmlns:a16="http://schemas.microsoft.com/office/drawing/2014/main" id="{343A02B3-1CCD-49DA-8C22-191486F940AB}"/>
              </a:ext>
            </a:extLst>
          </p:cNvPr>
          <p:cNvSpPr>
            <a:spLocks noGrp="1"/>
          </p:cNvSpPr>
          <p:nvPr>
            <p:ph type="sldNum" sz="quarter" idx="12"/>
          </p:nvPr>
        </p:nvSpPr>
        <p:spPr/>
        <p:txBody>
          <a:bodyPr/>
          <a:lstStyle/>
          <a:p>
            <a:fld id="{A65A5C87-DF58-40C8-B092-1DE63DB4547E}" type="slidenum">
              <a:rPr lang="en-US" smtClean="0"/>
              <a:t>25</a:t>
            </a:fld>
            <a:endParaRPr lang="en-US" dirty="0"/>
          </a:p>
        </p:txBody>
      </p:sp>
      <p:graphicFrame>
        <p:nvGraphicFramePr>
          <p:cNvPr id="7" name="Table 6">
            <a:extLst>
              <a:ext uri="{FF2B5EF4-FFF2-40B4-BE49-F238E27FC236}">
                <a16:creationId xmlns:a16="http://schemas.microsoft.com/office/drawing/2014/main" id="{3DECAC31-ECFF-914A-9016-AD33E14CC993}"/>
              </a:ext>
            </a:extLst>
          </p:cNvPr>
          <p:cNvGraphicFramePr>
            <a:graphicFrameLocks noGrp="1"/>
          </p:cNvGraphicFramePr>
          <p:nvPr>
            <p:extLst>
              <p:ext uri="{D42A27DB-BD31-4B8C-83A1-F6EECF244321}">
                <p14:modId xmlns:p14="http://schemas.microsoft.com/office/powerpoint/2010/main" val="4274364998"/>
              </p:ext>
            </p:extLst>
          </p:nvPr>
        </p:nvGraphicFramePr>
        <p:xfrm>
          <a:off x="452119" y="2454275"/>
          <a:ext cx="11287761" cy="4023360"/>
        </p:xfrm>
        <a:graphic>
          <a:graphicData uri="http://schemas.openxmlformats.org/drawingml/2006/table">
            <a:tbl>
              <a:tblPr firstRow="1" bandRow="1">
                <a:tableStyleId>{5C22544A-7EE6-4342-B048-85BDC9FD1C3A}</a:tableStyleId>
              </a:tblPr>
              <a:tblGrid>
                <a:gridCol w="2701133">
                  <a:extLst>
                    <a:ext uri="{9D8B030D-6E8A-4147-A177-3AD203B41FA5}">
                      <a16:colId xmlns:a16="http://schemas.microsoft.com/office/drawing/2014/main" val="1894088968"/>
                    </a:ext>
                  </a:extLst>
                </a:gridCol>
                <a:gridCol w="4929027">
                  <a:extLst>
                    <a:ext uri="{9D8B030D-6E8A-4147-A177-3AD203B41FA5}">
                      <a16:colId xmlns:a16="http://schemas.microsoft.com/office/drawing/2014/main" val="1717429192"/>
                    </a:ext>
                  </a:extLst>
                </a:gridCol>
                <a:gridCol w="3657601">
                  <a:extLst>
                    <a:ext uri="{9D8B030D-6E8A-4147-A177-3AD203B41FA5}">
                      <a16:colId xmlns:a16="http://schemas.microsoft.com/office/drawing/2014/main" val="1225379197"/>
                    </a:ext>
                  </a:extLst>
                </a:gridCol>
              </a:tblGrid>
              <a:tr h="326645">
                <a:tc gridSpan="2">
                  <a:txBody>
                    <a:bodyPr/>
                    <a:lstStyle/>
                    <a:p>
                      <a:r>
                        <a:rPr lang="de-CH" sz="1600" dirty="0" err="1"/>
                        <a:t>Required</a:t>
                      </a:r>
                      <a:r>
                        <a:rPr lang="de-CH" sz="1600" dirty="0"/>
                        <a:t> </a:t>
                      </a:r>
                      <a:r>
                        <a:rPr lang="de-CH" sz="1600" dirty="0" err="1"/>
                        <a:t>performance</a:t>
                      </a:r>
                      <a:r>
                        <a:rPr lang="de-CH" sz="1600" dirty="0"/>
                        <a:t> per </a:t>
                      </a:r>
                      <a:r>
                        <a:rPr lang="de-CH" sz="1600" dirty="0" err="1"/>
                        <a:t>level</a:t>
                      </a:r>
                      <a:endParaRPr lang="en-CH" sz="1600" dirty="0"/>
                    </a:p>
                  </a:txBody>
                  <a:tcPr/>
                </a:tc>
                <a:tc hMerge="1">
                  <a:txBody>
                    <a:bodyPr/>
                    <a:lstStyle/>
                    <a:p>
                      <a:endParaRPr lang="en-CH" dirty="0"/>
                    </a:p>
                  </a:txBody>
                  <a:tcPr/>
                </a:tc>
                <a:tc>
                  <a:txBody>
                    <a:bodyPr/>
                    <a:lstStyle/>
                    <a:p>
                      <a:r>
                        <a:rPr lang="de-CH" sz="1600" dirty="0" err="1"/>
                        <a:t>Typical</a:t>
                      </a:r>
                      <a:r>
                        <a:rPr lang="de-CH" sz="1600" dirty="0"/>
                        <a:t> </a:t>
                      </a:r>
                      <a:r>
                        <a:rPr lang="de-CH" sz="1600" dirty="0" err="1"/>
                        <a:t>activities</a:t>
                      </a:r>
                      <a:endParaRPr lang="en-CH" sz="1600" dirty="0"/>
                    </a:p>
                  </a:txBody>
                  <a:tcPr/>
                </a:tc>
                <a:extLst>
                  <a:ext uri="{0D108BD9-81ED-4DB2-BD59-A6C34878D82A}">
                    <a16:rowId xmlns:a16="http://schemas.microsoft.com/office/drawing/2014/main" val="1204978631"/>
                  </a:ext>
                </a:extLst>
              </a:tr>
              <a:tr h="370840">
                <a:tc>
                  <a:txBody>
                    <a:bodyPr/>
                    <a:lstStyle/>
                    <a:p>
                      <a:r>
                        <a:rPr lang="de-CH" sz="1600" b="1" i="0" u="none" strike="noStrike" kern="1200" baseline="0" dirty="0" err="1">
                          <a:solidFill>
                            <a:schemeClr val="dk1"/>
                          </a:solidFill>
                          <a:latin typeface="+mn-lt"/>
                          <a:ea typeface="+mn-ea"/>
                          <a:cs typeface="+mn-cs"/>
                        </a:rPr>
                        <a:t>Remembering</a:t>
                      </a:r>
                      <a:endParaRPr lang="de-CH" sz="1600" b="1" i="0" u="none" strike="noStrike" kern="1200" baseline="0" dirty="0">
                        <a:solidFill>
                          <a:schemeClr val="dk1"/>
                        </a:solidFill>
                        <a:latin typeface="+mn-lt"/>
                        <a:ea typeface="+mn-ea"/>
                        <a:cs typeface="+mn-cs"/>
                      </a:endParaRPr>
                    </a:p>
                    <a:p>
                      <a:r>
                        <a:rPr lang="de-CH" sz="1600" b="0" i="0" u="none" strike="noStrike" kern="1200" baseline="0" dirty="0" err="1">
                          <a:solidFill>
                            <a:schemeClr val="dk1"/>
                          </a:solidFill>
                          <a:latin typeface="+mn-lt"/>
                          <a:ea typeface="+mn-ea"/>
                          <a:cs typeface="+mn-cs"/>
                        </a:rPr>
                        <a:t>recognizing</a:t>
                      </a:r>
                      <a:r>
                        <a:rPr lang="de-CH" sz="1600" b="0" i="0" u="none" strike="noStrike" kern="1200" baseline="0" dirty="0">
                          <a:solidFill>
                            <a:schemeClr val="dk1"/>
                          </a:solidFill>
                          <a:latin typeface="+mn-lt"/>
                          <a:ea typeface="+mn-ea"/>
                          <a:cs typeface="+mn-cs"/>
                        </a:rPr>
                        <a:t> and </a:t>
                      </a:r>
                      <a:r>
                        <a:rPr lang="de-CH" sz="1600" b="0" i="0" u="none" strike="noStrike" kern="1200" baseline="0" dirty="0" err="1">
                          <a:solidFill>
                            <a:schemeClr val="dk1"/>
                          </a:solidFill>
                          <a:latin typeface="+mn-lt"/>
                          <a:ea typeface="+mn-ea"/>
                          <a:cs typeface="+mn-cs"/>
                        </a:rPr>
                        <a:t>recalling</a:t>
                      </a:r>
                      <a:r>
                        <a:rPr lang="de-CH" sz="1600" b="0" i="0" u="none" strike="noStrike" kern="1200" baseline="0" dirty="0">
                          <a:solidFill>
                            <a:schemeClr val="dk1"/>
                          </a:solidFill>
                          <a:latin typeface="+mn-lt"/>
                          <a:ea typeface="+mn-ea"/>
                          <a:cs typeface="+mn-cs"/>
                        </a:rPr>
                        <a:t> </a:t>
                      </a:r>
                      <a:r>
                        <a:rPr lang="de-CH" sz="1600" b="0" i="0" u="none" strike="noStrike" kern="1200" baseline="0" dirty="0" err="1">
                          <a:solidFill>
                            <a:schemeClr val="dk1"/>
                          </a:solidFill>
                          <a:latin typeface="+mn-lt"/>
                          <a:ea typeface="+mn-ea"/>
                          <a:cs typeface="+mn-cs"/>
                        </a:rPr>
                        <a:t>information</a:t>
                      </a:r>
                      <a:endParaRPr lang="en-CH" sz="1600" dirty="0"/>
                    </a:p>
                  </a:txBody>
                  <a:tcPr/>
                </a:tc>
                <a:tc>
                  <a:txBody>
                    <a:bodyPr/>
                    <a:lstStyle/>
                    <a:p>
                      <a:pPr marL="285750" indent="-285750">
                        <a:buFont typeface="Arial" panose="020B0604020202020204" pitchFamily="34" charset="0"/>
                        <a:buChar char="•"/>
                      </a:pPr>
                      <a:r>
                        <a:rPr lang="de-CH" sz="1600" dirty="0" err="1"/>
                        <a:t>recall</a:t>
                      </a:r>
                      <a:r>
                        <a:rPr lang="de-CH" sz="1600" dirty="0"/>
                        <a:t> </a:t>
                      </a:r>
                      <a:r>
                        <a:rPr lang="de-CH" sz="1600" dirty="0" err="1"/>
                        <a:t>information</a:t>
                      </a:r>
                      <a:r>
                        <a:rPr lang="de-CH" sz="1600" dirty="0"/>
                        <a:t> </a:t>
                      </a:r>
                      <a:r>
                        <a:rPr lang="de-CH" sz="1600" dirty="0" err="1"/>
                        <a:t>from</a:t>
                      </a:r>
                      <a:r>
                        <a:rPr lang="de-CH" sz="1600" dirty="0"/>
                        <a:t> </a:t>
                      </a:r>
                      <a:r>
                        <a:rPr lang="de-CH" sz="1600" dirty="0" err="1"/>
                        <a:t>memory</a:t>
                      </a:r>
                      <a:r>
                        <a:rPr lang="de-CH" sz="1600" dirty="0"/>
                        <a:t> (</a:t>
                      </a:r>
                      <a:r>
                        <a:rPr lang="de-CH" sz="1600" dirty="0" err="1"/>
                        <a:t>terms</a:t>
                      </a:r>
                      <a:r>
                        <a:rPr lang="de-CH" sz="1600" dirty="0"/>
                        <a:t>, </a:t>
                      </a:r>
                      <a:r>
                        <a:rPr lang="de-CH" sz="1600" dirty="0" err="1"/>
                        <a:t>facts</a:t>
                      </a:r>
                      <a:r>
                        <a:rPr lang="de-CH" sz="1600" dirty="0"/>
                        <a:t>, </a:t>
                      </a:r>
                      <a:r>
                        <a:rPr lang="de-CH" sz="1600" dirty="0" err="1"/>
                        <a:t>conventions</a:t>
                      </a:r>
                      <a:r>
                        <a:rPr lang="de-CH" sz="1600" dirty="0"/>
                        <a:t>, </a:t>
                      </a:r>
                      <a:r>
                        <a:rPr lang="de-CH" sz="1600" dirty="0" err="1"/>
                        <a:t>classifications</a:t>
                      </a:r>
                      <a:r>
                        <a:rPr lang="de-CH" sz="1600" dirty="0"/>
                        <a:t>, </a:t>
                      </a:r>
                      <a:r>
                        <a:rPr lang="de-CH" sz="1600" dirty="0" err="1"/>
                        <a:t>principles</a:t>
                      </a:r>
                      <a:r>
                        <a:rPr lang="de-CH" sz="1600" dirty="0"/>
                        <a:t>, </a:t>
                      </a:r>
                      <a:r>
                        <a:rPr lang="de-CH" sz="1600" dirty="0" err="1"/>
                        <a:t>methods</a:t>
                      </a:r>
                      <a:r>
                        <a:rPr lang="de-CH" sz="1600" dirty="0"/>
                        <a:t>, </a:t>
                      </a:r>
                      <a:r>
                        <a:rPr lang="de-CH" sz="1600" dirty="0" err="1"/>
                        <a:t>theories</a:t>
                      </a:r>
                      <a:r>
                        <a:rPr lang="de-CH" sz="1600" dirty="0"/>
                        <a:t>, </a:t>
                      </a:r>
                      <a:r>
                        <a:rPr lang="de-CH" sz="1600" dirty="0" err="1"/>
                        <a:t>concepts</a:t>
                      </a:r>
                      <a:r>
                        <a:rPr lang="de-CH" sz="1600" dirty="0"/>
                        <a:t>, </a:t>
                      </a:r>
                      <a:r>
                        <a:rPr lang="de-CH" sz="1600" dirty="0" err="1"/>
                        <a:t>models</a:t>
                      </a:r>
                      <a:r>
                        <a:rPr lang="de-CH" sz="1600" dirty="0"/>
                        <a:t>, etc. )</a:t>
                      </a:r>
                      <a:endParaRPr lang="en-CH" sz="1600" dirty="0"/>
                    </a:p>
                  </a:txBody>
                  <a:tcPr/>
                </a:tc>
                <a:tc>
                  <a:txBody>
                    <a:bodyPr/>
                    <a:lstStyle/>
                    <a:p>
                      <a:r>
                        <a:rPr lang="de-CH" sz="1600" dirty="0" err="1"/>
                        <a:t>reproduce</a:t>
                      </a:r>
                      <a:r>
                        <a:rPr lang="de-CH" sz="1600" dirty="0"/>
                        <a:t>, </a:t>
                      </a:r>
                      <a:r>
                        <a:rPr lang="de-CH" sz="1600" dirty="0" err="1"/>
                        <a:t>name</a:t>
                      </a:r>
                      <a:r>
                        <a:rPr lang="de-CH" sz="1600" dirty="0"/>
                        <a:t>, </a:t>
                      </a:r>
                      <a:r>
                        <a:rPr lang="de-CH" sz="1600" dirty="0" err="1"/>
                        <a:t>enumerate</a:t>
                      </a:r>
                      <a:r>
                        <a:rPr lang="de-CH" sz="1600" dirty="0"/>
                        <a:t>, </a:t>
                      </a:r>
                      <a:r>
                        <a:rPr lang="de-CH" sz="1600" dirty="0" err="1"/>
                        <a:t>designate</a:t>
                      </a:r>
                      <a:r>
                        <a:rPr lang="de-CH" sz="1600" dirty="0"/>
                        <a:t>, </a:t>
                      </a:r>
                      <a:r>
                        <a:rPr lang="de-CH" sz="1600" dirty="0" err="1"/>
                        <a:t>list</a:t>
                      </a:r>
                      <a:r>
                        <a:rPr lang="de-CH" sz="1600" dirty="0"/>
                        <a:t>, </a:t>
                      </a:r>
                      <a:r>
                        <a:rPr lang="de-CH" sz="1600" dirty="0" err="1"/>
                        <a:t>cite</a:t>
                      </a:r>
                      <a:r>
                        <a:rPr lang="de-CH" sz="1600" dirty="0"/>
                        <a:t>, </a:t>
                      </a:r>
                      <a:r>
                        <a:rPr lang="de-CH" sz="1600" dirty="0" err="1"/>
                        <a:t>indicate</a:t>
                      </a:r>
                      <a:r>
                        <a:rPr lang="de-CH" sz="1600" dirty="0"/>
                        <a:t>, </a:t>
                      </a:r>
                      <a:r>
                        <a:rPr lang="de-CH" sz="1600" dirty="0" err="1"/>
                        <a:t>draw</a:t>
                      </a:r>
                      <a:r>
                        <a:rPr lang="de-CH" sz="1600" dirty="0"/>
                        <a:t>, etc.</a:t>
                      </a:r>
                      <a:endParaRPr lang="en-CH" sz="1600" dirty="0"/>
                    </a:p>
                  </a:txBody>
                  <a:tcPr/>
                </a:tc>
                <a:extLst>
                  <a:ext uri="{0D108BD9-81ED-4DB2-BD59-A6C34878D82A}">
                    <a16:rowId xmlns:a16="http://schemas.microsoft.com/office/drawing/2014/main" val="2935593221"/>
                  </a:ext>
                </a:extLst>
              </a:tr>
              <a:tr h="370840">
                <a:tc>
                  <a:txBody>
                    <a:bodyPr/>
                    <a:lstStyle/>
                    <a:p>
                      <a:r>
                        <a:rPr lang="de-CH" sz="1600" b="1" i="0" u="none" strike="noStrike" kern="1200" baseline="0" dirty="0">
                          <a:solidFill>
                            <a:schemeClr val="dk1"/>
                          </a:solidFill>
                          <a:latin typeface="+mn-lt"/>
                          <a:ea typeface="+mn-ea"/>
                          <a:cs typeface="+mn-cs"/>
                        </a:rPr>
                        <a:t>Understanding</a:t>
                      </a:r>
                    </a:p>
                    <a:p>
                      <a:r>
                        <a:rPr lang="de-CH" sz="1600" b="0" i="0" u="none" strike="noStrike" kern="1200" baseline="0" dirty="0" err="1">
                          <a:solidFill>
                            <a:schemeClr val="dk1"/>
                          </a:solidFill>
                          <a:latin typeface="+mn-lt"/>
                          <a:ea typeface="+mn-ea"/>
                          <a:cs typeface="+mn-cs"/>
                        </a:rPr>
                        <a:t>making</a:t>
                      </a:r>
                      <a:r>
                        <a:rPr lang="de-CH" sz="1600" b="0" i="0" u="none" strike="noStrike" kern="1200" baseline="0" dirty="0">
                          <a:solidFill>
                            <a:schemeClr val="dk1"/>
                          </a:solidFill>
                          <a:latin typeface="+mn-lt"/>
                          <a:ea typeface="+mn-ea"/>
                          <a:cs typeface="+mn-cs"/>
                        </a:rPr>
                        <a:t> </a:t>
                      </a:r>
                      <a:r>
                        <a:rPr lang="de-CH" sz="1600" b="0" i="0" u="none" strike="noStrike" kern="1200" baseline="0" dirty="0" err="1">
                          <a:solidFill>
                            <a:schemeClr val="dk1"/>
                          </a:solidFill>
                          <a:latin typeface="+mn-lt"/>
                          <a:ea typeface="+mn-ea"/>
                          <a:cs typeface="+mn-cs"/>
                        </a:rPr>
                        <a:t>connections</a:t>
                      </a:r>
                      <a:r>
                        <a:rPr lang="de-CH" sz="1600" b="0" i="0" u="none" strike="noStrike" kern="1200" baseline="0" dirty="0">
                          <a:solidFill>
                            <a:schemeClr val="dk1"/>
                          </a:solidFill>
                          <a:latin typeface="+mn-lt"/>
                          <a:ea typeface="+mn-ea"/>
                          <a:cs typeface="+mn-cs"/>
                        </a:rPr>
                        <a:t>,</a:t>
                      </a:r>
                    </a:p>
                    <a:p>
                      <a:r>
                        <a:rPr lang="de-CH" sz="1600" b="0" i="0" u="none" strike="noStrike" kern="1200" baseline="0" dirty="0" err="1">
                          <a:solidFill>
                            <a:schemeClr val="dk1"/>
                          </a:solidFill>
                          <a:latin typeface="+mn-lt"/>
                          <a:ea typeface="+mn-ea"/>
                          <a:cs typeface="+mn-cs"/>
                        </a:rPr>
                        <a:t>interpreting</a:t>
                      </a:r>
                      <a:endParaRPr lang="en-CH" sz="1600" dirty="0"/>
                    </a:p>
                  </a:txBody>
                  <a:tcPr/>
                </a:tc>
                <a:tc>
                  <a:txBody>
                    <a:bodyPr/>
                    <a:lstStyle/>
                    <a:p>
                      <a:pPr marL="285750" indent="-285750">
                        <a:buFont typeface="Arial" panose="020B0604020202020204" pitchFamily="34" charset="0"/>
                        <a:buChar char="•"/>
                      </a:pPr>
                      <a:r>
                        <a:rPr lang="de-CH" sz="1600" dirty="0"/>
                        <a:t>link </a:t>
                      </a:r>
                      <a:r>
                        <a:rPr lang="de-CH" sz="1600" dirty="0" err="1"/>
                        <a:t>information</a:t>
                      </a:r>
                      <a:endParaRPr lang="de-CH" sz="1600" dirty="0"/>
                    </a:p>
                    <a:p>
                      <a:pPr marL="285750" indent="-285750">
                        <a:buFont typeface="Arial" panose="020B0604020202020204" pitchFamily="34" charset="0"/>
                        <a:buChar char="•"/>
                      </a:pPr>
                      <a:r>
                        <a:rPr lang="de-CH" sz="1600" dirty="0" err="1"/>
                        <a:t>transform</a:t>
                      </a:r>
                      <a:r>
                        <a:rPr lang="de-CH" sz="1600" dirty="0"/>
                        <a:t> </a:t>
                      </a:r>
                      <a:r>
                        <a:rPr lang="de-CH" sz="1600" dirty="0" err="1"/>
                        <a:t>information</a:t>
                      </a:r>
                      <a:r>
                        <a:rPr lang="de-CH" sz="1600" dirty="0"/>
                        <a:t> (</a:t>
                      </a:r>
                      <a:r>
                        <a:rPr lang="de-CH" sz="1600" dirty="0" err="1"/>
                        <a:t>text</a:t>
                      </a:r>
                      <a:r>
                        <a:rPr lang="de-CH" sz="1600" dirty="0"/>
                        <a:t> </a:t>
                      </a:r>
                      <a:r>
                        <a:rPr lang="de-CH" sz="1600" dirty="0" err="1"/>
                        <a:t>to</a:t>
                      </a:r>
                      <a:r>
                        <a:rPr lang="de-CH" sz="1600" dirty="0"/>
                        <a:t> </a:t>
                      </a:r>
                      <a:r>
                        <a:rPr lang="de-CH" sz="1600" dirty="0" err="1"/>
                        <a:t>graph</a:t>
                      </a:r>
                      <a:r>
                        <a:rPr lang="de-CH" sz="1600" dirty="0"/>
                        <a:t>; </a:t>
                      </a:r>
                      <a:r>
                        <a:rPr lang="de-CH" sz="1600" dirty="0" err="1"/>
                        <a:t>graph</a:t>
                      </a:r>
                      <a:r>
                        <a:rPr lang="de-CH" sz="1600" dirty="0"/>
                        <a:t> </a:t>
                      </a:r>
                      <a:r>
                        <a:rPr lang="de-CH" sz="1600" dirty="0" err="1"/>
                        <a:t>to</a:t>
                      </a:r>
                      <a:r>
                        <a:rPr lang="de-CH" sz="1600" dirty="0"/>
                        <a:t> </a:t>
                      </a:r>
                      <a:r>
                        <a:rPr lang="de-CH" sz="1600" dirty="0" err="1"/>
                        <a:t>text</a:t>
                      </a:r>
                      <a:r>
                        <a:rPr lang="de-CH" sz="1600" dirty="0"/>
                        <a:t>, etc.)</a:t>
                      </a:r>
                    </a:p>
                    <a:p>
                      <a:pPr marL="285750" indent="-285750">
                        <a:buFont typeface="Arial" panose="020B0604020202020204" pitchFamily="34" charset="0"/>
                        <a:buChar char="•"/>
                      </a:pPr>
                      <a:r>
                        <a:rPr lang="de-CH" sz="1600" dirty="0" err="1"/>
                        <a:t>capture</a:t>
                      </a:r>
                      <a:r>
                        <a:rPr lang="de-CH" sz="1600" dirty="0"/>
                        <a:t> </a:t>
                      </a:r>
                      <a:r>
                        <a:rPr lang="de-CH" sz="1600" dirty="0" err="1"/>
                        <a:t>interrelations</a:t>
                      </a:r>
                      <a:endParaRPr lang="de-CH" sz="1600" dirty="0"/>
                    </a:p>
                    <a:p>
                      <a:pPr marL="285750" indent="-285750">
                        <a:buFont typeface="Arial" panose="020B0604020202020204" pitchFamily="34" charset="0"/>
                        <a:buChar char="•"/>
                      </a:pPr>
                      <a:r>
                        <a:rPr lang="de-CH" sz="1600" dirty="0" err="1"/>
                        <a:t>draw</a:t>
                      </a:r>
                      <a:r>
                        <a:rPr lang="de-CH" sz="1600" dirty="0"/>
                        <a:t> </a:t>
                      </a:r>
                      <a:r>
                        <a:rPr lang="de-CH" sz="1600" dirty="0" err="1"/>
                        <a:t>conclusions</a:t>
                      </a:r>
                      <a:endParaRPr lang="en-CH" sz="1600" dirty="0"/>
                    </a:p>
                  </a:txBody>
                  <a:tcPr/>
                </a:tc>
                <a:tc>
                  <a:txBody>
                    <a:bodyPr/>
                    <a:lstStyle/>
                    <a:p>
                      <a:r>
                        <a:rPr lang="en-GB" sz="1600" dirty="0"/>
                        <a:t>explain, describe, depict, translate, put into your own words, summarize, identify, compare, distinguish, interpret, conclude, etc.</a:t>
                      </a:r>
                      <a:endParaRPr lang="en-CH" sz="1600" dirty="0"/>
                    </a:p>
                  </a:txBody>
                  <a:tcPr/>
                </a:tc>
                <a:extLst>
                  <a:ext uri="{0D108BD9-81ED-4DB2-BD59-A6C34878D82A}">
                    <a16:rowId xmlns:a16="http://schemas.microsoft.com/office/drawing/2014/main" val="2749145726"/>
                  </a:ext>
                </a:extLst>
              </a:tr>
              <a:tr h="370840">
                <a:tc>
                  <a:txBody>
                    <a:bodyPr/>
                    <a:lstStyle/>
                    <a:p>
                      <a:r>
                        <a:rPr lang="de-CH" sz="1600" b="1" i="0" u="none" strike="noStrike" kern="1200" baseline="0" dirty="0">
                          <a:solidFill>
                            <a:schemeClr val="dk1"/>
                          </a:solidFill>
                          <a:latin typeface="+mn-lt"/>
                          <a:ea typeface="+mn-ea"/>
                          <a:cs typeface="+mn-cs"/>
                        </a:rPr>
                        <a:t>Problem-</a:t>
                      </a:r>
                      <a:r>
                        <a:rPr lang="de-CH" sz="1600" b="1" i="0" u="none" strike="noStrike" kern="1200" baseline="0" dirty="0" err="1">
                          <a:solidFill>
                            <a:schemeClr val="dk1"/>
                          </a:solidFill>
                          <a:latin typeface="+mn-lt"/>
                          <a:ea typeface="+mn-ea"/>
                          <a:cs typeface="+mn-cs"/>
                        </a:rPr>
                        <a:t>solving</a:t>
                      </a:r>
                      <a:endParaRPr lang="de-CH" sz="1600" b="1" i="0" u="none" strike="noStrike" kern="1200" baseline="0" dirty="0">
                        <a:solidFill>
                          <a:schemeClr val="dk1"/>
                        </a:solidFill>
                        <a:latin typeface="+mn-lt"/>
                        <a:ea typeface="+mn-ea"/>
                        <a:cs typeface="+mn-cs"/>
                      </a:endParaRPr>
                    </a:p>
                    <a:p>
                      <a:r>
                        <a:rPr lang="de-CH" sz="1600" b="0" i="0" u="none" strike="noStrike" kern="1200" baseline="0" dirty="0" err="1">
                          <a:solidFill>
                            <a:schemeClr val="dk1"/>
                          </a:solidFill>
                          <a:latin typeface="+mn-lt"/>
                          <a:ea typeface="+mn-ea"/>
                          <a:cs typeface="+mn-cs"/>
                        </a:rPr>
                        <a:t>evaluating</a:t>
                      </a:r>
                      <a:r>
                        <a:rPr lang="de-CH" sz="1600" b="0" i="0" u="none" strike="noStrike" kern="1200" baseline="0" dirty="0">
                          <a:solidFill>
                            <a:schemeClr val="dk1"/>
                          </a:solidFill>
                          <a:latin typeface="+mn-lt"/>
                          <a:ea typeface="+mn-ea"/>
                          <a:cs typeface="+mn-cs"/>
                        </a:rPr>
                        <a:t> and </a:t>
                      </a:r>
                      <a:r>
                        <a:rPr lang="de-CH" sz="1600" b="0" i="0" u="none" strike="noStrike" kern="1200" baseline="0" dirty="0" err="1">
                          <a:solidFill>
                            <a:schemeClr val="dk1"/>
                          </a:solidFill>
                          <a:latin typeface="+mn-lt"/>
                          <a:ea typeface="+mn-ea"/>
                          <a:cs typeface="+mn-cs"/>
                        </a:rPr>
                        <a:t>solving</a:t>
                      </a:r>
                      <a:endParaRPr lang="de-CH" sz="1600" b="0" i="0" u="none" strike="noStrike" kern="1200" baseline="0" dirty="0">
                        <a:solidFill>
                          <a:schemeClr val="dk1"/>
                        </a:solidFill>
                        <a:latin typeface="+mn-lt"/>
                        <a:ea typeface="+mn-ea"/>
                        <a:cs typeface="+mn-cs"/>
                      </a:endParaRPr>
                    </a:p>
                    <a:p>
                      <a:r>
                        <a:rPr lang="de-CH" sz="1600" b="0" i="0" u="none" strike="noStrike" kern="1200" baseline="0" dirty="0" err="1">
                          <a:solidFill>
                            <a:schemeClr val="dk1"/>
                          </a:solidFill>
                          <a:latin typeface="+mn-lt"/>
                          <a:ea typeface="+mn-ea"/>
                          <a:cs typeface="+mn-cs"/>
                        </a:rPr>
                        <a:t>problems</a:t>
                      </a:r>
                      <a:endParaRPr lang="en-CH" sz="1600" dirty="0"/>
                    </a:p>
                  </a:txBody>
                  <a:tcPr/>
                </a:tc>
                <a:tc>
                  <a:txBody>
                    <a:bodyPr/>
                    <a:lstStyle/>
                    <a:p>
                      <a:pPr marL="285750" indent="-285750">
                        <a:buFont typeface="Arial" panose="020B0604020202020204" pitchFamily="34" charset="0"/>
                        <a:buChar char="•"/>
                      </a:pPr>
                      <a:r>
                        <a:rPr lang="en-GB" sz="1600" dirty="0"/>
                        <a:t>transfer acquired knowledge to new situations (abstraction, generalization)</a:t>
                      </a:r>
                    </a:p>
                    <a:p>
                      <a:pPr marL="285750" indent="-285750">
                        <a:buFont typeface="Arial" panose="020B0604020202020204" pitchFamily="34" charset="0"/>
                        <a:buChar char="•"/>
                      </a:pPr>
                      <a:r>
                        <a:rPr lang="en-GB" sz="1600" dirty="0"/>
                        <a:t>apply acquired knowledge in problem-solving</a:t>
                      </a:r>
                    </a:p>
                    <a:p>
                      <a:pPr marL="285750" indent="-285750">
                        <a:buFont typeface="Arial" panose="020B0604020202020204" pitchFamily="34" charset="0"/>
                        <a:buChar char="•"/>
                      </a:pPr>
                      <a:r>
                        <a:rPr lang="en-GB" sz="1600" dirty="0"/>
                        <a:t>assess, evaluate, and weigh up complex information</a:t>
                      </a:r>
                    </a:p>
                    <a:p>
                      <a:pPr marL="285750" indent="-285750">
                        <a:buFont typeface="Arial" panose="020B0604020202020204" pitchFamily="34" charset="0"/>
                        <a:buChar char="•"/>
                      </a:pPr>
                      <a:r>
                        <a:rPr lang="en-GB" sz="1600" dirty="0"/>
                        <a:t>estimate consequences</a:t>
                      </a:r>
                      <a:endParaRPr lang="en-CH" sz="1600" dirty="0"/>
                    </a:p>
                  </a:txBody>
                  <a:tcPr/>
                </a:tc>
                <a:tc>
                  <a:txBody>
                    <a:bodyPr/>
                    <a:lstStyle/>
                    <a:p>
                      <a:r>
                        <a:rPr lang="en-GB" sz="1600" dirty="0"/>
                        <a:t>execute, analyse, determine, propose, design, develop, justify, judge, generate, construct, criticize, verify, test, plan, produce, create, shape, elaborate, form, etc.</a:t>
                      </a:r>
                      <a:endParaRPr lang="en-CH" sz="1600" dirty="0"/>
                    </a:p>
                  </a:txBody>
                  <a:tcPr/>
                </a:tc>
                <a:extLst>
                  <a:ext uri="{0D108BD9-81ED-4DB2-BD59-A6C34878D82A}">
                    <a16:rowId xmlns:a16="http://schemas.microsoft.com/office/drawing/2014/main" val="1085285150"/>
                  </a:ext>
                </a:extLst>
              </a:tr>
            </a:tbl>
          </a:graphicData>
        </a:graphic>
      </p:graphicFrame>
      <p:sp>
        <p:nvSpPr>
          <p:cNvPr id="9" name="TextBox 8">
            <a:extLst>
              <a:ext uri="{FF2B5EF4-FFF2-40B4-BE49-F238E27FC236}">
                <a16:creationId xmlns:a16="http://schemas.microsoft.com/office/drawing/2014/main" id="{A2CAFE2D-D06C-74F6-D878-C365B6326AC4}"/>
              </a:ext>
            </a:extLst>
          </p:cNvPr>
          <p:cNvSpPr txBox="1"/>
          <p:nvPr/>
        </p:nvSpPr>
        <p:spPr>
          <a:xfrm>
            <a:off x="677342" y="6556098"/>
            <a:ext cx="6096000" cy="261610"/>
          </a:xfrm>
          <a:prstGeom prst="rect">
            <a:avLst/>
          </a:prstGeom>
          <a:noFill/>
        </p:spPr>
        <p:txBody>
          <a:bodyPr wrap="square">
            <a:spAutoFit/>
          </a:bodyPr>
          <a:lstStyle/>
          <a:p>
            <a:r>
              <a:rPr lang="es-ES" sz="1100" dirty="0"/>
              <a:t>Herweg et al. (2021)</a:t>
            </a:r>
            <a:endParaRPr lang="en-CH" sz="1100" dirty="0"/>
          </a:p>
        </p:txBody>
      </p:sp>
    </p:spTree>
    <p:extLst>
      <p:ext uri="{BB962C8B-B14F-4D97-AF65-F5344CB8AC3E}">
        <p14:creationId xmlns:p14="http://schemas.microsoft.com/office/powerpoint/2010/main" val="42016783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CF154-B4CD-95E2-1D51-0737A466A2E4}"/>
              </a:ext>
            </a:extLst>
          </p:cNvPr>
          <p:cNvSpPr>
            <a:spLocks noGrp="1"/>
          </p:cNvSpPr>
          <p:nvPr>
            <p:ph type="title"/>
          </p:nvPr>
        </p:nvSpPr>
        <p:spPr/>
        <p:txBody>
          <a:bodyPr/>
          <a:lstStyle/>
          <a:p>
            <a:r>
              <a:rPr lang="de-CH" dirty="0" err="1"/>
              <a:t>Example</a:t>
            </a:r>
            <a:endParaRPr lang="en-CH" dirty="0"/>
          </a:p>
        </p:txBody>
      </p:sp>
      <p:sp>
        <p:nvSpPr>
          <p:cNvPr id="3" name="Content Placeholder 2">
            <a:extLst>
              <a:ext uri="{FF2B5EF4-FFF2-40B4-BE49-F238E27FC236}">
                <a16:creationId xmlns:a16="http://schemas.microsoft.com/office/drawing/2014/main" id="{1CF051FE-E1A0-4C9E-7901-A7ADBC9E4249}"/>
              </a:ext>
            </a:extLst>
          </p:cNvPr>
          <p:cNvSpPr>
            <a:spLocks noGrp="1"/>
          </p:cNvSpPr>
          <p:nvPr>
            <p:ph idx="1"/>
          </p:nvPr>
        </p:nvSpPr>
        <p:spPr>
          <a:xfrm>
            <a:off x="1115568" y="2478024"/>
            <a:ext cx="10680192" cy="3694176"/>
          </a:xfrm>
        </p:spPr>
        <p:txBody>
          <a:bodyPr vert="horz" lIns="91440" tIns="45720" rIns="91440" bIns="45720" rtlCol="0" anchor="t">
            <a:normAutofit fontScale="70000" lnSpcReduction="20000"/>
          </a:bodyPr>
          <a:lstStyle/>
          <a:p>
            <a:pPr marL="0" indent="0">
              <a:buNone/>
            </a:pPr>
            <a:r>
              <a:rPr lang="en-GB" dirty="0"/>
              <a:t>Lecture: "Migration and research on migration" (Social Anthropology)</a:t>
            </a:r>
          </a:p>
          <a:p>
            <a:pPr marL="0" indent="0">
              <a:buNone/>
            </a:pPr>
            <a:endParaRPr lang="en-GB" dirty="0"/>
          </a:p>
          <a:p>
            <a:pPr marL="0" indent="0">
              <a:buNone/>
            </a:pPr>
            <a:r>
              <a:rPr lang="en-GB" dirty="0"/>
              <a:t>At the end of the lecture students are able to:</a:t>
            </a:r>
          </a:p>
          <a:p>
            <a:r>
              <a:rPr lang="en-GB" b="1" dirty="0"/>
              <a:t>list</a:t>
            </a:r>
            <a:r>
              <a:rPr lang="en-GB" dirty="0"/>
              <a:t> important major migration movements of the past two centuries</a:t>
            </a:r>
          </a:p>
          <a:p>
            <a:r>
              <a:rPr lang="en-GB" b="1" dirty="0"/>
              <a:t>explain</a:t>
            </a:r>
            <a:r>
              <a:rPr lang="en-GB" dirty="0"/>
              <a:t> central concepts of migration and migration research</a:t>
            </a:r>
          </a:p>
          <a:p>
            <a:r>
              <a:rPr lang="en-GB" b="1" dirty="0"/>
              <a:t>describe</a:t>
            </a:r>
            <a:r>
              <a:rPr lang="en-GB" dirty="0"/>
              <a:t> selected relevant models, theories and methods of migration research</a:t>
            </a:r>
          </a:p>
          <a:p>
            <a:r>
              <a:rPr lang="en-GB" b="1" dirty="0"/>
              <a:t>name</a:t>
            </a:r>
            <a:r>
              <a:rPr lang="en-GB" dirty="0"/>
              <a:t> milestones in the history of migration research</a:t>
            </a:r>
          </a:p>
          <a:p>
            <a:r>
              <a:rPr lang="en-GB" b="1" dirty="0"/>
              <a:t>summarize</a:t>
            </a:r>
            <a:r>
              <a:rPr lang="en-GB" dirty="0"/>
              <a:t> the main findings of European and North American migration research</a:t>
            </a:r>
          </a:p>
        </p:txBody>
      </p:sp>
      <p:sp>
        <p:nvSpPr>
          <p:cNvPr id="6" name="Slide Number Placeholder 5">
            <a:extLst>
              <a:ext uri="{FF2B5EF4-FFF2-40B4-BE49-F238E27FC236}">
                <a16:creationId xmlns:a16="http://schemas.microsoft.com/office/drawing/2014/main" id="{343A02B3-1CCD-49DA-8C22-191486F940AB}"/>
              </a:ext>
            </a:extLst>
          </p:cNvPr>
          <p:cNvSpPr>
            <a:spLocks noGrp="1"/>
          </p:cNvSpPr>
          <p:nvPr>
            <p:ph type="sldNum" sz="quarter" idx="12"/>
          </p:nvPr>
        </p:nvSpPr>
        <p:spPr/>
        <p:txBody>
          <a:bodyPr/>
          <a:lstStyle/>
          <a:p>
            <a:fld id="{A65A5C87-DF58-40C8-B092-1DE63DB4547E}" type="slidenum">
              <a:rPr lang="en-US" smtClean="0"/>
              <a:t>26</a:t>
            </a:fld>
            <a:endParaRPr lang="en-US" dirty="0"/>
          </a:p>
        </p:txBody>
      </p:sp>
      <p:pic>
        <p:nvPicPr>
          <p:cNvPr id="7" name="Picture 6">
            <a:extLst>
              <a:ext uri="{FF2B5EF4-FFF2-40B4-BE49-F238E27FC236}">
                <a16:creationId xmlns:a16="http://schemas.microsoft.com/office/drawing/2014/main" id="{CF57E2C6-B3E9-D08D-3AFD-356D796E4714}"/>
              </a:ext>
            </a:extLst>
          </p:cNvPr>
          <p:cNvPicPr>
            <a:picLocks noChangeAspect="1"/>
          </p:cNvPicPr>
          <p:nvPr/>
        </p:nvPicPr>
        <p:blipFill>
          <a:blip r:embed="rId2"/>
          <a:stretch>
            <a:fillRect/>
          </a:stretch>
        </p:blipFill>
        <p:spPr>
          <a:xfrm>
            <a:off x="10196623" y="404993"/>
            <a:ext cx="1267826" cy="1466870"/>
          </a:xfrm>
          <a:prstGeom prst="rect">
            <a:avLst/>
          </a:prstGeom>
        </p:spPr>
      </p:pic>
      <p:sp>
        <p:nvSpPr>
          <p:cNvPr id="9" name="TextBox 8">
            <a:extLst>
              <a:ext uri="{FF2B5EF4-FFF2-40B4-BE49-F238E27FC236}">
                <a16:creationId xmlns:a16="http://schemas.microsoft.com/office/drawing/2014/main" id="{C688B18F-BA08-711E-7805-5E0E2D2DB91E}"/>
              </a:ext>
            </a:extLst>
          </p:cNvPr>
          <p:cNvSpPr txBox="1"/>
          <p:nvPr/>
        </p:nvSpPr>
        <p:spPr>
          <a:xfrm>
            <a:off x="1284936" y="6413698"/>
            <a:ext cx="6096000" cy="261610"/>
          </a:xfrm>
          <a:prstGeom prst="rect">
            <a:avLst/>
          </a:prstGeom>
          <a:noFill/>
        </p:spPr>
        <p:txBody>
          <a:bodyPr wrap="square">
            <a:spAutoFit/>
          </a:bodyPr>
          <a:lstStyle/>
          <a:p>
            <a:r>
              <a:rPr lang="es-ES" sz="1100" dirty="0"/>
              <a:t>Herweg et al. (2021)</a:t>
            </a:r>
            <a:endParaRPr lang="en-CH" sz="1100" dirty="0"/>
          </a:p>
        </p:txBody>
      </p:sp>
    </p:spTree>
    <p:extLst>
      <p:ext uri="{BB962C8B-B14F-4D97-AF65-F5344CB8AC3E}">
        <p14:creationId xmlns:p14="http://schemas.microsoft.com/office/powerpoint/2010/main" val="21460661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CF154-B4CD-95E2-1D51-0737A466A2E4}"/>
              </a:ext>
            </a:extLst>
          </p:cNvPr>
          <p:cNvSpPr>
            <a:spLocks noGrp="1"/>
          </p:cNvSpPr>
          <p:nvPr>
            <p:ph type="title"/>
          </p:nvPr>
        </p:nvSpPr>
        <p:spPr>
          <a:xfrm>
            <a:off x="841246" y="978619"/>
            <a:ext cx="5991244" cy="1106424"/>
          </a:xfrm>
        </p:spPr>
        <p:txBody>
          <a:bodyPr>
            <a:normAutofit/>
          </a:bodyPr>
          <a:lstStyle/>
          <a:p>
            <a:r>
              <a:rPr lang="de-CH" sz="3200" dirty="0"/>
              <a:t>Learning </a:t>
            </a:r>
            <a:r>
              <a:rPr lang="de-CH" sz="3200" dirty="0" err="1"/>
              <a:t>activities</a:t>
            </a:r>
            <a:endParaRPr lang="en-CH" sz="3200" dirty="0"/>
          </a:p>
        </p:txBody>
      </p:sp>
      <p:sp>
        <p:nvSpPr>
          <p:cNvPr id="3" name="Content Placeholder 2">
            <a:extLst>
              <a:ext uri="{FF2B5EF4-FFF2-40B4-BE49-F238E27FC236}">
                <a16:creationId xmlns:a16="http://schemas.microsoft.com/office/drawing/2014/main" id="{1CF051FE-E1A0-4C9E-7901-A7ADBC9E4249}"/>
              </a:ext>
            </a:extLst>
          </p:cNvPr>
          <p:cNvSpPr>
            <a:spLocks noGrp="1"/>
          </p:cNvSpPr>
          <p:nvPr>
            <p:ph idx="1"/>
          </p:nvPr>
        </p:nvSpPr>
        <p:spPr>
          <a:xfrm>
            <a:off x="841248" y="2252870"/>
            <a:ext cx="5993892" cy="3560251"/>
          </a:xfrm>
        </p:spPr>
        <p:txBody>
          <a:bodyPr>
            <a:normAutofit/>
          </a:bodyPr>
          <a:lstStyle/>
          <a:p>
            <a:r>
              <a:rPr lang="en-GB" sz="2400" dirty="0"/>
              <a:t>What learning activities will help students to achieve these learning outcomes?</a:t>
            </a:r>
          </a:p>
          <a:p>
            <a:pPr marL="0" indent="0">
              <a:buNone/>
            </a:pPr>
            <a:r>
              <a:rPr lang="en-GB" sz="2400" dirty="0"/>
              <a:t> </a:t>
            </a:r>
          </a:p>
          <a:p>
            <a:r>
              <a:rPr lang="en-GB" sz="2400" dirty="0"/>
              <a:t>Which learning environments and what teaching-learning-arrangements create spaces for action-oriented learning?</a:t>
            </a:r>
          </a:p>
          <a:p>
            <a:pPr marL="0" indent="0">
              <a:buNone/>
            </a:pPr>
            <a:endParaRPr lang="en-GB" sz="1800" dirty="0"/>
          </a:p>
          <a:p>
            <a:pPr marL="0" indent="0">
              <a:buNone/>
            </a:pPr>
            <a:endParaRPr lang="en-CH" sz="1800" dirty="0"/>
          </a:p>
        </p:txBody>
      </p:sp>
      <p:sp>
        <p:nvSpPr>
          <p:cNvPr id="6" name="Slide Number Placeholder 5">
            <a:extLst>
              <a:ext uri="{FF2B5EF4-FFF2-40B4-BE49-F238E27FC236}">
                <a16:creationId xmlns:a16="http://schemas.microsoft.com/office/drawing/2014/main" id="{343A02B3-1CCD-49DA-8C22-191486F940AB}"/>
              </a:ext>
            </a:extLst>
          </p:cNvPr>
          <p:cNvSpPr>
            <a:spLocks noGrp="1"/>
          </p:cNvSpPr>
          <p:nvPr>
            <p:ph type="sldNum" sz="quarter" idx="12"/>
          </p:nvPr>
        </p:nvSpPr>
        <p:spPr>
          <a:xfrm>
            <a:off x="8613648" y="6356350"/>
            <a:ext cx="2743200" cy="365125"/>
          </a:xfrm>
        </p:spPr>
        <p:txBody>
          <a:bodyPr>
            <a:normAutofit/>
          </a:bodyPr>
          <a:lstStyle/>
          <a:p>
            <a:pPr>
              <a:spcAft>
                <a:spcPts val="600"/>
              </a:spcAft>
            </a:pPr>
            <a:fld id="{A65A5C87-DF58-40C8-B092-1DE63DB4547E}" type="slidenum">
              <a:rPr lang="en-US">
                <a:solidFill>
                  <a:schemeClr val="tx2">
                    <a:lumMod val="50000"/>
                    <a:lumOff val="50000"/>
                  </a:schemeClr>
                </a:solidFill>
              </a:rPr>
              <a:pPr>
                <a:spcAft>
                  <a:spcPts val="600"/>
                </a:spcAft>
              </a:pPr>
              <a:t>27</a:t>
            </a:fld>
            <a:endParaRPr lang="en-US">
              <a:solidFill>
                <a:schemeClr val="tx2">
                  <a:lumMod val="50000"/>
                  <a:lumOff val="50000"/>
                </a:schemeClr>
              </a:solidFill>
            </a:endParaRPr>
          </a:p>
        </p:txBody>
      </p:sp>
      <p:pic>
        <p:nvPicPr>
          <p:cNvPr id="8" name="Content Placeholder 6">
            <a:extLst>
              <a:ext uri="{FF2B5EF4-FFF2-40B4-BE49-F238E27FC236}">
                <a16:creationId xmlns:a16="http://schemas.microsoft.com/office/drawing/2014/main" id="{8E43F4BB-6079-2EA2-DA26-8F6008BC0631}"/>
              </a:ext>
            </a:extLst>
          </p:cNvPr>
          <p:cNvPicPr>
            <a:picLocks noChangeAspect="1"/>
          </p:cNvPicPr>
          <p:nvPr/>
        </p:nvPicPr>
        <p:blipFill>
          <a:blip r:embed="rId2"/>
          <a:stretch>
            <a:fillRect/>
          </a:stretch>
        </p:blipFill>
        <p:spPr>
          <a:xfrm>
            <a:off x="4988307" y="438452"/>
            <a:ext cx="2051448" cy="1664668"/>
          </a:xfrm>
          <a:prstGeom prst="rect">
            <a:avLst/>
          </a:prstGeom>
        </p:spPr>
      </p:pic>
      <p:sp>
        <p:nvSpPr>
          <p:cNvPr id="9" name="Oval 8">
            <a:extLst>
              <a:ext uri="{FF2B5EF4-FFF2-40B4-BE49-F238E27FC236}">
                <a16:creationId xmlns:a16="http://schemas.microsoft.com/office/drawing/2014/main" id="{261282D6-AA04-D774-C99D-4C9E40C9402D}"/>
              </a:ext>
            </a:extLst>
          </p:cNvPr>
          <p:cNvSpPr/>
          <p:nvPr/>
        </p:nvSpPr>
        <p:spPr>
          <a:xfrm rot="3485497">
            <a:off x="5487932" y="830710"/>
            <a:ext cx="1467950" cy="616945"/>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10" name="Picture 9">
            <a:extLst>
              <a:ext uri="{FF2B5EF4-FFF2-40B4-BE49-F238E27FC236}">
                <a16:creationId xmlns:a16="http://schemas.microsoft.com/office/drawing/2014/main" id="{5409403D-8E8F-4621-7D78-620EDA9ED989}"/>
              </a:ext>
            </a:extLst>
          </p:cNvPr>
          <p:cNvPicPr>
            <a:picLocks noChangeAspect="1"/>
          </p:cNvPicPr>
          <p:nvPr/>
        </p:nvPicPr>
        <p:blipFill>
          <a:blip r:embed="rId3"/>
          <a:stretch>
            <a:fillRect/>
          </a:stretch>
        </p:blipFill>
        <p:spPr>
          <a:xfrm>
            <a:off x="7248144" y="2081516"/>
            <a:ext cx="4894362" cy="2600130"/>
          </a:xfrm>
          <a:prstGeom prst="rect">
            <a:avLst/>
          </a:prstGeom>
        </p:spPr>
      </p:pic>
      <p:sp>
        <p:nvSpPr>
          <p:cNvPr id="7" name="TextBox 6">
            <a:extLst>
              <a:ext uri="{FF2B5EF4-FFF2-40B4-BE49-F238E27FC236}">
                <a16:creationId xmlns:a16="http://schemas.microsoft.com/office/drawing/2014/main" id="{57EC3022-FEB0-AA71-9163-340767B113E1}"/>
              </a:ext>
            </a:extLst>
          </p:cNvPr>
          <p:cNvSpPr txBox="1"/>
          <p:nvPr/>
        </p:nvSpPr>
        <p:spPr>
          <a:xfrm>
            <a:off x="736490" y="6488800"/>
            <a:ext cx="6096000" cy="261610"/>
          </a:xfrm>
          <a:prstGeom prst="rect">
            <a:avLst/>
          </a:prstGeom>
          <a:noFill/>
        </p:spPr>
        <p:txBody>
          <a:bodyPr wrap="square">
            <a:spAutoFit/>
          </a:bodyPr>
          <a:lstStyle/>
          <a:p>
            <a:r>
              <a:rPr lang="es-ES" sz="1100" dirty="0"/>
              <a:t>Herweg et al. (2021)</a:t>
            </a:r>
            <a:endParaRPr lang="en-CH" sz="1100" dirty="0"/>
          </a:p>
        </p:txBody>
      </p:sp>
    </p:spTree>
    <p:extLst>
      <p:ext uri="{BB962C8B-B14F-4D97-AF65-F5344CB8AC3E}">
        <p14:creationId xmlns:p14="http://schemas.microsoft.com/office/powerpoint/2010/main" val="11553902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CF154-B4CD-95E2-1D51-0737A466A2E4}"/>
              </a:ext>
            </a:extLst>
          </p:cNvPr>
          <p:cNvSpPr>
            <a:spLocks noGrp="1"/>
          </p:cNvSpPr>
          <p:nvPr>
            <p:ph type="title"/>
          </p:nvPr>
        </p:nvSpPr>
        <p:spPr/>
        <p:txBody>
          <a:bodyPr>
            <a:normAutofit fontScale="90000"/>
          </a:bodyPr>
          <a:lstStyle/>
          <a:p>
            <a:r>
              <a:rPr lang="de-CH" dirty="0"/>
              <a:t>Learning </a:t>
            </a:r>
            <a:r>
              <a:rPr lang="de-CH" dirty="0" err="1"/>
              <a:t>activities</a:t>
            </a:r>
            <a:r>
              <a:rPr lang="de-CH" dirty="0"/>
              <a:t> </a:t>
            </a:r>
            <a:r>
              <a:rPr lang="de-CH" dirty="0" err="1"/>
              <a:t>that</a:t>
            </a:r>
            <a:r>
              <a:rPr lang="de-CH" dirty="0"/>
              <a:t> </a:t>
            </a:r>
            <a:r>
              <a:rPr lang="de-CH" dirty="0" err="1"/>
              <a:t>foster</a:t>
            </a:r>
            <a:r>
              <a:rPr lang="de-CH" dirty="0"/>
              <a:t> SD </a:t>
            </a:r>
            <a:r>
              <a:rPr lang="de-CH" dirty="0" err="1"/>
              <a:t>competences</a:t>
            </a:r>
            <a:endParaRPr lang="en-CH" dirty="0"/>
          </a:p>
        </p:txBody>
      </p:sp>
      <p:sp>
        <p:nvSpPr>
          <p:cNvPr id="3" name="Content Placeholder 2">
            <a:extLst>
              <a:ext uri="{FF2B5EF4-FFF2-40B4-BE49-F238E27FC236}">
                <a16:creationId xmlns:a16="http://schemas.microsoft.com/office/drawing/2014/main" id="{1CF051FE-E1A0-4C9E-7901-A7ADBC9E4249}"/>
              </a:ext>
            </a:extLst>
          </p:cNvPr>
          <p:cNvSpPr>
            <a:spLocks noGrp="1"/>
          </p:cNvSpPr>
          <p:nvPr>
            <p:ph idx="1"/>
          </p:nvPr>
        </p:nvSpPr>
        <p:spPr>
          <a:xfrm>
            <a:off x="1115568" y="2478024"/>
            <a:ext cx="10680192" cy="3694176"/>
          </a:xfrm>
        </p:spPr>
        <p:txBody>
          <a:bodyPr>
            <a:normAutofit fontScale="70000" lnSpcReduction="20000"/>
          </a:bodyPr>
          <a:lstStyle/>
          <a:p>
            <a:r>
              <a:rPr lang="en-GB" b="1" dirty="0"/>
              <a:t>Dialogic strategies </a:t>
            </a:r>
            <a:r>
              <a:rPr lang="en-GB" dirty="0"/>
              <a:t>(discussion, debate, and dialogue)</a:t>
            </a:r>
          </a:p>
          <a:p>
            <a:r>
              <a:rPr lang="en-GB" b="1" dirty="0"/>
              <a:t>Critical reflection</a:t>
            </a:r>
            <a:r>
              <a:rPr lang="en-GB" dirty="0"/>
              <a:t> on locally and globally relevant issues</a:t>
            </a:r>
          </a:p>
          <a:p>
            <a:r>
              <a:rPr lang="en-GB" dirty="0"/>
              <a:t>Hypothetical and real </a:t>
            </a:r>
            <a:r>
              <a:rPr lang="en-GB" b="1" dirty="0"/>
              <a:t>cases</a:t>
            </a:r>
            <a:r>
              <a:rPr lang="en-GB" dirty="0"/>
              <a:t> (role-play and case studies, simulation).</a:t>
            </a:r>
          </a:p>
          <a:p>
            <a:r>
              <a:rPr lang="en-GB" b="1" dirty="0"/>
              <a:t>Collaboration </a:t>
            </a:r>
            <a:r>
              <a:rPr lang="en-GB" dirty="0"/>
              <a:t>on projects and tasks (group activities).</a:t>
            </a:r>
          </a:p>
          <a:p>
            <a:r>
              <a:rPr lang="en-GB" b="1" dirty="0"/>
              <a:t>Experiential learning activities </a:t>
            </a:r>
            <a:r>
              <a:rPr lang="en-GB" dirty="0"/>
              <a:t>such as community action and problem-solving</a:t>
            </a:r>
          </a:p>
          <a:p>
            <a:r>
              <a:rPr lang="en-GB" b="1" dirty="0"/>
              <a:t>Interdisciplinary</a:t>
            </a:r>
            <a:r>
              <a:rPr lang="en-GB" dirty="0"/>
              <a:t> exploration and joint problem-framing</a:t>
            </a:r>
          </a:p>
          <a:p>
            <a:r>
              <a:rPr lang="en-GB" b="1" dirty="0"/>
              <a:t>Project-based</a:t>
            </a:r>
            <a:r>
              <a:rPr lang="en-GB" dirty="0"/>
              <a:t> learning / </a:t>
            </a:r>
            <a:r>
              <a:rPr lang="en-GB" b="1" dirty="0"/>
              <a:t>Problem-based</a:t>
            </a:r>
            <a:r>
              <a:rPr lang="en-GB" dirty="0"/>
              <a:t> learning</a:t>
            </a:r>
          </a:p>
          <a:p>
            <a:r>
              <a:rPr lang="en-GB" b="1" dirty="0"/>
              <a:t>Action–research </a:t>
            </a:r>
            <a:r>
              <a:rPr lang="en-GB" dirty="0"/>
              <a:t>(a cyclical process of planning, action, observation, and reflection based on research to innovate and improve practice).</a:t>
            </a:r>
          </a:p>
          <a:p>
            <a:pPr marL="0" indent="0">
              <a:buNone/>
            </a:pPr>
            <a:endParaRPr lang="en-CH" dirty="0"/>
          </a:p>
        </p:txBody>
      </p:sp>
      <p:sp>
        <p:nvSpPr>
          <p:cNvPr id="6" name="Slide Number Placeholder 5">
            <a:extLst>
              <a:ext uri="{FF2B5EF4-FFF2-40B4-BE49-F238E27FC236}">
                <a16:creationId xmlns:a16="http://schemas.microsoft.com/office/drawing/2014/main" id="{343A02B3-1CCD-49DA-8C22-191486F940AB}"/>
              </a:ext>
            </a:extLst>
          </p:cNvPr>
          <p:cNvSpPr>
            <a:spLocks noGrp="1"/>
          </p:cNvSpPr>
          <p:nvPr>
            <p:ph type="sldNum" sz="quarter" idx="12"/>
          </p:nvPr>
        </p:nvSpPr>
        <p:spPr/>
        <p:txBody>
          <a:bodyPr/>
          <a:lstStyle/>
          <a:p>
            <a:fld id="{A65A5C87-DF58-40C8-B092-1DE63DB4547E}" type="slidenum">
              <a:rPr lang="en-US" smtClean="0"/>
              <a:t>28</a:t>
            </a:fld>
            <a:endParaRPr lang="en-US" dirty="0"/>
          </a:p>
        </p:txBody>
      </p:sp>
      <p:sp>
        <p:nvSpPr>
          <p:cNvPr id="9" name="TextBox 8">
            <a:extLst>
              <a:ext uri="{FF2B5EF4-FFF2-40B4-BE49-F238E27FC236}">
                <a16:creationId xmlns:a16="http://schemas.microsoft.com/office/drawing/2014/main" id="{3798BCBE-F557-8C4F-0E76-BA20E0C14377}"/>
              </a:ext>
            </a:extLst>
          </p:cNvPr>
          <p:cNvSpPr txBox="1"/>
          <p:nvPr/>
        </p:nvSpPr>
        <p:spPr>
          <a:xfrm>
            <a:off x="1324410" y="6309360"/>
            <a:ext cx="6096000" cy="261610"/>
          </a:xfrm>
          <a:prstGeom prst="rect">
            <a:avLst/>
          </a:prstGeom>
          <a:noFill/>
        </p:spPr>
        <p:txBody>
          <a:bodyPr wrap="square">
            <a:spAutoFit/>
          </a:bodyPr>
          <a:lstStyle/>
          <a:p>
            <a:r>
              <a:rPr lang="es-ES" sz="1100" dirty="0"/>
              <a:t>Tejedor et al. (2019)</a:t>
            </a:r>
            <a:endParaRPr lang="en-CH" sz="1100" dirty="0"/>
          </a:p>
        </p:txBody>
      </p:sp>
    </p:spTree>
    <p:extLst>
      <p:ext uri="{BB962C8B-B14F-4D97-AF65-F5344CB8AC3E}">
        <p14:creationId xmlns:p14="http://schemas.microsoft.com/office/powerpoint/2010/main" val="8516640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CF154-B4CD-95E2-1D51-0737A466A2E4}"/>
              </a:ext>
            </a:extLst>
          </p:cNvPr>
          <p:cNvSpPr>
            <a:spLocks noGrp="1"/>
          </p:cNvSpPr>
          <p:nvPr>
            <p:ph type="title"/>
          </p:nvPr>
        </p:nvSpPr>
        <p:spPr>
          <a:xfrm>
            <a:off x="841246" y="978619"/>
            <a:ext cx="5991244" cy="1106424"/>
          </a:xfrm>
        </p:spPr>
        <p:txBody>
          <a:bodyPr>
            <a:normAutofit/>
          </a:bodyPr>
          <a:lstStyle/>
          <a:p>
            <a:r>
              <a:rPr lang="de-CH" sz="3200" dirty="0"/>
              <a:t>Assessment</a:t>
            </a:r>
            <a:endParaRPr lang="en-CH" sz="3200" dirty="0"/>
          </a:p>
        </p:txBody>
      </p:sp>
      <p:sp>
        <p:nvSpPr>
          <p:cNvPr id="3" name="Content Placeholder 2">
            <a:extLst>
              <a:ext uri="{FF2B5EF4-FFF2-40B4-BE49-F238E27FC236}">
                <a16:creationId xmlns:a16="http://schemas.microsoft.com/office/drawing/2014/main" id="{1CF051FE-E1A0-4C9E-7901-A7ADBC9E4249}"/>
              </a:ext>
            </a:extLst>
          </p:cNvPr>
          <p:cNvSpPr>
            <a:spLocks noGrp="1"/>
          </p:cNvSpPr>
          <p:nvPr>
            <p:ph idx="1"/>
          </p:nvPr>
        </p:nvSpPr>
        <p:spPr>
          <a:xfrm>
            <a:off x="841248" y="2252870"/>
            <a:ext cx="5993892" cy="3560251"/>
          </a:xfrm>
        </p:spPr>
        <p:txBody>
          <a:bodyPr>
            <a:normAutofit lnSpcReduction="10000"/>
          </a:bodyPr>
          <a:lstStyle/>
          <a:p>
            <a:r>
              <a:rPr lang="en-GB" sz="2400" dirty="0"/>
              <a:t>What type of assessment will tell if students have achieved  the learning outcomes? </a:t>
            </a:r>
          </a:p>
          <a:p>
            <a:r>
              <a:rPr lang="en-GB" sz="2400" dirty="0"/>
              <a:t>The exam must be appropriate to test what was intended (validity).</a:t>
            </a:r>
          </a:p>
          <a:p>
            <a:pPr marL="0" indent="0">
              <a:buNone/>
            </a:pPr>
            <a:r>
              <a:rPr lang="en-GB" sz="2400" dirty="0"/>
              <a:t> </a:t>
            </a:r>
          </a:p>
          <a:p>
            <a:pPr marL="0" indent="0">
              <a:buNone/>
            </a:pPr>
            <a:r>
              <a:rPr lang="en-GB" sz="2400" dirty="0"/>
              <a:t>Learning outcomes, learning activities and assessment must form a unit. </a:t>
            </a:r>
          </a:p>
          <a:p>
            <a:pPr marL="0" indent="0">
              <a:buNone/>
            </a:pPr>
            <a:endParaRPr lang="en-CH" sz="1800" dirty="0"/>
          </a:p>
        </p:txBody>
      </p:sp>
      <p:sp>
        <p:nvSpPr>
          <p:cNvPr id="6" name="Slide Number Placeholder 5">
            <a:extLst>
              <a:ext uri="{FF2B5EF4-FFF2-40B4-BE49-F238E27FC236}">
                <a16:creationId xmlns:a16="http://schemas.microsoft.com/office/drawing/2014/main" id="{343A02B3-1CCD-49DA-8C22-191486F940AB}"/>
              </a:ext>
            </a:extLst>
          </p:cNvPr>
          <p:cNvSpPr>
            <a:spLocks noGrp="1"/>
          </p:cNvSpPr>
          <p:nvPr>
            <p:ph type="sldNum" sz="quarter" idx="12"/>
          </p:nvPr>
        </p:nvSpPr>
        <p:spPr>
          <a:xfrm>
            <a:off x="8613648" y="6356350"/>
            <a:ext cx="2743200" cy="365125"/>
          </a:xfrm>
        </p:spPr>
        <p:txBody>
          <a:bodyPr>
            <a:normAutofit/>
          </a:bodyPr>
          <a:lstStyle/>
          <a:p>
            <a:pPr>
              <a:spcAft>
                <a:spcPts val="600"/>
              </a:spcAft>
            </a:pPr>
            <a:fld id="{A65A5C87-DF58-40C8-B092-1DE63DB4547E}" type="slidenum">
              <a:rPr lang="en-US">
                <a:solidFill>
                  <a:schemeClr val="tx2">
                    <a:lumMod val="50000"/>
                    <a:lumOff val="50000"/>
                  </a:schemeClr>
                </a:solidFill>
              </a:rPr>
              <a:pPr>
                <a:spcAft>
                  <a:spcPts val="600"/>
                </a:spcAft>
              </a:pPr>
              <a:t>29</a:t>
            </a:fld>
            <a:endParaRPr lang="en-US">
              <a:solidFill>
                <a:schemeClr val="tx2">
                  <a:lumMod val="50000"/>
                  <a:lumOff val="50000"/>
                </a:schemeClr>
              </a:solidFill>
            </a:endParaRPr>
          </a:p>
        </p:txBody>
      </p:sp>
      <p:pic>
        <p:nvPicPr>
          <p:cNvPr id="8" name="Content Placeholder 6">
            <a:extLst>
              <a:ext uri="{FF2B5EF4-FFF2-40B4-BE49-F238E27FC236}">
                <a16:creationId xmlns:a16="http://schemas.microsoft.com/office/drawing/2014/main" id="{8E43F4BB-6079-2EA2-DA26-8F6008BC0631}"/>
              </a:ext>
            </a:extLst>
          </p:cNvPr>
          <p:cNvPicPr>
            <a:picLocks noChangeAspect="1"/>
          </p:cNvPicPr>
          <p:nvPr/>
        </p:nvPicPr>
        <p:blipFill>
          <a:blip r:embed="rId2"/>
          <a:stretch>
            <a:fillRect/>
          </a:stretch>
        </p:blipFill>
        <p:spPr>
          <a:xfrm>
            <a:off x="4988307" y="438452"/>
            <a:ext cx="2051448" cy="1664668"/>
          </a:xfrm>
          <a:prstGeom prst="rect">
            <a:avLst/>
          </a:prstGeom>
        </p:spPr>
      </p:pic>
      <p:sp>
        <p:nvSpPr>
          <p:cNvPr id="9" name="Oval 8">
            <a:extLst>
              <a:ext uri="{FF2B5EF4-FFF2-40B4-BE49-F238E27FC236}">
                <a16:creationId xmlns:a16="http://schemas.microsoft.com/office/drawing/2014/main" id="{261282D6-AA04-D774-C99D-4C9E40C9402D}"/>
              </a:ext>
            </a:extLst>
          </p:cNvPr>
          <p:cNvSpPr/>
          <p:nvPr/>
        </p:nvSpPr>
        <p:spPr>
          <a:xfrm>
            <a:off x="5596552" y="1541930"/>
            <a:ext cx="1467950" cy="616945"/>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7" name="Picture 6">
            <a:extLst>
              <a:ext uri="{FF2B5EF4-FFF2-40B4-BE49-F238E27FC236}">
                <a16:creationId xmlns:a16="http://schemas.microsoft.com/office/drawing/2014/main" id="{1ABFD4A7-A28B-574A-952B-71E484FE15F3}"/>
              </a:ext>
            </a:extLst>
          </p:cNvPr>
          <p:cNvPicPr>
            <a:picLocks noChangeAspect="1"/>
          </p:cNvPicPr>
          <p:nvPr/>
        </p:nvPicPr>
        <p:blipFill>
          <a:blip r:embed="rId3"/>
          <a:stretch>
            <a:fillRect/>
          </a:stretch>
        </p:blipFill>
        <p:spPr>
          <a:xfrm>
            <a:off x="7397410" y="1847850"/>
            <a:ext cx="4600575" cy="3162300"/>
          </a:xfrm>
          <a:prstGeom prst="rect">
            <a:avLst/>
          </a:prstGeom>
        </p:spPr>
      </p:pic>
      <p:sp>
        <p:nvSpPr>
          <p:cNvPr id="10" name="TextBox 9">
            <a:extLst>
              <a:ext uri="{FF2B5EF4-FFF2-40B4-BE49-F238E27FC236}">
                <a16:creationId xmlns:a16="http://schemas.microsoft.com/office/drawing/2014/main" id="{F1AA1386-6373-BD59-C681-0B771B4E3ED9}"/>
              </a:ext>
            </a:extLst>
          </p:cNvPr>
          <p:cNvSpPr txBox="1"/>
          <p:nvPr/>
        </p:nvSpPr>
        <p:spPr>
          <a:xfrm>
            <a:off x="877458" y="6474544"/>
            <a:ext cx="6096000" cy="261610"/>
          </a:xfrm>
          <a:prstGeom prst="rect">
            <a:avLst/>
          </a:prstGeom>
          <a:noFill/>
        </p:spPr>
        <p:txBody>
          <a:bodyPr wrap="square">
            <a:spAutoFit/>
          </a:bodyPr>
          <a:lstStyle/>
          <a:p>
            <a:r>
              <a:rPr lang="es-ES" sz="1100" dirty="0"/>
              <a:t>Herweg et al. (2021)</a:t>
            </a:r>
            <a:endParaRPr lang="en-CH" sz="1100" dirty="0"/>
          </a:p>
        </p:txBody>
      </p:sp>
    </p:spTree>
    <p:extLst>
      <p:ext uri="{BB962C8B-B14F-4D97-AF65-F5344CB8AC3E}">
        <p14:creationId xmlns:p14="http://schemas.microsoft.com/office/powerpoint/2010/main" val="19716496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CF154-B4CD-95E2-1D51-0737A466A2E4}"/>
              </a:ext>
            </a:extLst>
          </p:cNvPr>
          <p:cNvSpPr>
            <a:spLocks noGrp="1"/>
          </p:cNvSpPr>
          <p:nvPr>
            <p:ph type="title"/>
          </p:nvPr>
        </p:nvSpPr>
        <p:spPr/>
        <p:txBody>
          <a:bodyPr/>
          <a:lstStyle/>
          <a:p>
            <a:r>
              <a:rPr lang="de-CH" dirty="0"/>
              <a:t>Assessment </a:t>
            </a:r>
            <a:r>
              <a:rPr lang="de-CH" dirty="0" err="1"/>
              <a:t>formats</a:t>
            </a:r>
            <a:endParaRPr lang="en-CH" dirty="0" err="1"/>
          </a:p>
        </p:txBody>
      </p:sp>
      <p:sp>
        <p:nvSpPr>
          <p:cNvPr id="3" name="Content Placeholder 2">
            <a:extLst>
              <a:ext uri="{FF2B5EF4-FFF2-40B4-BE49-F238E27FC236}">
                <a16:creationId xmlns:a16="http://schemas.microsoft.com/office/drawing/2014/main" id="{1CF051FE-E1A0-4C9E-7901-A7ADBC9E4249}"/>
              </a:ext>
            </a:extLst>
          </p:cNvPr>
          <p:cNvSpPr>
            <a:spLocks noGrp="1"/>
          </p:cNvSpPr>
          <p:nvPr>
            <p:ph idx="1"/>
          </p:nvPr>
        </p:nvSpPr>
        <p:spPr>
          <a:xfrm>
            <a:off x="603504" y="2305304"/>
            <a:ext cx="10680192" cy="3694176"/>
          </a:xfrm>
        </p:spPr>
        <p:txBody>
          <a:bodyPr vert="horz" lIns="91440" tIns="45720" rIns="91440" bIns="45720" rtlCol="0" anchor="t">
            <a:noAutofit/>
          </a:bodyPr>
          <a:lstStyle/>
          <a:p>
            <a:pPr marL="0" indent="0">
              <a:buNone/>
            </a:pPr>
            <a:r>
              <a:rPr lang="en-GB" sz="1850" b="1" dirty="0"/>
              <a:t>Solve tasks</a:t>
            </a:r>
            <a:r>
              <a:rPr lang="en-GB" sz="1850" dirty="0"/>
              <a:t>: Students are given a task and are expected to complete it using the correct method</a:t>
            </a:r>
          </a:p>
          <a:p>
            <a:pPr marL="0" indent="0">
              <a:buNone/>
            </a:pPr>
            <a:r>
              <a:rPr lang="en-GB" sz="1850" b="1" dirty="0"/>
              <a:t>Explain / define terms</a:t>
            </a:r>
            <a:r>
              <a:rPr lang="en-GB" sz="1850" dirty="0"/>
              <a:t>: Terminology must be paraphrased in students’ own words.</a:t>
            </a:r>
          </a:p>
          <a:p>
            <a:pPr marL="0" indent="0">
              <a:buNone/>
            </a:pPr>
            <a:r>
              <a:rPr lang="en-GB" sz="1850" b="1" dirty="0"/>
              <a:t>Working on cases and problems</a:t>
            </a:r>
            <a:r>
              <a:rPr lang="en-GB" sz="1850" dirty="0"/>
              <a:t>: present real or constructed cases in order to outline the problem-solving process and find a professionally adequate solution. Case studies are used to integrate partly authentic situations into everyday teaching, so that students without professional experience can acquire and apply knowledge to practical cases.</a:t>
            </a:r>
          </a:p>
          <a:p>
            <a:pPr marL="0" indent="0">
              <a:buNone/>
            </a:pPr>
            <a:r>
              <a:rPr lang="en-GB" sz="1850" b="1" dirty="0"/>
              <a:t>Write essays, papers, technical texts</a:t>
            </a:r>
            <a:r>
              <a:rPr lang="en-GB" sz="1850" dirty="0"/>
              <a:t>: Work on a research question according to scientific criteria and document it in a written paper.</a:t>
            </a:r>
          </a:p>
          <a:p>
            <a:pPr marL="0" indent="0">
              <a:buNone/>
            </a:pPr>
            <a:r>
              <a:rPr lang="en-GB" sz="1850" b="1" dirty="0"/>
              <a:t>Write comments, summaries, reviews, statements </a:t>
            </a:r>
            <a:r>
              <a:rPr lang="en-GB" sz="1850" dirty="0"/>
              <a:t>(on books, articles, websites, programmes, etc.)</a:t>
            </a:r>
          </a:p>
          <a:p>
            <a:pPr marL="0" indent="0">
              <a:buNone/>
            </a:pPr>
            <a:r>
              <a:rPr lang="en-GB" sz="1850" dirty="0"/>
              <a:t>….</a:t>
            </a:r>
          </a:p>
        </p:txBody>
      </p:sp>
      <p:sp>
        <p:nvSpPr>
          <p:cNvPr id="6" name="Slide Number Placeholder 5">
            <a:extLst>
              <a:ext uri="{FF2B5EF4-FFF2-40B4-BE49-F238E27FC236}">
                <a16:creationId xmlns:a16="http://schemas.microsoft.com/office/drawing/2014/main" id="{343A02B3-1CCD-49DA-8C22-191486F940AB}"/>
              </a:ext>
            </a:extLst>
          </p:cNvPr>
          <p:cNvSpPr>
            <a:spLocks noGrp="1"/>
          </p:cNvSpPr>
          <p:nvPr>
            <p:ph type="sldNum" sz="quarter" idx="12"/>
          </p:nvPr>
        </p:nvSpPr>
        <p:spPr/>
        <p:txBody>
          <a:bodyPr/>
          <a:lstStyle/>
          <a:p>
            <a:fld id="{A65A5C87-DF58-40C8-B092-1DE63DB4547E}" type="slidenum">
              <a:rPr lang="en-US" smtClean="0"/>
              <a:t>30</a:t>
            </a:fld>
            <a:endParaRPr lang="en-US" dirty="0"/>
          </a:p>
        </p:txBody>
      </p:sp>
      <p:sp>
        <p:nvSpPr>
          <p:cNvPr id="8" name="TextBox 7">
            <a:extLst>
              <a:ext uri="{FF2B5EF4-FFF2-40B4-BE49-F238E27FC236}">
                <a16:creationId xmlns:a16="http://schemas.microsoft.com/office/drawing/2014/main" id="{AAA2F0FB-F3E7-46D0-EAD3-E3BCB22F7B11}"/>
              </a:ext>
            </a:extLst>
          </p:cNvPr>
          <p:cNvSpPr txBox="1"/>
          <p:nvPr/>
        </p:nvSpPr>
        <p:spPr>
          <a:xfrm>
            <a:off x="1284936" y="6413698"/>
            <a:ext cx="6096000" cy="261610"/>
          </a:xfrm>
          <a:prstGeom prst="rect">
            <a:avLst/>
          </a:prstGeom>
          <a:noFill/>
        </p:spPr>
        <p:txBody>
          <a:bodyPr wrap="square">
            <a:spAutoFit/>
          </a:bodyPr>
          <a:lstStyle/>
          <a:p>
            <a:r>
              <a:rPr lang="es-ES" sz="1100" dirty="0"/>
              <a:t>Herweg et al. (2021)</a:t>
            </a:r>
            <a:endParaRPr lang="en-CH" sz="1100" dirty="0"/>
          </a:p>
        </p:txBody>
      </p:sp>
    </p:spTree>
    <p:extLst>
      <p:ext uri="{BB962C8B-B14F-4D97-AF65-F5344CB8AC3E}">
        <p14:creationId xmlns:p14="http://schemas.microsoft.com/office/powerpoint/2010/main" val="41918403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CF154-B4CD-95E2-1D51-0737A466A2E4}"/>
              </a:ext>
            </a:extLst>
          </p:cNvPr>
          <p:cNvSpPr>
            <a:spLocks noGrp="1"/>
          </p:cNvSpPr>
          <p:nvPr>
            <p:ph type="title"/>
          </p:nvPr>
        </p:nvSpPr>
        <p:spPr/>
        <p:txBody>
          <a:bodyPr/>
          <a:lstStyle/>
          <a:p>
            <a:r>
              <a:rPr lang="de-CH" dirty="0"/>
              <a:t>Assessment </a:t>
            </a:r>
            <a:r>
              <a:rPr lang="de-CH" dirty="0" err="1"/>
              <a:t>functions</a:t>
            </a:r>
            <a:endParaRPr lang="en-CH" dirty="0" err="1"/>
          </a:p>
        </p:txBody>
      </p:sp>
      <p:sp>
        <p:nvSpPr>
          <p:cNvPr id="3" name="Content Placeholder 2">
            <a:extLst>
              <a:ext uri="{FF2B5EF4-FFF2-40B4-BE49-F238E27FC236}">
                <a16:creationId xmlns:a16="http://schemas.microsoft.com/office/drawing/2014/main" id="{1CF051FE-E1A0-4C9E-7901-A7ADBC9E4249}"/>
              </a:ext>
            </a:extLst>
          </p:cNvPr>
          <p:cNvSpPr>
            <a:spLocks noGrp="1"/>
          </p:cNvSpPr>
          <p:nvPr>
            <p:ph idx="1"/>
          </p:nvPr>
        </p:nvSpPr>
        <p:spPr>
          <a:xfrm>
            <a:off x="603504" y="2305304"/>
            <a:ext cx="10680192" cy="3694176"/>
          </a:xfrm>
        </p:spPr>
        <p:txBody>
          <a:bodyPr>
            <a:normAutofit/>
          </a:bodyPr>
          <a:lstStyle/>
          <a:p>
            <a:pPr marL="0" indent="0">
              <a:buNone/>
            </a:pPr>
            <a:r>
              <a:rPr lang="en-GB" sz="1800" b="1" dirty="0"/>
              <a:t>Formative Function </a:t>
            </a:r>
            <a:r>
              <a:rPr lang="en-GB" sz="1800" dirty="0"/>
              <a:t>– during the course / module</a:t>
            </a:r>
          </a:p>
          <a:p>
            <a:r>
              <a:rPr lang="en-GB" sz="1800" dirty="0"/>
              <a:t>To determine the learner’s current position</a:t>
            </a:r>
          </a:p>
          <a:p>
            <a:r>
              <a:rPr lang="en-GB" sz="1800" dirty="0"/>
              <a:t>Learners get feedback on their current level based on the results of the learning assessment. </a:t>
            </a:r>
          </a:p>
          <a:p>
            <a:r>
              <a:rPr lang="en-GB" sz="1800" dirty="0"/>
              <a:t>The results help to draw conclusions for the next learning steps. </a:t>
            </a:r>
          </a:p>
          <a:p>
            <a:pPr marL="0" indent="0">
              <a:buNone/>
            </a:pPr>
            <a:r>
              <a:rPr lang="en-GB" sz="1800" b="1" dirty="0"/>
              <a:t>Summative Function</a:t>
            </a:r>
            <a:r>
              <a:rPr lang="en-GB" sz="1800" dirty="0"/>
              <a:t> – at the end of the course / module / …</a:t>
            </a:r>
          </a:p>
          <a:p>
            <a:r>
              <a:rPr lang="en-GB" sz="1800" dirty="0"/>
              <a:t>Concludes a course, a unit, a module or an entire degree programme. </a:t>
            </a:r>
          </a:p>
          <a:p>
            <a:r>
              <a:rPr lang="en-GB" sz="1800" dirty="0"/>
              <a:t>The result "counts". Based on their results learners are graded or receive a certificate for the successful achievement. </a:t>
            </a:r>
          </a:p>
          <a:p>
            <a:pPr marL="0" indent="0">
              <a:buNone/>
            </a:pPr>
            <a:endParaRPr lang="en-GB" sz="1800" dirty="0"/>
          </a:p>
        </p:txBody>
      </p:sp>
      <p:sp>
        <p:nvSpPr>
          <p:cNvPr id="6" name="Slide Number Placeholder 5">
            <a:extLst>
              <a:ext uri="{FF2B5EF4-FFF2-40B4-BE49-F238E27FC236}">
                <a16:creationId xmlns:a16="http://schemas.microsoft.com/office/drawing/2014/main" id="{343A02B3-1CCD-49DA-8C22-191486F940AB}"/>
              </a:ext>
            </a:extLst>
          </p:cNvPr>
          <p:cNvSpPr>
            <a:spLocks noGrp="1"/>
          </p:cNvSpPr>
          <p:nvPr>
            <p:ph type="sldNum" sz="quarter" idx="12"/>
          </p:nvPr>
        </p:nvSpPr>
        <p:spPr/>
        <p:txBody>
          <a:bodyPr/>
          <a:lstStyle/>
          <a:p>
            <a:fld id="{A65A5C87-DF58-40C8-B092-1DE63DB4547E}" type="slidenum">
              <a:rPr lang="en-US" smtClean="0"/>
              <a:t>31</a:t>
            </a:fld>
            <a:endParaRPr lang="en-US" dirty="0"/>
          </a:p>
        </p:txBody>
      </p:sp>
      <p:sp>
        <p:nvSpPr>
          <p:cNvPr id="8" name="TextBox 7">
            <a:extLst>
              <a:ext uri="{FF2B5EF4-FFF2-40B4-BE49-F238E27FC236}">
                <a16:creationId xmlns:a16="http://schemas.microsoft.com/office/drawing/2014/main" id="{F2B3B2F6-ACF8-D0E8-1164-B4C406848F3C}"/>
              </a:ext>
            </a:extLst>
          </p:cNvPr>
          <p:cNvSpPr txBox="1"/>
          <p:nvPr/>
        </p:nvSpPr>
        <p:spPr>
          <a:xfrm>
            <a:off x="731483" y="6445763"/>
            <a:ext cx="6096000" cy="261610"/>
          </a:xfrm>
          <a:prstGeom prst="rect">
            <a:avLst/>
          </a:prstGeom>
          <a:noFill/>
        </p:spPr>
        <p:txBody>
          <a:bodyPr wrap="square">
            <a:spAutoFit/>
          </a:bodyPr>
          <a:lstStyle/>
          <a:p>
            <a:r>
              <a:rPr lang="es-ES" sz="1100" dirty="0"/>
              <a:t>Herweg et al. (2021)</a:t>
            </a:r>
            <a:endParaRPr lang="en-CH" sz="1100" dirty="0"/>
          </a:p>
        </p:txBody>
      </p:sp>
    </p:spTree>
    <p:extLst>
      <p:ext uri="{BB962C8B-B14F-4D97-AF65-F5344CB8AC3E}">
        <p14:creationId xmlns:p14="http://schemas.microsoft.com/office/powerpoint/2010/main" val="14311222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r>
              <a:rPr lang="en-US" dirty="0"/>
              <a:t>Examples of Constructive Alignment</a:t>
            </a: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lstStyle/>
          <a:p>
            <a:pPr marL="0" marR="0" lvl="0" indent="0" algn="ctr"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9600" b="0" i="0" u="none" strike="noStrike" kern="1200" cap="none" spc="0" normalizeH="0" baseline="0" noProof="0" dirty="0">
                <a:ln>
                  <a:noFill/>
                </a:ln>
                <a:solidFill>
                  <a:prstClr val="white"/>
                </a:solidFill>
                <a:effectLst/>
                <a:uLnTx/>
                <a:uFillTx/>
                <a:latin typeface="Avenir Next LT Pro"/>
                <a:ea typeface="+mn-ea"/>
                <a:cs typeface="+mn-cs"/>
              </a:rPr>
              <a:t>3</a:t>
            </a:r>
          </a:p>
          <a:p>
            <a:endParaRPr lang="en-US" dirty="0"/>
          </a:p>
        </p:txBody>
      </p:sp>
    </p:spTree>
    <p:extLst>
      <p:ext uri="{BB962C8B-B14F-4D97-AF65-F5344CB8AC3E}">
        <p14:creationId xmlns:p14="http://schemas.microsoft.com/office/powerpoint/2010/main" val="18577442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CF154-B4CD-95E2-1D51-0737A466A2E4}"/>
              </a:ext>
            </a:extLst>
          </p:cNvPr>
          <p:cNvSpPr>
            <a:spLocks noGrp="1"/>
          </p:cNvSpPr>
          <p:nvPr>
            <p:ph type="title"/>
          </p:nvPr>
        </p:nvSpPr>
        <p:spPr>
          <a:xfrm>
            <a:off x="5359510" y="978619"/>
            <a:ext cx="5991244" cy="1106424"/>
          </a:xfrm>
        </p:spPr>
        <p:txBody>
          <a:bodyPr>
            <a:normAutofit/>
          </a:bodyPr>
          <a:lstStyle/>
          <a:p>
            <a:r>
              <a:rPr lang="de-CH" sz="3200" dirty="0" err="1"/>
              <a:t>Examples</a:t>
            </a:r>
            <a:r>
              <a:rPr lang="de-CH" sz="3200" dirty="0"/>
              <a:t> </a:t>
            </a:r>
            <a:r>
              <a:rPr lang="de-CH" sz="3200" dirty="0" err="1"/>
              <a:t>of</a:t>
            </a:r>
            <a:r>
              <a:rPr lang="de-CH" sz="3200" dirty="0"/>
              <a:t> </a:t>
            </a:r>
            <a:r>
              <a:rPr lang="de-CH" sz="3200" dirty="0" err="1"/>
              <a:t>Constructive</a:t>
            </a:r>
            <a:r>
              <a:rPr lang="de-CH" sz="3200" dirty="0"/>
              <a:t> Alignment</a:t>
            </a:r>
            <a:endParaRPr lang="en-CH" sz="3200" dirty="0"/>
          </a:p>
        </p:txBody>
      </p:sp>
      <p:pic>
        <p:nvPicPr>
          <p:cNvPr id="7" name="Picture 6">
            <a:extLst>
              <a:ext uri="{FF2B5EF4-FFF2-40B4-BE49-F238E27FC236}">
                <a16:creationId xmlns:a16="http://schemas.microsoft.com/office/drawing/2014/main" id="{CF57E2C6-B3E9-D08D-3AFD-356D796E4714}"/>
              </a:ext>
            </a:extLst>
          </p:cNvPr>
          <p:cNvPicPr>
            <a:picLocks noChangeAspect="1"/>
          </p:cNvPicPr>
          <p:nvPr/>
        </p:nvPicPr>
        <p:blipFill>
          <a:blip r:embed="rId2"/>
          <a:stretch>
            <a:fillRect/>
          </a:stretch>
        </p:blipFill>
        <p:spPr>
          <a:xfrm>
            <a:off x="660477" y="1112801"/>
            <a:ext cx="3659682" cy="4234239"/>
          </a:xfrm>
          <a:prstGeom prst="rect">
            <a:avLst/>
          </a:prstGeom>
        </p:spPr>
      </p:pic>
      <p:sp>
        <p:nvSpPr>
          <p:cNvPr id="3" name="Content Placeholder 2">
            <a:extLst>
              <a:ext uri="{FF2B5EF4-FFF2-40B4-BE49-F238E27FC236}">
                <a16:creationId xmlns:a16="http://schemas.microsoft.com/office/drawing/2014/main" id="{1CF051FE-E1A0-4C9E-7901-A7ADBC9E4249}"/>
              </a:ext>
            </a:extLst>
          </p:cNvPr>
          <p:cNvSpPr>
            <a:spLocks noGrp="1"/>
          </p:cNvSpPr>
          <p:nvPr>
            <p:ph idx="1"/>
          </p:nvPr>
        </p:nvSpPr>
        <p:spPr>
          <a:xfrm>
            <a:off x="5356861" y="2252870"/>
            <a:ext cx="5993892" cy="3560251"/>
          </a:xfrm>
        </p:spPr>
        <p:txBody>
          <a:bodyPr>
            <a:normAutofit/>
          </a:bodyPr>
          <a:lstStyle/>
          <a:p>
            <a:pPr>
              <a:lnSpc>
                <a:spcPct val="100000"/>
              </a:lnSpc>
            </a:pPr>
            <a:endParaRPr lang="en-GB" sz="1500" dirty="0"/>
          </a:p>
          <a:p>
            <a:pPr>
              <a:lnSpc>
                <a:spcPct val="100000"/>
              </a:lnSpc>
            </a:pPr>
            <a:r>
              <a:rPr lang="en-GB" sz="2400" dirty="0"/>
              <a:t>Land degradation</a:t>
            </a:r>
            <a:endParaRPr lang="de-CH" sz="2400" dirty="0"/>
          </a:p>
          <a:p>
            <a:pPr>
              <a:lnSpc>
                <a:spcPct val="100000"/>
              </a:lnSpc>
            </a:pPr>
            <a:r>
              <a:rPr lang="de-CH" sz="2400" dirty="0"/>
              <a:t>Urban </a:t>
            </a:r>
            <a:r>
              <a:rPr lang="de-CH" sz="2400" dirty="0" err="1"/>
              <a:t>migration</a:t>
            </a:r>
            <a:endParaRPr lang="de-CH" sz="2400" dirty="0"/>
          </a:p>
          <a:p>
            <a:pPr marL="0" indent="0">
              <a:lnSpc>
                <a:spcPct val="100000"/>
              </a:lnSpc>
              <a:buNone/>
            </a:pPr>
            <a:endParaRPr lang="en-CH" sz="1500" dirty="0"/>
          </a:p>
        </p:txBody>
      </p:sp>
      <p:sp>
        <p:nvSpPr>
          <p:cNvPr id="6" name="Slide Number Placeholder 5">
            <a:extLst>
              <a:ext uri="{FF2B5EF4-FFF2-40B4-BE49-F238E27FC236}">
                <a16:creationId xmlns:a16="http://schemas.microsoft.com/office/drawing/2014/main" id="{343A02B3-1CCD-49DA-8C22-191486F940AB}"/>
              </a:ext>
            </a:extLst>
          </p:cNvPr>
          <p:cNvSpPr>
            <a:spLocks noGrp="1"/>
          </p:cNvSpPr>
          <p:nvPr>
            <p:ph type="sldNum" sz="quarter" idx="12"/>
          </p:nvPr>
        </p:nvSpPr>
        <p:spPr>
          <a:xfrm>
            <a:off x="8613648" y="6356350"/>
            <a:ext cx="2743200" cy="365125"/>
          </a:xfrm>
        </p:spPr>
        <p:txBody>
          <a:bodyPr>
            <a:normAutofit/>
          </a:bodyPr>
          <a:lstStyle/>
          <a:p>
            <a:pPr>
              <a:spcAft>
                <a:spcPts val="600"/>
              </a:spcAft>
            </a:pPr>
            <a:fld id="{A65A5C87-DF58-40C8-B092-1DE63DB4547E}" type="slidenum">
              <a:rPr lang="en-US">
                <a:solidFill>
                  <a:schemeClr val="tx2">
                    <a:lumMod val="50000"/>
                    <a:lumOff val="50000"/>
                  </a:schemeClr>
                </a:solidFill>
              </a:rPr>
              <a:pPr>
                <a:spcAft>
                  <a:spcPts val="600"/>
                </a:spcAft>
              </a:pPr>
              <a:t>33</a:t>
            </a:fld>
            <a:endParaRPr lang="en-US">
              <a:solidFill>
                <a:schemeClr val="tx2">
                  <a:lumMod val="50000"/>
                  <a:lumOff val="50000"/>
                </a:schemeClr>
              </a:solidFill>
            </a:endParaRPr>
          </a:p>
        </p:txBody>
      </p:sp>
    </p:spTree>
    <p:extLst>
      <p:ext uri="{BB962C8B-B14F-4D97-AF65-F5344CB8AC3E}">
        <p14:creationId xmlns:p14="http://schemas.microsoft.com/office/powerpoint/2010/main" val="28012370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9744CFBF-9F31-4616-7C10-7692CA456F51}"/>
              </a:ext>
            </a:extLst>
          </p:cNvPr>
          <p:cNvPicPr>
            <a:picLocks noGrp="1" noChangeAspect="1"/>
          </p:cNvPicPr>
          <p:nvPr>
            <p:ph idx="1"/>
          </p:nvPr>
        </p:nvPicPr>
        <p:blipFill rotWithShape="1">
          <a:blip r:embed="rId2"/>
          <a:srcRect l="18701" r="9905" b="1"/>
          <a:stretch/>
        </p:blipFill>
        <p:spPr>
          <a:xfrm>
            <a:off x="8529321" y="10"/>
            <a:ext cx="3662680" cy="3401558"/>
          </a:xfrm>
          <a:custGeom>
            <a:avLst/>
            <a:gdLst/>
            <a:ahLst/>
            <a:cxnLst/>
            <a:rect l="l" t="t" r="r" b="b"/>
            <a:pathLst>
              <a:path w="3662680" h="3401568">
                <a:moveTo>
                  <a:pt x="0" y="0"/>
                </a:moveTo>
                <a:lnTo>
                  <a:pt x="3662680" y="0"/>
                </a:lnTo>
                <a:lnTo>
                  <a:pt x="3662680" y="3401568"/>
                </a:lnTo>
                <a:lnTo>
                  <a:pt x="774527" y="3401568"/>
                </a:lnTo>
                <a:lnTo>
                  <a:pt x="769892" y="3133175"/>
                </a:lnTo>
                <a:cubicBezTo>
                  <a:pt x="732577" y="2055441"/>
                  <a:pt x="492520" y="1056020"/>
                  <a:pt x="104445" y="215033"/>
                </a:cubicBezTo>
                <a:close/>
              </a:path>
            </a:pathLst>
          </a:custGeom>
        </p:spPr>
      </p:pic>
      <p:pic>
        <p:nvPicPr>
          <p:cNvPr id="9" name="Picture 8">
            <a:extLst>
              <a:ext uri="{FF2B5EF4-FFF2-40B4-BE49-F238E27FC236}">
                <a16:creationId xmlns:a16="http://schemas.microsoft.com/office/drawing/2014/main" id="{DC9F3F39-0AFA-013A-34F7-0FAEDB4AC7F6}"/>
              </a:ext>
            </a:extLst>
          </p:cNvPr>
          <p:cNvPicPr>
            <a:picLocks noChangeAspect="1"/>
          </p:cNvPicPr>
          <p:nvPr/>
        </p:nvPicPr>
        <p:blipFill rotWithShape="1">
          <a:blip r:embed="rId3"/>
          <a:srcRect l="8892" r="1825" b="3"/>
          <a:stretch/>
        </p:blipFill>
        <p:spPr>
          <a:xfrm>
            <a:off x="5115314" y="10"/>
            <a:ext cx="4118110" cy="3401558"/>
          </a:xfrm>
          <a:custGeom>
            <a:avLst/>
            <a:gdLst/>
            <a:ahLst/>
            <a:cxnLst/>
            <a:rect l="l" t="t" r="r" b="b"/>
            <a:pathLst>
              <a:path w="4118110" h="3401568">
                <a:moveTo>
                  <a:pt x="0" y="0"/>
                </a:moveTo>
                <a:lnTo>
                  <a:pt x="3343575" y="0"/>
                </a:lnTo>
                <a:lnTo>
                  <a:pt x="3448028" y="215050"/>
                </a:lnTo>
                <a:cubicBezTo>
                  <a:pt x="3836103" y="1056037"/>
                  <a:pt x="4076161" y="2055458"/>
                  <a:pt x="4113475" y="3133192"/>
                </a:cubicBezTo>
                <a:lnTo>
                  <a:pt x="4118110" y="3401568"/>
                </a:lnTo>
                <a:lnTo>
                  <a:pt x="801224" y="3401568"/>
                </a:lnTo>
                <a:lnTo>
                  <a:pt x="797493" y="3185579"/>
                </a:lnTo>
                <a:cubicBezTo>
                  <a:pt x="756786" y="2009870"/>
                  <a:pt x="474799" y="927359"/>
                  <a:pt x="22579" y="42066"/>
                </a:cubicBezTo>
                <a:close/>
              </a:path>
            </a:pathLst>
          </a:custGeom>
        </p:spPr>
      </p:pic>
      <p:pic>
        <p:nvPicPr>
          <p:cNvPr id="8" name="Picture 7">
            <a:extLst>
              <a:ext uri="{FF2B5EF4-FFF2-40B4-BE49-F238E27FC236}">
                <a16:creationId xmlns:a16="http://schemas.microsoft.com/office/drawing/2014/main" id="{C01083CE-90CE-B524-1D12-D8D189F27EB0}"/>
              </a:ext>
            </a:extLst>
          </p:cNvPr>
          <p:cNvPicPr>
            <a:picLocks noChangeAspect="1"/>
          </p:cNvPicPr>
          <p:nvPr/>
        </p:nvPicPr>
        <p:blipFill rotWithShape="1">
          <a:blip r:embed="rId4"/>
          <a:srcRect t="27173" r="-1" b="-1"/>
          <a:stretch/>
        </p:blipFill>
        <p:spPr>
          <a:xfrm>
            <a:off x="5168353" y="3456432"/>
            <a:ext cx="7023646" cy="3401568"/>
          </a:xfrm>
          <a:custGeom>
            <a:avLst/>
            <a:gdLst/>
            <a:ahLst/>
            <a:cxnLst/>
            <a:rect l="l" t="t" r="r" b="b"/>
            <a:pathLst>
              <a:path w="7023646" h="3401568">
                <a:moveTo>
                  <a:pt x="749132" y="0"/>
                </a:moveTo>
                <a:lnTo>
                  <a:pt x="7023646" y="0"/>
                </a:lnTo>
                <a:lnTo>
                  <a:pt x="7023646" y="3401568"/>
                </a:lnTo>
                <a:lnTo>
                  <a:pt x="0" y="3401568"/>
                </a:lnTo>
                <a:lnTo>
                  <a:pt x="79008" y="3238906"/>
                </a:lnTo>
                <a:cubicBezTo>
                  <a:pt x="502362" y="2321466"/>
                  <a:pt x="749563" y="1215476"/>
                  <a:pt x="749563" y="24956"/>
                </a:cubicBezTo>
                <a:close/>
              </a:path>
            </a:pathLst>
          </a:custGeom>
        </p:spPr>
      </p:pic>
      <p:sp>
        <p:nvSpPr>
          <p:cNvPr id="2" name="Title 1">
            <a:extLst>
              <a:ext uri="{FF2B5EF4-FFF2-40B4-BE49-F238E27FC236}">
                <a16:creationId xmlns:a16="http://schemas.microsoft.com/office/drawing/2014/main" id="{5BCE6A1A-7E83-2A26-F944-52D4B29C0989}"/>
              </a:ext>
            </a:extLst>
          </p:cNvPr>
          <p:cNvSpPr>
            <a:spLocks noGrp="1"/>
          </p:cNvSpPr>
          <p:nvPr>
            <p:ph type="title"/>
          </p:nvPr>
        </p:nvSpPr>
        <p:spPr>
          <a:xfrm>
            <a:off x="438912" y="1527048"/>
            <a:ext cx="5020056" cy="2770632"/>
          </a:xfrm>
        </p:spPr>
        <p:txBody>
          <a:bodyPr vert="horz" lIns="91440" tIns="45720" rIns="91440" bIns="45720" rtlCol="0" anchor="b">
            <a:normAutofit/>
          </a:bodyPr>
          <a:lstStyle/>
          <a:p>
            <a:r>
              <a:rPr lang="en-US" sz="5400" dirty="0"/>
              <a:t>Example 1: Land degradation</a:t>
            </a:r>
          </a:p>
        </p:txBody>
      </p:sp>
      <p:sp>
        <p:nvSpPr>
          <p:cNvPr id="5" name="Footer Placeholder 4">
            <a:extLst>
              <a:ext uri="{FF2B5EF4-FFF2-40B4-BE49-F238E27FC236}">
                <a16:creationId xmlns:a16="http://schemas.microsoft.com/office/drawing/2014/main" id="{3506FFB3-C9C8-D27C-26B8-38B2F9D84D08}"/>
              </a:ext>
            </a:extLst>
          </p:cNvPr>
          <p:cNvSpPr>
            <a:spLocks noGrp="1"/>
          </p:cNvSpPr>
          <p:nvPr>
            <p:ph type="ftr" sz="quarter" idx="11"/>
          </p:nvPr>
        </p:nvSpPr>
        <p:spPr>
          <a:xfrm>
            <a:off x="5924550" y="6356350"/>
            <a:ext cx="4114800" cy="365125"/>
          </a:xfrm>
        </p:spPr>
        <p:txBody>
          <a:bodyPr vert="horz" lIns="91440" tIns="45720" rIns="91440" bIns="45720" rtlCol="0" anchor="ctr">
            <a:normAutofit/>
          </a:bodyPr>
          <a:lstStyle/>
          <a:p>
            <a:pPr algn="l">
              <a:spcAft>
                <a:spcPts val="600"/>
              </a:spcAft>
            </a:pPr>
            <a:r>
              <a:rPr lang="en-US" kern="1200">
                <a:solidFill>
                  <a:schemeClr val="bg1"/>
                </a:solidFill>
                <a:latin typeface="+mn-lt"/>
                <a:ea typeface="+mn-ea"/>
                <a:cs typeface="+mn-cs"/>
              </a:rPr>
              <a:t>Presentation Title</a:t>
            </a:r>
          </a:p>
        </p:txBody>
      </p:sp>
      <p:sp>
        <p:nvSpPr>
          <p:cNvPr id="6" name="Slide Number Placeholder 5">
            <a:extLst>
              <a:ext uri="{FF2B5EF4-FFF2-40B4-BE49-F238E27FC236}">
                <a16:creationId xmlns:a16="http://schemas.microsoft.com/office/drawing/2014/main" id="{FBD39606-4185-76E0-782E-5C756BE59826}"/>
              </a:ext>
            </a:extLst>
          </p:cNvPr>
          <p:cNvSpPr>
            <a:spLocks noGrp="1"/>
          </p:cNvSpPr>
          <p:nvPr>
            <p:ph type="sldNum" sz="quarter" idx="12"/>
          </p:nvPr>
        </p:nvSpPr>
        <p:spPr>
          <a:xfrm>
            <a:off x="10635488" y="6356350"/>
            <a:ext cx="1117600" cy="365125"/>
          </a:xfrm>
        </p:spPr>
        <p:txBody>
          <a:bodyPr vert="horz" lIns="91440" tIns="45720" rIns="91440" bIns="45720" rtlCol="0" anchor="ctr">
            <a:normAutofit/>
          </a:bodyPr>
          <a:lstStyle/>
          <a:p>
            <a:pPr>
              <a:spcAft>
                <a:spcPts val="600"/>
              </a:spcAft>
            </a:pPr>
            <a:fld id="{A65A5C87-DF58-40C8-B092-1DE63DB4547E}" type="slidenum">
              <a:rPr lang="en-US">
                <a:solidFill>
                  <a:schemeClr val="bg1"/>
                </a:solidFill>
              </a:rPr>
              <a:pPr>
                <a:spcAft>
                  <a:spcPts val="600"/>
                </a:spcAft>
              </a:pPr>
              <a:t>34</a:t>
            </a:fld>
            <a:endParaRPr lang="en-US">
              <a:solidFill>
                <a:schemeClr val="bg1"/>
              </a:solidFill>
            </a:endParaRPr>
          </a:p>
        </p:txBody>
      </p:sp>
    </p:spTree>
    <p:extLst>
      <p:ext uri="{BB962C8B-B14F-4D97-AF65-F5344CB8AC3E}">
        <p14:creationId xmlns:p14="http://schemas.microsoft.com/office/powerpoint/2010/main" val="41542884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E6A1A-7E83-2A26-F944-52D4B29C0989}"/>
              </a:ext>
            </a:extLst>
          </p:cNvPr>
          <p:cNvSpPr>
            <a:spLocks noGrp="1"/>
          </p:cNvSpPr>
          <p:nvPr>
            <p:ph type="title"/>
          </p:nvPr>
        </p:nvSpPr>
        <p:spPr/>
        <p:txBody>
          <a:bodyPr/>
          <a:lstStyle/>
          <a:p>
            <a:r>
              <a:rPr lang="de-CH" dirty="0" err="1"/>
              <a:t>Example</a:t>
            </a:r>
            <a:r>
              <a:rPr lang="de-CH" dirty="0"/>
              <a:t> 1: Land </a:t>
            </a:r>
            <a:r>
              <a:rPr lang="de-CH" dirty="0" err="1"/>
              <a:t>degradation</a:t>
            </a:r>
            <a:endParaRPr lang="en-CH" dirty="0"/>
          </a:p>
        </p:txBody>
      </p:sp>
      <p:sp>
        <p:nvSpPr>
          <p:cNvPr id="6" name="Slide Number Placeholder 5">
            <a:extLst>
              <a:ext uri="{FF2B5EF4-FFF2-40B4-BE49-F238E27FC236}">
                <a16:creationId xmlns:a16="http://schemas.microsoft.com/office/drawing/2014/main" id="{FBD39606-4185-76E0-782E-5C756BE59826}"/>
              </a:ext>
            </a:extLst>
          </p:cNvPr>
          <p:cNvSpPr>
            <a:spLocks noGrp="1"/>
          </p:cNvSpPr>
          <p:nvPr>
            <p:ph type="sldNum" sz="quarter" idx="12"/>
          </p:nvPr>
        </p:nvSpPr>
        <p:spPr/>
        <p:txBody>
          <a:bodyPr/>
          <a:lstStyle/>
          <a:p>
            <a:fld id="{A65A5C87-DF58-40C8-B092-1DE63DB4547E}" type="slidenum">
              <a:rPr lang="en-US" smtClean="0"/>
              <a:t>35</a:t>
            </a:fld>
            <a:endParaRPr lang="en-US" dirty="0"/>
          </a:p>
        </p:txBody>
      </p:sp>
      <p:graphicFrame>
        <p:nvGraphicFramePr>
          <p:cNvPr id="10" name="Content Placeholder 9">
            <a:extLst>
              <a:ext uri="{FF2B5EF4-FFF2-40B4-BE49-F238E27FC236}">
                <a16:creationId xmlns:a16="http://schemas.microsoft.com/office/drawing/2014/main" id="{930019BD-0432-4B46-E914-40ABD43A0400}"/>
              </a:ext>
            </a:extLst>
          </p:cNvPr>
          <p:cNvGraphicFramePr>
            <a:graphicFrameLocks noGrp="1"/>
          </p:cNvGraphicFramePr>
          <p:nvPr>
            <p:ph idx="1"/>
          </p:nvPr>
        </p:nvGraphicFramePr>
        <p:xfrm>
          <a:off x="671513" y="2439988"/>
          <a:ext cx="10167936" cy="3418840"/>
        </p:xfrm>
        <a:graphic>
          <a:graphicData uri="http://schemas.openxmlformats.org/drawingml/2006/table">
            <a:tbl>
              <a:tblPr firstRow="1" bandRow="1">
                <a:tableStyleId>{5C22544A-7EE6-4342-B048-85BDC9FD1C3A}</a:tableStyleId>
              </a:tblPr>
              <a:tblGrid>
                <a:gridCol w="1398587">
                  <a:extLst>
                    <a:ext uri="{9D8B030D-6E8A-4147-A177-3AD203B41FA5}">
                      <a16:colId xmlns:a16="http://schemas.microsoft.com/office/drawing/2014/main" val="4007466891"/>
                    </a:ext>
                  </a:extLst>
                </a:gridCol>
                <a:gridCol w="3098800">
                  <a:extLst>
                    <a:ext uri="{9D8B030D-6E8A-4147-A177-3AD203B41FA5}">
                      <a16:colId xmlns:a16="http://schemas.microsoft.com/office/drawing/2014/main" val="2249003727"/>
                    </a:ext>
                  </a:extLst>
                </a:gridCol>
                <a:gridCol w="2781300">
                  <a:extLst>
                    <a:ext uri="{9D8B030D-6E8A-4147-A177-3AD203B41FA5}">
                      <a16:colId xmlns:a16="http://schemas.microsoft.com/office/drawing/2014/main" val="3233396364"/>
                    </a:ext>
                  </a:extLst>
                </a:gridCol>
                <a:gridCol w="2889249">
                  <a:extLst>
                    <a:ext uri="{9D8B030D-6E8A-4147-A177-3AD203B41FA5}">
                      <a16:colId xmlns:a16="http://schemas.microsoft.com/office/drawing/2014/main" val="721771155"/>
                    </a:ext>
                  </a:extLst>
                </a:gridCol>
              </a:tblGrid>
              <a:tr h="370840">
                <a:tc>
                  <a:txBody>
                    <a:bodyPr/>
                    <a:lstStyle/>
                    <a:p>
                      <a:endParaRPr lang="en-CH" sz="1200" dirty="0"/>
                    </a:p>
                  </a:txBody>
                  <a:tcPr/>
                </a:tc>
                <a:tc>
                  <a:txBody>
                    <a:bodyPr/>
                    <a:lstStyle/>
                    <a:p>
                      <a:pPr algn="ctr"/>
                      <a:r>
                        <a:rPr lang="de-CH" sz="1200" dirty="0"/>
                        <a:t>Environment</a:t>
                      </a:r>
                      <a:endParaRPr lang="en-CH" sz="1200" dirty="0"/>
                    </a:p>
                  </a:txBody>
                  <a:tcPr/>
                </a:tc>
                <a:tc>
                  <a:txBody>
                    <a:bodyPr/>
                    <a:lstStyle/>
                    <a:p>
                      <a:pPr algn="ctr"/>
                      <a:r>
                        <a:rPr lang="de-CH" sz="1200" dirty="0"/>
                        <a:t>Society</a:t>
                      </a:r>
                      <a:endParaRPr lang="en-CH" sz="1200" dirty="0"/>
                    </a:p>
                  </a:txBody>
                  <a:tcPr/>
                </a:tc>
                <a:tc>
                  <a:txBody>
                    <a:bodyPr/>
                    <a:lstStyle/>
                    <a:p>
                      <a:pPr algn="ctr"/>
                      <a:r>
                        <a:rPr lang="de-CH" sz="1200" dirty="0"/>
                        <a:t>Economy</a:t>
                      </a:r>
                      <a:endParaRPr lang="en-CH" sz="1200" dirty="0"/>
                    </a:p>
                  </a:txBody>
                  <a:tcPr/>
                </a:tc>
                <a:extLst>
                  <a:ext uri="{0D108BD9-81ED-4DB2-BD59-A6C34878D82A}">
                    <a16:rowId xmlns:a16="http://schemas.microsoft.com/office/drawing/2014/main" val="960173387"/>
                  </a:ext>
                </a:extLst>
              </a:tr>
              <a:tr h="370840">
                <a:tc>
                  <a:txBody>
                    <a:bodyPr/>
                    <a:lstStyle/>
                    <a:p>
                      <a:endParaRPr lang="en-CH" sz="1200" dirty="0"/>
                    </a:p>
                  </a:txBody>
                  <a:tcPr/>
                </a:tc>
                <a:tc>
                  <a:txBody>
                    <a:bodyPr/>
                    <a:lstStyle/>
                    <a:p>
                      <a:r>
                        <a:rPr lang="en-GB" sz="1100" i="1" dirty="0"/>
                        <a:t>Natural resources (as the basis of livelihoods), climate change, energy</a:t>
                      </a:r>
                    </a:p>
                    <a:p>
                      <a:r>
                        <a:rPr lang="en-GB" sz="1100" i="1" dirty="0"/>
                        <a:t>consumption, waste production</a:t>
                      </a:r>
                    </a:p>
                    <a:p>
                      <a:r>
                        <a:rPr lang="en-GB" sz="1100" i="1" dirty="0"/>
                        <a:t>and recycling, …</a:t>
                      </a:r>
                      <a:endParaRPr lang="en-CH" sz="1100" i="1" dirty="0"/>
                    </a:p>
                  </a:txBody>
                  <a:tcPr/>
                </a:tc>
                <a:tc>
                  <a:txBody>
                    <a:bodyPr/>
                    <a:lstStyle/>
                    <a:p>
                      <a:r>
                        <a:rPr lang="en-GB" sz="1100" i="1" dirty="0"/>
                        <a:t>Independence / dependencies of individuals, societal structures, inclusive development, migration, knowledge, education, health, well-being, …</a:t>
                      </a:r>
                      <a:endParaRPr lang="en-CH" sz="1100" i="1" dirty="0"/>
                    </a:p>
                  </a:txBody>
                  <a:tcPr/>
                </a:tc>
                <a:tc>
                  <a:txBody>
                    <a:bodyPr/>
                    <a:lstStyle/>
                    <a:p>
                      <a:r>
                        <a:rPr lang="de-CH" sz="1100" b="0" i="1" u="none" strike="noStrike" kern="1200" baseline="0" dirty="0">
                          <a:solidFill>
                            <a:schemeClr val="dk1"/>
                          </a:solidFill>
                          <a:latin typeface="+mn-lt"/>
                          <a:ea typeface="+mn-ea"/>
                          <a:cs typeface="+mn-cs"/>
                        </a:rPr>
                        <a:t>Livelihoods, </a:t>
                      </a:r>
                      <a:r>
                        <a:rPr lang="de-CH" sz="1100" b="0" i="1" u="none" strike="noStrike" kern="1200" baseline="0" dirty="0" err="1">
                          <a:solidFill>
                            <a:schemeClr val="dk1"/>
                          </a:solidFill>
                          <a:latin typeface="+mn-lt"/>
                          <a:ea typeface="+mn-ea"/>
                          <a:cs typeface="+mn-cs"/>
                        </a:rPr>
                        <a:t>poverty</a:t>
                      </a:r>
                      <a:r>
                        <a:rPr lang="de-CH" sz="1100" b="0" i="1" u="none" strike="noStrike" kern="1200" baseline="0" dirty="0">
                          <a:solidFill>
                            <a:schemeClr val="dk1"/>
                          </a:solidFill>
                          <a:latin typeface="+mn-lt"/>
                          <a:ea typeface="+mn-ea"/>
                          <a:cs typeface="+mn-cs"/>
                        </a:rPr>
                        <a:t>, </a:t>
                      </a:r>
                      <a:r>
                        <a:rPr lang="de-CH" sz="1100" b="0" i="1" u="none" strike="noStrike" kern="1200" baseline="0" dirty="0" err="1">
                          <a:solidFill>
                            <a:schemeClr val="dk1"/>
                          </a:solidFill>
                          <a:latin typeface="+mn-lt"/>
                          <a:ea typeface="+mn-ea"/>
                          <a:cs typeface="+mn-cs"/>
                        </a:rPr>
                        <a:t>future</a:t>
                      </a:r>
                      <a:r>
                        <a:rPr lang="de-CH" sz="1100" b="0" i="1" u="none" strike="noStrike" kern="1200" baseline="0" dirty="0">
                          <a:solidFill>
                            <a:schemeClr val="dk1"/>
                          </a:solidFill>
                          <a:latin typeface="+mn-lt"/>
                          <a:ea typeface="+mn-ea"/>
                          <a:cs typeface="+mn-cs"/>
                        </a:rPr>
                        <a:t> </a:t>
                      </a:r>
                      <a:r>
                        <a:rPr lang="de-CH" sz="1100" b="0" i="1" u="none" strike="noStrike" kern="1200" baseline="0" dirty="0" err="1">
                          <a:solidFill>
                            <a:schemeClr val="dk1"/>
                          </a:solidFill>
                          <a:latin typeface="+mn-lt"/>
                          <a:ea typeface="+mn-ea"/>
                          <a:cs typeface="+mn-cs"/>
                        </a:rPr>
                        <a:t>of</a:t>
                      </a:r>
                      <a:r>
                        <a:rPr lang="de-CH" sz="1100" b="0" i="1" u="none" strike="noStrike" kern="1200" baseline="0" dirty="0">
                          <a:solidFill>
                            <a:schemeClr val="dk1"/>
                          </a:solidFill>
                          <a:latin typeface="+mn-lt"/>
                          <a:ea typeface="+mn-ea"/>
                          <a:cs typeface="+mn-cs"/>
                        </a:rPr>
                        <a:t> </a:t>
                      </a:r>
                      <a:r>
                        <a:rPr lang="de-CH" sz="1100" b="0" i="1" u="none" strike="noStrike" kern="1200" baseline="0" dirty="0" err="1">
                          <a:solidFill>
                            <a:schemeClr val="dk1"/>
                          </a:solidFill>
                          <a:latin typeface="+mn-lt"/>
                          <a:ea typeface="+mn-ea"/>
                          <a:cs typeface="+mn-cs"/>
                        </a:rPr>
                        <a:t>labour</a:t>
                      </a:r>
                      <a:r>
                        <a:rPr lang="de-CH" sz="1100" b="0" i="1" u="none" strike="noStrike" kern="1200" baseline="0" dirty="0">
                          <a:solidFill>
                            <a:schemeClr val="dk1"/>
                          </a:solidFill>
                          <a:latin typeface="+mn-lt"/>
                          <a:ea typeface="+mn-ea"/>
                          <a:cs typeface="+mn-cs"/>
                        </a:rPr>
                        <a:t>, </a:t>
                      </a:r>
                      <a:r>
                        <a:rPr lang="de-CH" sz="1100" b="0" i="1" u="none" strike="noStrike" kern="1200" baseline="0" dirty="0" err="1">
                          <a:solidFill>
                            <a:schemeClr val="dk1"/>
                          </a:solidFill>
                          <a:latin typeface="+mn-lt"/>
                          <a:ea typeface="+mn-ea"/>
                          <a:cs typeface="+mn-cs"/>
                        </a:rPr>
                        <a:t>inequalities</a:t>
                      </a:r>
                      <a:r>
                        <a:rPr lang="de-CH" sz="1100" b="0" i="1" u="none" strike="noStrike" kern="1200" baseline="0" dirty="0">
                          <a:solidFill>
                            <a:schemeClr val="dk1"/>
                          </a:solidFill>
                          <a:latin typeface="+mn-lt"/>
                          <a:ea typeface="+mn-ea"/>
                          <a:cs typeface="+mn-cs"/>
                        </a:rPr>
                        <a:t>, </a:t>
                      </a:r>
                      <a:r>
                        <a:rPr lang="de-CH" sz="1100" b="0" i="1" u="none" strike="noStrike" kern="1200" baseline="0" dirty="0" err="1">
                          <a:solidFill>
                            <a:schemeClr val="dk1"/>
                          </a:solidFill>
                          <a:latin typeface="+mn-lt"/>
                          <a:ea typeface="+mn-ea"/>
                          <a:cs typeface="+mn-cs"/>
                        </a:rPr>
                        <a:t>migration</a:t>
                      </a:r>
                      <a:r>
                        <a:rPr lang="de-CH" sz="1100" b="0" i="1" u="none" strike="noStrike" kern="1200" baseline="0" dirty="0">
                          <a:solidFill>
                            <a:schemeClr val="dk1"/>
                          </a:solidFill>
                          <a:latin typeface="+mn-lt"/>
                          <a:ea typeface="+mn-ea"/>
                          <a:cs typeface="+mn-cs"/>
                        </a:rPr>
                        <a:t>, </a:t>
                      </a:r>
                      <a:r>
                        <a:rPr lang="de-CH" sz="1100" b="0" i="1" u="none" strike="noStrike" kern="1200" baseline="0" dirty="0" err="1">
                          <a:solidFill>
                            <a:schemeClr val="dk1"/>
                          </a:solidFill>
                          <a:latin typeface="+mn-lt"/>
                          <a:ea typeface="+mn-ea"/>
                          <a:cs typeface="+mn-cs"/>
                        </a:rPr>
                        <a:t>economic</a:t>
                      </a:r>
                      <a:r>
                        <a:rPr lang="de-CH" sz="1100" b="0" i="1" u="none" strike="noStrike" kern="1200" baseline="0" dirty="0">
                          <a:solidFill>
                            <a:schemeClr val="dk1"/>
                          </a:solidFill>
                          <a:latin typeface="+mn-lt"/>
                          <a:ea typeface="+mn-ea"/>
                          <a:cs typeface="+mn-cs"/>
                        </a:rPr>
                        <a:t> &amp; </a:t>
                      </a:r>
                      <a:r>
                        <a:rPr lang="de-CH" sz="1100" b="0" i="1" u="none" strike="noStrike" kern="1200" baseline="0" dirty="0" err="1">
                          <a:solidFill>
                            <a:schemeClr val="dk1"/>
                          </a:solidFill>
                          <a:latin typeface="+mn-lt"/>
                          <a:ea typeface="+mn-ea"/>
                          <a:cs typeface="+mn-cs"/>
                        </a:rPr>
                        <a:t>political</a:t>
                      </a:r>
                      <a:r>
                        <a:rPr lang="de-CH" sz="1100" b="0" i="1" u="none" strike="noStrike" kern="1200" baseline="0" dirty="0">
                          <a:solidFill>
                            <a:schemeClr val="dk1"/>
                          </a:solidFill>
                          <a:latin typeface="+mn-lt"/>
                          <a:ea typeface="+mn-ea"/>
                          <a:cs typeface="+mn-cs"/>
                        </a:rPr>
                        <a:t> power </a:t>
                      </a:r>
                      <a:r>
                        <a:rPr lang="de-CH" sz="1100" b="0" i="1" u="none" strike="noStrike" kern="1200" baseline="0" dirty="0" err="1">
                          <a:solidFill>
                            <a:schemeClr val="dk1"/>
                          </a:solidFill>
                          <a:latin typeface="+mn-lt"/>
                          <a:ea typeface="+mn-ea"/>
                          <a:cs typeface="+mn-cs"/>
                        </a:rPr>
                        <a:t>relations</a:t>
                      </a:r>
                      <a:r>
                        <a:rPr lang="de-CH" sz="1100" b="0" i="1" u="none" strike="noStrike" kern="1200" baseline="0" dirty="0">
                          <a:solidFill>
                            <a:schemeClr val="dk1"/>
                          </a:solidFill>
                          <a:latin typeface="+mn-lt"/>
                          <a:ea typeface="+mn-ea"/>
                          <a:cs typeface="+mn-cs"/>
                        </a:rPr>
                        <a:t>, </a:t>
                      </a:r>
                      <a:r>
                        <a:rPr lang="de-CH" sz="1100" b="0" i="1" u="none" strike="noStrike" kern="1200" baseline="0" dirty="0" err="1">
                          <a:solidFill>
                            <a:schemeClr val="dk1"/>
                          </a:solidFill>
                          <a:latin typeface="+mn-lt"/>
                          <a:ea typeface="+mn-ea"/>
                          <a:cs typeface="+mn-cs"/>
                        </a:rPr>
                        <a:t>globalization</a:t>
                      </a:r>
                      <a:r>
                        <a:rPr lang="de-CH" sz="1100" b="0" i="1" u="none" strike="noStrike" kern="1200" baseline="0" dirty="0">
                          <a:solidFill>
                            <a:schemeClr val="dk1"/>
                          </a:solidFill>
                          <a:latin typeface="+mn-lt"/>
                          <a:ea typeface="+mn-ea"/>
                          <a:cs typeface="+mn-cs"/>
                        </a:rPr>
                        <a:t>, …</a:t>
                      </a:r>
                      <a:endParaRPr lang="en-CH" sz="1100" i="1" dirty="0"/>
                    </a:p>
                  </a:txBody>
                  <a:tcPr/>
                </a:tc>
                <a:extLst>
                  <a:ext uri="{0D108BD9-81ED-4DB2-BD59-A6C34878D82A}">
                    <a16:rowId xmlns:a16="http://schemas.microsoft.com/office/drawing/2014/main" val="3310205983"/>
                  </a:ext>
                </a:extLst>
              </a:tr>
              <a:tr h="370840">
                <a:tc>
                  <a:txBody>
                    <a:bodyPr/>
                    <a:lstStyle/>
                    <a:p>
                      <a:r>
                        <a:rPr lang="de-CH" sz="1800" b="1" dirty="0"/>
                        <a:t>Topics</a:t>
                      </a:r>
                    </a:p>
                    <a:p>
                      <a:endParaRPr lang="en-CH" sz="1200" b="1" dirty="0"/>
                    </a:p>
                  </a:txBody>
                  <a:tcPr anchor="ctr"/>
                </a:tc>
                <a:tc>
                  <a:txBody>
                    <a:bodyPr/>
                    <a:lstStyle/>
                    <a:p>
                      <a:r>
                        <a:rPr lang="de-CH" sz="1800" dirty="0"/>
                        <a:t>Depletion </a:t>
                      </a:r>
                      <a:r>
                        <a:rPr lang="de-CH" sz="1800" dirty="0" err="1"/>
                        <a:t>of</a:t>
                      </a:r>
                      <a:r>
                        <a:rPr lang="de-CH" sz="1800" dirty="0"/>
                        <a:t> </a:t>
                      </a:r>
                      <a:r>
                        <a:rPr lang="de-CH" sz="1800" dirty="0" err="1"/>
                        <a:t>natural</a:t>
                      </a:r>
                      <a:r>
                        <a:rPr lang="de-CH" sz="1800" dirty="0"/>
                        <a:t> </a:t>
                      </a:r>
                      <a:r>
                        <a:rPr lang="de-CH" sz="1800" dirty="0" err="1"/>
                        <a:t>resources</a:t>
                      </a:r>
                      <a:r>
                        <a:rPr lang="de-CH" sz="1800" dirty="0"/>
                        <a:t> (</a:t>
                      </a:r>
                      <a:r>
                        <a:rPr lang="de-CH" sz="1800" dirty="0" err="1"/>
                        <a:t>soil</a:t>
                      </a:r>
                      <a:r>
                        <a:rPr lang="de-CH" sz="1800" dirty="0"/>
                        <a:t> </a:t>
                      </a:r>
                      <a:r>
                        <a:rPr lang="de-CH" sz="1800" dirty="0" err="1"/>
                        <a:t>fertility</a:t>
                      </a:r>
                      <a:r>
                        <a:rPr lang="de-CH" sz="1800" dirty="0"/>
                        <a:t>, </a:t>
                      </a:r>
                      <a:r>
                        <a:rPr lang="de-CH" sz="1800" dirty="0" err="1"/>
                        <a:t>water</a:t>
                      </a:r>
                      <a:r>
                        <a:rPr lang="de-CH" sz="1800" dirty="0"/>
                        <a:t> </a:t>
                      </a:r>
                      <a:r>
                        <a:rPr lang="de-CH" sz="1800" dirty="0" err="1"/>
                        <a:t>quality</a:t>
                      </a:r>
                      <a:r>
                        <a:rPr lang="de-CH" sz="1800" dirty="0"/>
                        <a:t>, </a:t>
                      </a:r>
                      <a:r>
                        <a:rPr lang="de-CH" sz="1800" dirty="0" err="1"/>
                        <a:t>biodiversity</a:t>
                      </a:r>
                      <a:r>
                        <a:rPr lang="de-CH" sz="1800" dirty="0"/>
                        <a:t>), </a:t>
                      </a:r>
                      <a:r>
                        <a:rPr lang="de-CH" sz="1800" dirty="0" err="1"/>
                        <a:t>loss</a:t>
                      </a:r>
                      <a:r>
                        <a:rPr lang="de-CH" sz="1800" dirty="0"/>
                        <a:t> </a:t>
                      </a:r>
                      <a:r>
                        <a:rPr lang="de-CH" sz="1800" dirty="0" err="1"/>
                        <a:t>of</a:t>
                      </a:r>
                      <a:r>
                        <a:rPr lang="de-CH" sz="1800" dirty="0"/>
                        <a:t> </a:t>
                      </a:r>
                      <a:r>
                        <a:rPr lang="de-CH" sz="1800" dirty="0" err="1"/>
                        <a:t>ecosystem</a:t>
                      </a:r>
                      <a:r>
                        <a:rPr lang="de-CH" sz="1800" dirty="0"/>
                        <a:t> </a:t>
                      </a:r>
                      <a:r>
                        <a:rPr lang="de-CH" sz="1800" dirty="0" err="1"/>
                        <a:t>services</a:t>
                      </a:r>
                      <a:r>
                        <a:rPr lang="de-CH" sz="1800" dirty="0"/>
                        <a:t>, </a:t>
                      </a:r>
                      <a:r>
                        <a:rPr lang="de-CH" sz="1800" dirty="0" err="1"/>
                        <a:t>soil</a:t>
                      </a:r>
                      <a:r>
                        <a:rPr lang="de-CH" sz="1800" dirty="0"/>
                        <a:t> </a:t>
                      </a:r>
                      <a:r>
                        <a:rPr lang="de-CH" sz="1800" dirty="0" err="1"/>
                        <a:t>erosion</a:t>
                      </a:r>
                      <a:r>
                        <a:rPr lang="de-CH" sz="1800" dirty="0"/>
                        <a:t>, </a:t>
                      </a:r>
                      <a:r>
                        <a:rPr lang="de-CH" sz="1800" dirty="0" err="1"/>
                        <a:t>increased</a:t>
                      </a:r>
                      <a:r>
                        <a:rPr lang="de-CH" sz="1800" dirty="0"/>
                        <a:t> </a:t>
                      </a:r>
                      <a:r>
                        <a:rPr lang="de-CH" sz="1800" dirty="0" err="1"/>
                        <a:t>temperatures</a:t>
                      </a:r>
                      <a:r>
                        <a:rPr lang="de-CH" sz="1800" dirty="0"/>
                        <a:t>, ….</a:t>
                      </a:r>
                      <a:endParaRPr lang="en-CH" sz="1800" dirty="0"/>
                    </a:p>
                  </a:txBody>
                  <a:tcPr/>
                </a:tc>
                <a:tc>
                  <a:txBody>
                    <a:bodyPr/>
                    <a:lstStyle/>
                    <a:p>
                      <a:r>
                        <a:rPr lang="en-GB" sz="1800" dirty="0"/>
                        <a:t>Influence on land tenure systems, migration patterns, and access to resources, leading to potential conflicts within communities, …</a:t>
                      </a:r>
                      <a:endParaRPr lang="en-CH" sz="1800" dirty="0"/>
                    </a:p>
                  </a:txBody>
                  <a:tcPr/>
                </a:tc>
                <a:tc>
                  <a:txBody>
                    <a:bodyPr/>
                    <a:lstStyle/>
                    <a:p>
                      <a:r>
                        <a:rPr lang="en-GB" sz="1800" dirty="0"/>
                        <a:t>Contributes to poverty by reducing agricultural productivity and income, driving migration, shift in power dynamics (particularly in the context of trade and resource extraction), …</a:t>
                      </a:r>
                      <a:endParaRPr lang="en-CH" sz="1800" dirty="0"/>
                    </a:p>
                  </a:txBody>
                  <a:tcPr/>
                </a:tc>
                <a:extLst>
                  <a:ext uri="{0D108BD9-81ED-4DB2-BD59-A6C34878D82A}">
                    <a16:rowId xmlns:a16="http://schemas.microsoft.com/office/drawing/2014/main" val="55650827"/>
                  </a:ext>
                </a:extLst>
              </a:tr>
            </a:tbl>
          </a:graphicData>
        </a:graphic>
      </p:graphicFrame>
      <p:pic>
        <p:nvPicPr>
          <p:cNvPr id="11" name="Picture 10">
            <a:extLst>
              <a:ext uri="{FF2B5EF4-FFF2-40B4-BE49-F238E27FC236}">
                <a16:creationId xmlns:a16="http://schemas.microsoft.com/office/drawing/2014/main" id="{5629AD08-375A-9589-1437-3632FA30D018}"/>
              </a:ext>
            </a:extLst>
          </p:cNvPr>
          <p:cNvPicPr>
            <a:picLocks noChangeAspect="1"/>
          </p:cNvPicPr>
          <p:nvPr/>
        </p:nvPicPr>
        <p:blipFill>
          <a:blip r:embed="rId2"/>
          <a:stretch>
            <a:fillRect/>
          </a:stretch>
        </p:blipFill>
        <p:spPr>
          <a:xfrm>
            <a:off x="10534010" y="473057"/>
            <a:ext cx="1084843" cy="1255159"/>
          </a:xfrm>
          <a:prstGeom prst="rect">
            <a:avLst/>
          </a:prstGeom>
        </p:spPr>
      </p:pic>
    </p:spTree>
    <p:extLst>
      <p:ext uri="{BB962C8B-B14F-4D97-AF65-F5344CB8AC3E}">
        <p14:creationId xmlns:p14="http://schemas.microsoft.com/office/powerpoint/2010/main" val="5136718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E6A1A-7E83-2A26-F944-52D4B29C0989}"/>
              </a:ext>
            </a:extLst>
          </p:cNvPr>
          <p:cNvSpPr>
            <a:spLocks noGrp="1"/>
          </p:cNvSpPr>
          <p:nvPr>
            <p:ph type="title"/>
          </p:nvPr>
        </p:nvSpPr>
        <p:spPr/>
        <p:txBody>
          <a:bodyPr/>
          <a:lstStyle/>
          <a:p>
            <a:r>
              <a:rPr lang="de-CH" dirty="0" err="1"/>
              <a:t>Example</a:t>
            </a:r>
            <a:r>
              <a:rPr lang="de-CH" dirty="0"/>
              <a:t> 1: Land </a:t>
            </a:r>
            <a:r>
              <a:rPr lang="de-CH" dirty="0" err="1"/>
              <a:t>degradation</a:t>
            </a:r>
            <a:endParaRPr lang="en-CH" dirty="0"/>
          </a:p>
        </p:txBody>
      </p:sp>
      <p:sp>
        <p:nvSpPr>
          <p:cNvPr id="6" name="Slide Number Placeholder 5">
            <a:extLst>
              <a:ext uri="{FF2B5EF4-FFF2-40B4-BE49-F238E27FC236}">
                <a16:creationId xmlns:a16="http://schemas.microsoft.com/office/drawing/2014/main" id="{FBD39606-4185-76E0-782E-5C756BE59826}"/>
              </a:ext>
            </a:extLst>
          </p:cNvPr>
          <p:cNvSpPr>
            <a:spLocks noGrp="1"/>
          </p:cNvSpPr>
          <p:nvPr>
            <p:ph type="sldNum" sz="quarter" idx="12"/>
          </p:nvPr>
        </p:nvSpPr>
        <p:spPr/>
        <p:txBody>
          <a:bodyPr/>
          <a:lstStyle/>
          <a:p>
            <a:fld id="{A65A5C87-DF58-40C8-B092-1DE63DB4547E}" type="slidenum">
              <a:rPr lang="en-US" smtClean="0"/>
              <a:t>36</a:t>
            </a:fld>
            <a:endParaRPr lang="en-US" dirty="0"/>
          </a:p>
        </p:txBody>
      </p:sp>
      <p:graphicFrame>
        <p:nvGraphicFramePr>
          <p:cNvPr id="5" name="Table 4">
            <a:extLst>
              <a:ext uri="{FF2B5EF4-FFF2-40B4-BE49-F238E27FC236}">
                <a16:creationId xmlns:a16="http://schemas.microsoft.com/office/drawing/2014/main" id="{20701F9F-5870-432A-D726-B5F86787FF59}"/>
              </a:ext>
            </a:extLst>
          </p:cNvPr>
          <p:cNvGraphicFramePr>
            <a:graphicFrameLocks noGrp="1"/>
          </p:cNvGraphicFramePr>
          <p:nvPr>
            <p:extLst>
              <p:ext uri="{D42A27DB-BD31-4B8C-83A1-F6EECF244321}">
                <p14:modId xmlns:p14="http://schemas.microsoft.com/office/powerpoint/2010/main" val="798454115"/>
              </p:ext>
            </p:extLst>
          </p:nvPr>
        </p:nvGraphicFramePr>
        <p:xfrm>
          <a:off x="672548" y="2083435"/>
          <a:ext cx="10611148" cy="4638040"/>
        </p:xfrm>
        <a:graphic>
          <a:graphicData uri="http://schemas.openxmlformats.org/drawingml/2006/table">
            <a:tbl>
              <a:tblPr firstRow="1" bandRow="1">
                <a:tableStyleId>{21E4AEA4-8DFA-4A89-87EB-49C32662AFE0}</a:tableStyleId>
              </a:tblPr>
              <a:tblGrid>
                <a:gridCol w="2152948">
                  <a:extLst>
                    <a:ext uri="{9D8B030D-6E8A-4147-A177-3AD203B41FA5}">
                      <a16:colId xmlns:a16="http://schemas.microsoft.com/office/drawing/2014/main" val="2440231449"/>
                    </a:ext>
                  </a:extLst>
                </a:gridCol>
                <a:gridCol w="2981739">
                  <a:extLst>
                    <a:ext uri="{9D8B030D-6E8A-4147-A177-3AD203B41FA5}">
                      <a16:colId xmlns:a16="http://schemas.microsoft.com/office/drawing/2014/main" val="1766221134"/>
                    </a:ext>
                  </a:extLst>
                </a:gridCol>
                <a:gridCol w="2097157">
                  <a:extLst>
                    <a:ext uri="{9D8B030D-6E8A-4147-A177-3AD203B41FA5}">
                      <a16:colId xmlns:a16="http://schemas.microsoft.com/office/drawing/2014/main" val="3364810584"/>
                    </a:ext>
                  </a:extLst>
                </a:gridCol>
                <a:gridCol w="3379304">
                  <a:extLst>
                    <a:ext uri="{9D8B030D-6E8A-4147-A177-3AD203B41FA5}">
                      <a16:colId xmlns:a16="http://schemas.microsoft.com/office/drawing/2014/main" val="2106778571"/>
                    </a:ext>
                  </a:extLst>
                </a:gridCol>
              </a:tblGrid>
              <a:tr h="370840">
                <a:tc>
                  <a:txBody>
                    <a:bodyPr/>
                    <a:lstStyle/>
                    <a:p>
                      <a:endParaRPr lang="en-CH" dirty="0"/>
                    </a:p>
                  </a:txBody>
                  <a:tcPr/>
                </a:tc>
                <a:tc>
                  <a:txBody>
                    <a:bodyPr/>
                    <a:lstStyle/>
                    <a:p>
                      <a:pPr algn="ctr"/>
                      <a:r>
                        <a:rPr lang="de-CH" sz="2400" dirty="0"/>
                        <a:t>Knowledge</a:t>
                      </a:r>
                      <a:endParaRPr lang="en-CH" dirty="0"/>
                    </a:p>
                  </a:txBody>
                  <a:tcPr/>
                </a:tc>
                <a:tc>
                  <a:txBody>
                    <a:bodyPr/>
                    <a:lstStyle/>
                    <a:p>
                      <a:pPr algn="ctr"/>
                      <a:r>
                        <a:rPr lang="de-CH" sz="2400" dirty="0"/>
                        <a:t>Skills</a:t>
                      </a:r>
                      <a:endParaRPr lang="en-CH" dirty="0"/>
                    </a:p>
                  </a:txBody>
                  <a:tcPr/>
                </a:tc>
                <a:tc>
                  <a:txBody>
                    <a:bodyPr/>
                    <a:lstStyle/>
                    <a:p>
                      <a:pPr algn="ctr"/>
                      <a:r>
                        <a:rPr lang="de-CH" sz="2400" dirty="0"/>
                        <a:t>Attitude</a:t>
                      </a:r>
                      <a:endParaRPr lang="en-CH" dirty="0"/>
                    </a:p>
                  </a:txBody>
                  <a:tcPr/>
                </a:tc>
                <a:extLst>
                  <a:ext uri="{0D108BD9-81ED-4DB2-BD59-A6C34878D82A}">
                    <a16:rowId xmlns:a16="http://schemas.microsoft.com/office/drawing/2014/main" val="1783192920"/>
                  </a:ext>
                </a:extLst>
              </a:tr>
              <a:tr h="370840">
                <a:tc gridSpan="4">
                  <a:txBody>
                    <a:bodyPr/>
                    <a:lstStyle/>
                    <a:p>
                      <a:endParaRPr lang="de-CH" dirty="0"/>
                    </a:p>
                  </a:txBody>
                  <a:tcPr/>
                </a:tc>
                <a:tc hMerge="1">
                  <a:txBody>
                    <a:bodyPr/>
                    <a:lstStyle/>
                    <a:p>
                      <a:endParaRPr lang="en-CH"/>
                    </a:p>
                  </a:txBody>
                  <a:tcPr/>
                </a:tc>
                <a:tc hMerge="1">
                  <a:txBody>
                    <a:bodyPr/>
                    <a:lstStyle/>
                    <a:p>
                      <a:endParaRPr lang="en-CH"/>
                    </a:p>
                  </a:txBody>
                  <a:tcPr/>
                </a:tc>
                <a:tc hMerge="1">
                  <a:txBody>
                    <a:bodyPr/>
                    <a:lstStyle/>
                    <a:p>
                      <a:endParaRPr lang="en-CH"/>
                    </a:p>
                  </a:txBody>
                  <a:tcPr/>
                </a:tc>
                <a:extLst>
                  <a:ext uri="{0D108BD9-81ED-4DB2-BD59-A6C34878D82A}">
                    <a16:rowId xmlns:a16="http://schemas.microsoft.com/office/drawing/2014/main" val="3031301615"/>
                  </a:ext>
                </a:extLst>
              </a:tr>
              <a:tr h="370840">
                <a:tc>
                  <a:txBody>
                    <a:bodyPr/>
                    <a:lstStyle/>
                    <a:p>
                      <a:r>
                        <a:rPr lang="de-CH" b="1" dirty="0"/>
                        <a:t>Learning </a:t>
                      </a:r>
                      <a:r>
                        <a:rPr lang="de-CH" b="1" err="1"/>
                        <a:t>outcomes</a:t>
                      </a:r>
                    </a:p>
                    <a:p>
                      <a:pPr lvl="0">
                        <a:buNone/>
                      </a:pPr>
                      <a:endParaRPr lang="de-CH" b="1" dirty="0"/>
                    </a:p>
                    <a:p>
                      <a:pPr lvl="0">
                        <a:buNone/>
                      </a:pPr>
                      <a:r>
                        <a:rPr lang="de-CH" sz="1800" b="0" i="0" u="none" strike="noStrike" noProof="0" dirty="0">
                          <a:solidFill>
                            <a:srgbClr val="000000"/>
                          </a:solidFill>
                          <a:latin typeface="Avenir Next LT Pro"/>
                        </a:rPr>
                        <a:t>At </a:t>
                      </a:r>
                      <a:r>
                        <a:rPr lang="de-CH" sz="1800" b="0" i="0" u="none" strike="noStrike" noProof="0" dirty="0" err="1">
                          <a:solidFill>
                            <a:srgbClr val="000000"/>
                          </a:solidFill>
                          <a:latin typeface="Avenir Next LT Pro"/>
                        </a:rPr>
                        <a:t>the</a:t>
                      </a:r>
                      <a:r>
                        <a:rPr lang="de-CH" sz="1800" b="0" i="0" u="none" strike="noStrike" noProof="0" dirty="0">
                          <a:solidFill>
                            <a:srgbClr val="000000"/>
                          </a:solidFill>
                          <a:latin typeface="Avenir Next LT Pro"/>
                        </a:rPr>
                        <a:t> end </a:t>
                      </a:r>
                      <a:r>
                        <a:rPr lang="de-CH" sz="1800" b="0" i="0" u="none" strike="noStrike" noProof="0" dirty="0" err="1">
                          <a:solidFill>
                            <a:srgbClr val="000000"/>
                          </a:solidFill>
                          <a:latin typeface="Avenir Next LT Pro"/>
                        </a:rPr>
                        <a:t>of</a:t>
                      </a:r>
                      <a:r>
                        <a:rPr lang="de-CH" sz="1800" b="0" i="0" u="none" strike="noStrike" noProof="0" dirty="0">
                          <a:solidFill>
                            <a:srgbClr val="000000"/>
                          </a:solidFill>
                          <a:latin typeface="Avenir Next LT Pro"/>
                        </a:rPr>
                        <a:t> </a:t>
                      </a:r>
                      <a:r>
                        <a:rPr lang="de-CH" sz="1800" b="0" i="0" u="none" strike="noStrike" noProof="0" dirty="0" err="1">
                          <a:solidFill>
                            <a:srgbClr val="000000"/>
                          </a:solidFill>
                          <a:latin typeface="Avenir Next LT Pro"/>
                        </a:rPr>
                        <a:t>the</a:t>
                      </a:r>
                      <a:r>
                        <a:rPr lang="de-CH" sz="1800" b="0" i="0" u="none" strike="noStrike" noProof="0" dirty="0">
                          <a:solidFill>
                            <a:srgbClr val="000000"/>
                          </a:solidFill>
                          <a:latin typeface="Avenir Next LT Pro"/>
                        </a:rPr>
                        <a:t> </a:t>
                      </a:r>
                      <a:r>
                        <a:rPr lang="de-CH" sz="1800" b="0" i="0" u="none" strike="noStrike" noProof="0" dirty="0" err="1">
                          <a:solidFill>
                            <a:srgbClr val="000000"/>
                          </a:solidFill>
                          <a:latin typeface="Avenir Next LT Pro"/>
                        </a:rPr>
                        <a:t>session</a:t>
                      </a:r>
                      <a:r>
                        <a:rPr lang="de-CH" sz="1800" b="0" i="0" u="none" strike="noStrike" noProof="0" dirty="0">
                          <a:solidFill>
                            <a:srgbClr val="000000"/>
                          </a:solidFill>
                          <a:latin typeface="Avenir Next LT Pro"/>
                        </a:rPr>
                        <a:t>, </a:t>
                      </a:r>
                      <a:r>
                        <a:rPr lang="de-CH" sz="1800" b="0" i="0" u="none" strike="noStrike" noProof="0" dirty="0" err="1">
                          <a:solidFill>
                            <a:srgbClr val="000000"/>
                          </a:solidFill>
                          <a:latin typeface="Avenir Next LT Pro"/>
                        </a:rPr>
                        <a:t>students</a:t>
                      </a:r>
                      <a:r>
                        <a:rPr lang="de-CH" sz="1800" b="0" i="0" u="none" strike="noStrike" noProof="0" dirty="0">
                          <a:solidFill>
                            <a:srgbClr val="000000"/>
                          </a:solidFill>
                          <a:latin typeface="Avenir Next LT Pro"/>
                        </a:rPr>
                        <a:t> will </a:t>
                      </a:r>
                      <a:r>
                        <a:rPr lang="de-CH" sz="1800" b="0" i="0" u="none" strike="noStrike" noProof="0" dirty="0" err="1">
                          <a:solidFill>
                            <a:srgbClr val="000000"/>
                          </a:solidFill>
                          <a:latin typeface="Avenir Next LT Pro"/>
                        </a:rPr>
                        <a:t>be</a:t>
                      </a:r>
                      <a:r>
                        <a:rPr lang="de-CH" sz="1800" b="0" i="0" u="none" strike="noStrike" noProof="0" dirty="0">
                          <a:solidFill>
                            <a:srgbClr val="000000"/>
                          </a:solidFill>
                          <a:latin typeface="Avenir Next LT Pro"/>
                        </a:rPr>
                        <a:t> </a:t>
                      </a:r>
                      <a:r>
                        <a:rPr lang="de-CH" sz="1800" b="0" i="0" u="none" strike="noStrike" noProof="0" dirty="0" err="1">
                          <a:solidFill>
                            <a:srgbClr val="000000"/>
                          </a:solidFill>
                          <a:latin typeface="Avenir Next LT Pro"/>
                        </a:rPr>
                        <a:t>able</a:t>
                      </a:r>
                      <a:r>
                        <a:rPr lang="de-CH" sz="1800" b="0" i="0" u="none" strike="noStrike" noProof="0" dirty="0">
                          <a:solidFill>
                            <a:srgbClr val="000000"/>
                          </a:solidFill>
                          <a:latin typeface="Avenir Next LT Pro"/>
                        </a:rPr>
                        <a:t>… </a:t>
                      </a:r>
                      <a:endParaRPr lang="de-CH" b="1" dirty="0"/>
                    </a:p>
                  </a:txBody>
                  <a:tcPr/>
                </a:tc>
                <a:tc>
                  <a:txBody>
                    <a:bodyPr/>
                    <a:lstStyle/>
                    <a:p>
                      <a:r>
                        <a:rPr lang="en-GB" dirty="0"/>
                        <a:t>...to </a:t>
                      </a:r>
                      <a:r>
                        <a:rPr lang="en-GB" b="1" dirty="0"/>
                        <a:t>understand the causes and consequences </a:t>
                      </a:r>
                      <a:r>
                        <a:rPr lang="en-GB" dirty="0"/>
                        <a:t>of land degradation, considering its environmental, societal, and economic dimensions.</a:t>
                      </a:r>
                      <a:endParaRPr lang="en-CH" b="1" dirty="0"/>
                    </a:p>
                  </a:txBody>
                  <a:tcPr/>
                </a:tc>
                <a:tc>
                  <a:txBody>
                    <a:bodyPr/>
                    <a:lstStyle/>
                    <a:p>
                      <a:r>
                        <a:rPr lang="en-GB" dirty="0"/>
                        <a:t>...to </a:t>
                      </a:r>
                      <a:r>
                        <a:rPr lang="en-GB" b="1" dirty="0"/>
                        <a:t>apply field observation </a:t>
                      </a:r>
                      <a:r>
                        <a:rPr lang="en-GB" dirty="0"/>
                        <a:t>and analysis skills during a guided visit to an area affected by land degradation.</a:t>
                      </a:r>
                      <a:endParaRPr lang="en-CH" b="1" dirty="0"/>
                    </a:p>
                  </a:txBody>
                  <a:tcPr/>
                </a:tc>
                <a:tc>
                  <a:txBody>
                    <a:bodyPr/>
                    <a:lstStyle/>
                    <a:p>
                      <a:r>
                        <a:rPr lang="en-GB" dirty="0"/>
                        <a:t>...to demonstrate an </a:t>
                      </a:r>
                      <a:r>
                        <a:rPr lang="en-GB" b="1" dirty="0"/>
                        <a:t>appreciation for the perspectives and experiences </a:t>
                      </a:r>
                      <a:r>
                        <a:rPr lang="en-GB" dirty="0"/>
                        <a:t>of stakeholders affected by land degradation through exchanges and interviews</a:t>
                      </a:r>
                      <a:endParaRPr lang="en-CH" b="1" dirty="0"/>
                    </a:p>
                  </a:txBody>
                  <a:tcPr/>
                </a:tc>
                <a:extLst>
                  <a:ext uri="{0D108BD9-81ED-4DB2-BD59-A6C34878D82A}">
                    <a16:rowId xmlns:a16="http://schemas.microsoft.com/office/drawing/2014/main" val="2991621913"/>
                  </a:ext>
                </a:extLst>
              </a:tr>
              <a:tr h="370840">
                <a:tc>
                  <a:txBody>
                    <a:bodyPr/>
                    <a:lstStyle/>
                    <a:p>
                      <a:r>
                        <a:rPr lang="de-CH" sz="1400" b="1" dirty="0" err="1"/>
                        <a:t>Measurable</a:t>
                      </a:r>
                      <a:r>
                        <a:rPr lang="de-CH" sz="1400" b="1" dirty="0"/>
                        <a:t> </a:t>
                      </a:r>
                      <a:r>
                        <a:rPr lang="de-CH" sz="1400" b="1" dirty="0" err="1"/>
                        <a:t>indicator</a:t>
                      </a:r>
                      <a:endParaRPr lang="en-CH" sz="1400" b="1" i="1" dirty="0"/>
                    </a:p>
                  </a:txBody>
                  <a:tcPr/>
                </a:tc>
                <a:tc>
                  <a:txBody>
                    <a:bodyPr/>
                    <a:lstStyle/>
                    <a:p>
                      <a:r>
                        <a:rPr lang="en-GB" sz="1400" dirty="0"/>
                        <a:t>Successful completion of a written examination or quiz assessing knowledge of key concepts related to land degradation</a:t>
                      </a:r>
                      <a:endParaRPr lang="en-CH" sz="1400" i="1" dirty="0"/>
                    </a:p>
                  </a:txBody>
                  <a:tcPr/>
                </a:tc>
                <a:tc>
                  <a:txBody>
                    <a:bodyPr/>
                    <a:lstStyle/>
                    <a:p>
                      <a:r>
                        <a:rPr lang="en-GB" sz="1400" dirty="0"/>
                        <a:t>Submission of a field report that includes accurate observations, analysis of the identified problem, and proposed solutions, showcasing acquired skills in fieldwork</a:t>
                      </a:r>
                      <a:endParaRPr lang="en-CH" sz="1400" i="1" dirty="0"/>
                    </a:p>
                  </a:txBody>
                  <a:tcPr/>
                </a:tc>
                <a:tc>
                  <a:txBody>
                    <a:bodyPr/>
                    <a:lstStyle/>
                    <a:p>
                      <a:r>
                        <a:rPr lang="en-GB" sz="1400" dirty="0"/>
                        <a:t>Participation in reflective discussions or submission of a written reflection highlighting insights gained from interacting with affected stakeholders, demonstrating an empathetic and open-minded attitude</a:t>
                      </a:r>
                      <a:endParaRPr lang="en-CH" sz="1400" i="1" dirty="0"/>
                    </a:p>
                  </a:txBody>
                  <a:tcPr/>
                </a:tc>
                <a:extLst>
                  <a:ext uri="{0D108BD9-81ED-4DB2-BD59-A6C34878D82A}">
                    <a16:rowId xmlns:a16="http://schemas.microsoft.com/office/drawing/2014/main" val="2860899679"/>
                  </a:ext>
                </a:extLst>
              </a:tr>
            </a:tbl>
          </a:graphicData>
        </a:graphic>
      </p:graphicFrame>
      <p:pic>
        <p:nvPicPr>
          <p:cNvPr id="9" name="Picture 8">
            <a:extLst>
              <a:ext uri="{FF2B5EF4-FFF2-40B4-BE49-F238E27FC236}">
                <a16:creationId xmlns:a16="http://schemas.microsoft.com/office/drawing/2014/main" id="{6E649A7C-B881-2639-6A0F-7DBC43C94081}"/>
              </a:ext>
            </a:extLst>
          </p:cNvPr>
          <p:cNvPicPr>
            <a:picLocks noChangeAspect="1"/>
          </p:cNvPicPr>
          <p:nvPr/>
        </p:nvPicPr>
        <p:blipFill>
          <a:blip r:embed="rId2"/>
          <a:stretch>
            <a:fillRect/>
          </a:stretch>
        </p:blipFill>
        <p:spPr>
          <a:xfrm>
            <a:off x="3717738" y="1455493"/>
            <a:ext cx="621846" cy="627942"/>
          </a:xfrm>
          <a:prstGeom prst="rect">
            <a:avLst/>
          </a:prstGeom>
        </p:spPr>
      </p:pic>
      <p:pic>
        <p:nvPicPr>
          <p:cNvPr id="11" name="Picture 10">
            <a:extLst>
              <a:ext uri="{FF2B5EF4-FFF2-40B4-BE49-F238E27FC236}">
                <a16:creationId xmlns:a16="http://schemas.microsoft.com/office/drawing/2014/main" id="{A10F9571-4ADE-3434-2EEB-63F1ECF5A685}"/>
              </a:ext>
            </a:extLst>
          </p:cNvPr>
          <p:cNvPicPr>
            <a:picLocks noChangeAspect="1"/>
          </p:cNvPicPr>
          <p:nvPr/>
        </p:nvPicPr>
        <p:blipFill>
          <a:blip r:embed="rId3"/>
          <a:stretch>
            <a:fillRect/>
          </a:stretch>
        </p:blipFill>
        <p:spPr>
          <a:xfrm>
            <a:off x="6628728" y="1457384"/>
            <a:ext cx="626051" cy="626051"/>
          </a:xfrm>
          <a:prstGeom prst="rect">
            <a:avLst/>
          </a:prstGeom>
        </p:spPr>
      </p:pic>
      <p:pic>
        <p:nvPicPr>
          <p:cNvPr id="12" name="Graphic 11" descr="Heart outline">
            <a:extLst>
              <a:ext uri="{FF2B5EF4-FFF2-40B4-BE49-F238E27FC236}">
                <a16:creationId xmlns:a16="http://schemas.microsoft.com/office/drawing/2014/main" id="{3C11FACC-F6B3-8CD2-2C0A-5641451953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36739" y="1381538"/>
            <a:ext cx="803877" cy="803877"/>
          </a:xfrm>
          <a:prstGeom prst="rect">
            <a:avLst/>
          </a:prstGeom>
        </p:spPr>
      </p:pic>
      <p:pic>
        <p:nvPicPr>
          <p:cNvPr id="13" name="Picture 12">
            <a:extLst>
              <a:ext uri="{FF2B5EF4-FFF2-40B4-BE49-F238E27FC236}">
                <a16:creationId xmlns:a16="http://schemas.microsoft.com/office/drawing/2014/main" id="{35257FDD-8D09-7445-8023-4031C7CFB7D4}"/>
              </a:ext>
            </a:extLst>
          </p:cNvPr>
          <p:cNvPicPr>
            <a:picLocks noChangeAspect="1"/>
          </p:cNvPicPr>
          <p:nvPr/>
        </p:nvPicPr>
        <p:blipFill>
          <a:blip r:embed="rId5"/>
          <a:stretch>
            <a:fillRect/>
          </a:stretch>
        </p:blipFill>
        <p:spPr>
          <a:xfrm>
            <a:off x="10566673" y="415497"/>
            <a:ext cx="1019517" cy="1179577"/>
          </a:xfrm>
          <a:prstGeom prst="rect">
            <a:avLst/>
          </a:prstGeom>
        </p:spPr>
      </p:pic>
    </p:spTree>
    <p:extLst>
      <p:ext uri="{BB962C8B-B14F-4D97-AF65-F5344CB8AC3E}">
        <p14:creationId xmlns:p14="http://schemas.microsoft.com/office/powerpoint/2010/main" val="26561920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E6A1A-7E83-2A26-F944-52D4B29C0989}"/>
              </a:ext>
            </a:extLst>
          </p:cNvPr>
          <p:cNvSpPr>
            <a:spLocks noGrp="1"/>
          </p:cNvSpPr>
          <p:nvPr>
            <p:ph type="title"/>
          </p:nvPr>
        </p:nvSpPr>
        <p:spPr/>
        <p:txBody>
          <a:bodyPr/>
          <a:lstStyle/>
          <a:p>
            <a:r>
              <a:rPr lang="de-CH" dirty="0" err="1"/>
              <a:t>Example</a:t>
            </a:r>
            <a:r>
              <a:rPr lang="de-CH" dirty="0"/>
              <a:t> 1: Land </a:t>
            </a:r>
            <a:r>
              <a:rPr lang="de-CH" dirty="0" err="1"/>
              <a:t>degradation</a:t>
            </a:r>
            <a:endParaRPr lang="en-CH" dirty="0"/>
          </a:p>
        </p:txBody>
      </p:sp>
      <p:sp>
        <p:nvSpPr>
          <p:cNvPr id="3" name="Content Placeholder 2">
            <a:extLst>
              <a:ext uri="{FF2B5EF4-FFF2-40B4-BE49-F238E27FC236}">
                <a16:creationId xmlns:a16="http://schemas.microsoft.com/office/drawing/2014/main" id="{0E692BD5-4517-FE08-F395-FE69649F18A0}"/>
              </a:ext>
            </a:extLst>
          </p:cNvPr>
          <p:cNvSpPr>
            <a:spLocks noGrp="1"/>
          </p:cNvSpPr>
          <p:nvPr>
            <p:ph idx="1"/>
          </p:nvPr>
        </p:nvSpPr>
        <p:spPr/>
        <p:txBody>
          <a:bodyPr vert="horz" lIns="91440" tIns="45720" rIns="91440" bIns="45720" rtlCol="0" anchor="t">
            <a:normAutofit fontScale="77500" lnSpcReduction="20000"/>
          </a:bodyPr>
          <a:lstStyle/>
          <a:p>
            <a:pPr marL="0" indent="0">
              <a:buNone/>
            </a:pPr>
            <a:r>
              <a:rPr lang="en-GB" b="1" dirty="0"/>
              <a:t>Learning activities</a:t>
            </a:r>
          </a:p>
          <a:p>
            <a:r>
              <a:rPr lang="en-GB" dirty="0"/>
              <a:t>Teacher presentation on causes and consequences of land degradation</a:t>
            </a:r>
          </a:p>
          <a:p>
            <a:r>
              <a:rPr lang="en-GB" dirty="0"/>
              <a:t>(Guided) field visit to an area with the identified problem</a:t>
            </a:r>
          </a:p>
          <a:p>
            <a:r>
              <a:rPr lang="en-GB" dirty="0"/>
              <a:t>Exchange/interviews with affected stakeholders</a:t>
            </a:r>
          </a:p>
          <a:p>
            <a:pPr marL="0" indent="0">
              <a:buNone/>
            </a:pPr>
            <a:endParaRPr lang="en-GB" dirty="0"/>
          </a:p>
          <a:p>
            <a:pPr marL="0" indent="0">
              <a:buNone/>
            </a:pPr>
            <a:r>
              <a:rPr lang="en-GB" b="1" dirty="0"/>
              <a:t>Assessment</a:t>
            </a:r>
          </a:p>
          <a:p>
            <a:r>
              <a:rPr lang="en-GB" dirty="0"/>
              <a:t>Write a report on the impact of land degradation, considering environmental, societal and economical aspects.</a:t>
            </a:r>
          </a:p>
        </p:txBody>
      </p:sp>
      <p:sp>
        <p:nvSpPr>
          <p:cNvPr id="6" name="Slide Number Placeholder 5">
            <a:extLst>
              <a:ext uri="{FF2B5EF4-FFF2-40B4-BE49-F238E27FC236}">
                <a16:creationId xmlns:a16="http://schemas.microsoft.com/office/drawing/2014/main" id="{FBD39606-4185-76E0-782E-5C756BE59826}"/>
              </a:ext>
            </a:extLst>
          </p:cNvPr>
          <p:cNvSpPr>
            <a:spLocks noGrp="1"/>
          </p:cNvSpPr>
          <p:nvPr>
            <p:ph type="sldNum" sz="quarter" idx="12"/>
          </p:nvPr>
        </p:nvSpPr>
        <p:spPr/>
        <p:txBody>
          <a:bodyPr/>
          <a:lstStyle/>
          <a:p>
            <a:fld id="{A65A5C87-DF58-40C8-B092-1DE63DB4547E}" type="slidenum">
              <a:rPr lang="en-US" smtClean="0"/>
              <a:t>37</a:t>
            </a:fld>
            <a:endParaRPr lang="en-US" dirty="0"/>
          </a:p>
        </p:txBody>
      </p:sp>
      <p:pic>
        <p:nvPicPr>
          <p:cNvPr id="7" name="Picture 6">
            <a:extLst>
              <a:ext uri="{FF2B5EF4-FFF2-40B4-BE49-F238E27FC236}">
                <a16:creationId xmlns:a16="http://schemas.microsoft.com/office/drawing/2014/main" id="{332AF094-682D-DBC1-33CC-4541B7BC5705}"/>
              </a:ext>
            </a:extLst>
          </p:cNvPr>
          <p:cNvPicPr>
            <a:picLocks noChangeAspect="1"/>
          </p:cNvPicPr>
          <p:nvPr/>
        </p:nvPicPr>
        <p:blipFill>
          <a:blip r:embed="rId2"/>
          <a:stretch>
            <a:fillRect/>
          </a:stretch>
        </p:blipFill>
        <p:spPr>
          <a:xfrm>
            <a:off x="10566673" y="415497"/>
            <a:ext cx="1019517" cy="1179577"/>
          </a:xfrm>
          <a:prstGeom prst="rect">
            <a:avLst/>
          </a:prstGeom>
        </p:spPr>
      </p:pic>
    </p:spTree>
    <p:extLst>
      <p:ext uri="{BB962C8B-B14F-4D97-AF65-F5344CB8AC3E}">
        <p14:creationId xmlns:p14="http://schemas.microsoft.com/office/powerpoint/2010/main" val="10132435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F4D2DC6-144A-B338-6CA5-0825F40535F7}"/>
              </a:ext>
            </a:extLst>
          </p:cNvPr>
          <p:cNvPicPr>
            <a:picLocks noChangeAspect="1"/>
          </p:cNvPicPr>
          <p:nvPr/>
        </p:nvPicPr>
        <p:blipFill rotWithShape="1">
          <a:blip r:embed="rId2"/>
          <a:srcRect l="8323" r="19803" b="1"/>
          <a:stretch/>
        </p:blipFill>
        <p:spPr>
          <a:xfrm>
            <a:off x="8529321" y="10"/>
            <a:ext cx="3662680" cy="3401558"/>
          </a:xfrm>
          <a:custGeom>
            <a:avLst/>
            <a:gdLst/>
            <a:ahLst/>
            <a:cxnLst/>
            <a:rect l="l" t="t" r="r" b="b"/>
            <a:pathLst>
              <a:path w="3662680" h="3401568">
                <a:moveTo>
                  <a:pt x="0" y="0"/>
                </a:moveTo>
                <a:lnTo>
                  <a:pt x="3662680" y="0"/>
                </a:lnTo>
                <a:lnTo>
                  <a:pt x="3662680" y="3401568"/>
                </a:lnTo>
                <a:lnTo>
                  <a:pt x="774527" y="3401568"/>
                </a:lnTo>
                <a:lnTo>
                  <a:pt x="769892" y="3133175"/>
                </a:lnTo>
                <a:cubicBezTo>
                  <a:pt x="732577" y="2055441"/>
                  <a:pt x="492520" y="1056020"/>
                  <a:pt x="104445" y="215033"/>
                </a:cubicBezTo>
                <a:close/>
              </a:path>
            </a:pathLst>
          </a:custGeom>
        </p:spPr>
      </p:pic>
      <p:pic>
        <p:nvPicPr>
          <p:cNvPr id="12" name="Picture 11">
            <a:extLst>
              <a:ext uri="{FF2B5EF4-FFF2-40B4-BE49-F238E27FC236}">
                <a16:creationId xmlns:a16="http://schemas.microsoft.com/office/drawing/2014/main" id="{5A6D0519-A92B-BC56-1AFD-BDD425FEC17B}"/>
              </a:ext>
            </a:extLst>
          </p:cNvPr>
          <p:cNvPicPr>
            <a:picLocks noChangeAspect="1"/>
          </p:cNvPicPr>
          <p:nvPr/>
        </p:nvPicPr>
        <p:blipFill rotWithShape="1">
          <a:blip r:embed="rId3"/>
          <a:srcRect l="10070" r="948" b="1"/>
          <a:stretch/>
        </p:blipFill>
        <p:spPr>
          <a:xfrm>
            <a:off x="5115314" y="10"/>
            <a:ext cx="4118110" cy="3401558"/>
          </a:xfrm>
          <a:custGeom>
            <a:avLst/>
            <a:gdLst/>
            <a:ahLst/>
            <a:cxnLst/>
            <a:rect l="l" t="t" r="r" b="b"/>
            <a:pathLst>
              <a:path w="4118110" h="3401568">
                <a:moveTo>
                  <a:pt x="0" y="0"/>
                </a:moveTo>
                <a:lnTo>
                  <a:pt x="3343575" y="0"/>
                </a:lnTo>
                <a:lnTo>
                  <a:pt x="3448028" y="215050"/>
                </a:lnTo>
                <a:cubicBezTo>
                  <a:pt x="3836103" y="1056037"/>
                  <a:pt x="4076161" y="2055458"/>
                  <a:pt x="4113475" y="3133192"/>
                </a:cubicBezTo>
                <a:lnTo>
                  <a:pt x="4118110" y="3401568"/>
                </a:lnTo>
                <a:lnTo>
                  <a:pt x="801224" y="3401568"/>
                </a:lnTo>
                <a:lnTo>
                  <a:pt x="797493" y="3185579"/>
                </a:lnTo>
                <a:cubicBezTo>
                  <a:pt x="756786" y="2009870"/>
                  <a:pt x="474799" y="927359"/>
                  <a:pt x="22579" y="42066"/>
                </a:cubicBezTo>
                <a:close/>
              </a:path>
            </a:pathLst>
          </a:custGeom>
        </p:spPr>
      </p:pic>
      <p:pic>
        <p:nvPicPr>
          <p:cNvPr id="9" name="Content Placeholder 8">
            <a:extLst>
              <a:ext uri="{FF2B5EF4-FFF2-40B4-BE49-F238E27FC236}">
                <a16:creationId xmlns:a16="http://schemas.microsoft.com/office/drawing/2014/main" id="{EBE2832D-5131-AB66-1984-BB457F93713B}"/>
              </a:ext>
            </a:extLst>
          </p:cNvPr>
          <p:cNvPicPr>
            <a:picLocks noGrp="1" noChangeAspect="1"/>
          </p:cNvPicPr>
          <p:nvPr>
            <p:ph idx="1"/>
          </p:nvPr>
        </p:nvPicPr>
        <p:blipFill rotWithShape="1">
          <a:blip r:embed="rId4"/>
          <a:srcRect l="11636" r="5772" b="1"/>
          <a:stretch/>
        </p:blipFill>
        <p:spPr>
          <a:xfrm>
            <a:off x="5168353" y="3456432"/>
            <a:ext cx="7023646" cy="3401568"/>
          </a:xfrm>
          <a:custGeom>
            <a:avLst/>
            <a:gdLst/>
            <a:ahLst/>
            <a:cxnLst/>
            <a:rect l="l" t="t" r="r" b="b"/>
            <a:pathLst>
              <a:path w="7023646" h="3401568">
                <a:moveTo>
                  <a:pt x="749132" y="0"/>
                </a:moveTo>
                <a:lnTo>
                  <a:pt x="7023646" y="0"/>
                </a:lnTo>
                <a:lnTo>
                  <a:pt x="7023646" y="3401568"/>
                </a:lnTo>
                <a:lnTo>
                  <a:pt x="0" y="3401568"/>
                </a:lnTo>
                <a:lnTo>
                  <a:pt x="79008" y="3238906"/>
                </a:lnTo>
                <a:cubicBezTo>
                  <a:pt x="502362" y="2321466"/>
                  <a:pt x="749563" y="1215476"/>
                  <a:pt x="749563" y="24956"/>
                </a:cubicBezTo>
                <a:close/>
              </a:path>
            </a:pathLst>
          </a:custGeom>
        </p:spPr>
      </p:pic>
      <p:sp>
        <p:nvSpPr>
          <p:cNvPr id="2" name="Title 1">
            <a:extLst>
              <a:ext uri="{FF2B5EF4-FFF2-40B4-BE49-F238E27FC236}">
                <a16:creationId xmlns:a16="http://schemas.microsoft.com/office/drawing/2014/main" id="{5BCE6A1A-7E83-2A26-F944-52D4B29C0989}"/>
              </a:ext>
            </a:extLst>
          </p:cNvPr>
          <p:cNvSpPr>
            <a:spLocks noGrp="1"/>
          </p:cNvSpPr>
          <p:nvPr>
            <p:ph type="title"/>
          </p:nvPr>
        </p:nvSpPr>
        <p:spPr>
          <a:xfrm>
            <a:off x="438912" y="1527048"/>
            <a:ext cx="5020056" cy="2770632"/>
          </a:xfrm>
        </p:spPr>
        <p:txBody>
          <a:bodyPr vert="horz" lIns="91440" tIns="45720" rIns="91440" bIns="45720" rtlCol="0" anchor="b">
            <a:normAutofit/>
          </a:bodyPr>
          <a:lstStyle/>
          <a:p>
            <a:r>
              <a:rPr lang="en-US" sz="5400"/>
              <a:t>Example 2: Urban migration</a:t>
            </a:r>
          </a:p>
        </p:txBody>
      </p:sp>
      <p:sp>
        <p:nvSpPr>
          <p:cNvPr id="6" name="Slide Number Placeholder 5">
            <a:extLst>
              <a:ext uri="{FF2B5EF4-FFF2-40B4-BE49-F238E27FC236}">
                <a16:creationId xmlns:a16="http://schemas.microsoft.com/office/drawing/2014/main" id="{FBD39606-4185-76E0-782E-5C756BE59826}"/>
              </a:ext>
            </a:extLst>
          </p:cNvPr>
          <p:cNvSpPr>
            <a:spLocks noGrp="1"/>
          </p:cNvSpPr>
          <p:nvPr>
            <p:ph type="sldNum" sz="quarter" idx="12"/>
          </p:nvPr>
        </p:nvSpPr>
        <p:spPr>
          <a:xfrm>
            <a:off x="10635488" y="6356350"/>
            <a:ext cx="1117600" cy="365125"/>
          </a:xfrm>
        </p:spPr>
        <p:txBody>
          <a:bodyPr vert="horz" lIns="91440" tIns="45720" rIns="91440" bIns="45720" rtlCol="0" anchor="ctr">
            <a:normAutofit/>
          </a:bodyPr>
          <a:lstStyle/>
          <a:p>
            <a:pPr>
              <a:spcAft>
                <a:spcPts val="600"/>
              </a:spcAft>
            </a:pPr>
            <a:fld id="{A65A5C87-DF58-40C8-B092-1DE63DB4547E}" type="slidenum">
              <a:rPr lang="en-US">
                <a:solidFill>
                  <a:schemeClr val="bg1"/>
                </a:solidFill>
              </a:rPr>
              <a:pPr>
                <a:spcAft>
                  <a:spcPts val="600"/>
                </a:spcAft>
              </a:pPr>
              <a:t>38</a:t>
            </a:fld>
            <a:endParaRPr lang="en-US">
              <a:solidFill>
                <a:schemeClr val="bg1"/>
              </a:solidFill>
            </a:endParaRPr>
          </a:p>
        </p:txBody>
      </p:sp>
    </p:spTree>
    <p:extLst>
      <p:ext uri="{BB962C8B-B14F-4D97-AF65-F5344CB8AC3E}">
        <p14:creationId xmlns:p14="http://schemas.microsoft.com/office/powerpoint/2010/main" val="41055517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E6A1A-7E83-2A26-F944-52D4B29C0989}"/>
              </a:ext>
            </a:extLst>
          </p:cNvPr>
          <p:cNvSpPr>
            <a:spLocks noGrp="1"/>
          </p:cNvSpPr>
          <p:nvPr>
            <p:ph type="title"/>
          </p:nvPr>
        </p:nvSpPr>
        <p:spPr/>
        <p:txBody>
          <a:bodyPr/>
          <a:lstStyle/>
          <a:p>
            <a:r>
              <a:rPr lang="de-CH" dirty="0" err="1"/>
              <a:t>Example</a:t>
            </a:r>
            <a:r>
              <a:rPr lang="de-CH" dirty="0"/>
              <a:t> 2: Urban </a:t>
            </a:r>
            <a:r>
              <a:rPr lang="de-CH" dirty="0" err="1"/>
              <a:t>migration</a:t>
            </a:r>
            <a:endParaRPr lang="en-CH" dirty="0"/>
          </a:p>
        </p:txBody>
      </p:sp>
      <p:sp>
        <p:nvSpPr>
          <p:cNvPr id="6" name="Slide Number Placeholder 5">
            <a:extLst>
              <a:ext uri="{FF2B5EF4-FFF2-40B4-BE49-F238E27FC236}">
                <a16:creationId xmlns:a16="http://schemas.microsoft.com/office/drawing/2014/main" id="{FBD39606-4185-76E0-782E-5C756BE59826}"/>
              </a:ext>
            </a:extLst>
          </p:cNvPr>
          <p:cNvSpPr>
            <a:spLocks noGrp="1"/>
          </p:cNvSpPr>
          <p:nvPr>
            <p:ph type="sldNum" sz="quarter" idx="12"/>
          </p:nvPr>
        </p:nvSpPr>
        <p:spPr/>
        <p:txBody>
          <a:bodyPr/>
          <a:lstStyle/>
          <a:p>
            <a:fld id="{A65A5C87-DF58-40C8-B092-1DE63DB4547E}" type="slidenum">
              <a:rPr lang="en-US" smtClean="0"/>
              <a:t>39</a:t>
            </a:fld>
            <a:endParaRPr lang="en-US" dirty="0"/>
          </a:p>
        </p:txBody>
      </p:sp>
      <p:graphicFrame>
        <p:nvGraphicFramePr>
          <p:cNvPr id="10" name="Content Placeholder 9">
            <a:extLst>
              <a:ext uri="{FF2B5EF4-FFF2-40B4-BE49-F238E27FC236}">
                <a16:creationId xmlns:a16="http://schemas.microsoft.com/office/drawing/2014/main" id="{4CF5D430-EB0D-36AA-00B3-BADA4DD239EF}"/>
              </a:ext>
            </a:extLst>
          </p:cNvPr>
          <p:cNvGraphicFramePr>
            <a:graphicFrameLocks/>
          </p:cNvGraphicFramePr>
          <p:nvPr/>
        </p:nvGraphicFramePr>
        <p:xfrm>
          <a:off x="633413" y="2332863"/>
          <a:ext cx="10167936" cy="3144520"/>
        </p:xfrm>
        <a:graphic>
          <a:graphicData uri="http://schemas.openxmlformats.org/drawingml/2006/table">
            <a:tbl>
              <a:tblPr firstRow="1" bandRow="1">
                <a:tableStyleId>{5C22544A-7EE6-4342-B048-85BDC9FD1C3A}</a:tableStyleId>
              </a:tblPr>
              <a:tblGrid>
                <a:gridCol w="1398587">
                  <a:extLst>
                    <a:ext uri="{9D8B030D-6E8A-4147-A177-3AD203B41FA5}">
                      <a16:colId xmlns:a16="http://schemas.microsoft.com/office/drawing/2014/main" val="4007466891"/>
                    </a:ext>
                  </a:extLst>
                </a:gridCol>
                <a:gridCol w="3098800">
                  <a:extLst>
                    <a:ext uri="{9D8B030D-6E8A-4147-A177-3AD203B41FA5}">
                      <a16:colId xmlns:a16="http://schemas.microsoft.com/office/drawing/2014/main" val="2249003727"/>
                    </a:ext>
                  </a:extLst>
                </a:gridCol>
                <a:gridCol w="2781300">
                  <a:extLst>
                    <a:ext uri="{9D8B030D-6E8A-4147-A177-3AD203B41FA5}">
                      <a16:colId xmlns:a16="http://schemas.microsoft.com/office/drawing/2014/main" val="3233396364"/>
                    </a:ext>
                  </a:extLst>
                </a:gridCol>
                <a:gridCol w="2889249">
                  <a:extLst>
                    <a:ext uri="{9D8B030D-6E8A-4147-A177-3AD203B41FA5}">
                      <a16:colId xmlns:a16="http://schemas.microsoft.com/office/drawing/2014/main" val="721771155"/>
                    </a:ext>
                  </a:extLst>
                </a:gridCol>
              </a:tblGrid>
              <a:tr h="370840">
                <a:tc>
                  <a:txBody>
                    <a:bodyPr/>
                    <a:lstStyle/>
                    <a:p>
                      <a:endParaRPr lang="en-CH" sz="1200" dirty="0"/>
                    </a:p>
                  </a:txBody>
                  <a:tcPr/>
                </a:tc>
                <a:tc>
                  <a:txBody>
                    <a:bodyPr/>
                    <a:lstStyle/>
                    <a:p>
                      <a:pPr algn="ctr"/>
                      <a:r>
                        <a:rPr lang="de-CH" sz="1200" dirty="0"/>
                        <a:t>Environment</a:t>
                      </a:r>
                      <a:endParaRPr lang="en-CH" sz="1200" dirty="0"/>
                    </a:p>
                  </a:txBody>
                  <a:tcPr/>
                </a:tc>
                <a:tc>
                  <a:txBody>
                    <a:bodyPr/>
                    <a:lstStyle/>
                    <a:p>
                      <a:pPr algn="ctr"/>
                      <a:r>
                        <a:rPr lang="de-CH" sz="1200" dirty="0"/>
                        <a:t>Society</a:t>
                      </a:r>
                      <a:endParaRPr lang="en-CH" sz="1200" dirty="0"/>
                    </a:p>
                  </a:txBody>
                  <a:tcPr/>
                </a:tc>
                <a:tc>
                  <a:txBody>
                    <a:bodyPr/>
                    <a:lstStyle/>
                    <a:p>
                      <a:pPr algn="ctr"/>
                      <a:r>
                        <a:rPr lang="de-CH" sz="1200" dirty="0"/>
                        <a:t>Economy</a:t>
                      </a:r>
                      <a:endParaRPr lang="en-CH" sz="1200" dirty="0"/>
                    </a:p>
                  </a:txBody>
                  <a:tcPr/>
                </a:tc>
                <a:extLst>
                  <a:ext uri="{0D108BD9-81ED-4DB2-BD59-A6C34878D82A}">
                    <a16:rowId xmlns:a16="http://schemas.microsoft.com/office/drawing/2014/main" val="960173387"/>
                  </a:ext>
                </a:extLst>
              </a:tr>
              <a:tr h="370840">
                <a:tc>
                  <a:txBody>
                    <a:bodyPr/>
                    <a:lstStyle/>
                    <a:p>
                      <a:endParaRPr lang="en-CH" sz="1200" dirty="0"/>
                    </a:p>
                  </a:txBody>
                  <a:tcPr/>
                </a:tc>
                <a:tc>
                  <a:txBody>
                    <a:bodyPr/>
                    <a:lstStyle/>
                    <a:p>
                      <a:r>
                        <a:rPr lang="en-GB" sz="1100" i="1" dirty="0"/>
                        <a:t>Natural resources (as the basis of livelihoods), climate change, energy</a:t>
                      </a:r>
                    </a:p>
                    <a:p>
                      <a:r>
                        <a:rPr lang="en-GB" sz="1100" i="1" dirty="0"/>
                        <a:t>consumption, waste production</a:t>
                      </a:r>
                    </a:p>
                    <a:p>
                      <a:r>
                        <a:rPr lang="en-GB" sz="1100" i="1" dirty="0"/>
                        <a:t>and recycling, …</a:t>
                      </a:r>
                      <a:endParaRPr lang="en-CH" sz="1100" i="1" dirty="0"/>
                    </a:p>
                  </a:txBody>
                  <a:tcPr/>
                </a:tc>
                <a:tc>
                  <a:txBody>
                    <a:bodyPr/>
                    <a:lstStyle/>
                    <a:p>
                      <a:r>
                        <a:rPr lang="en-GB" sz="1100" i="1" dirty="0"/>
                        <a:t>Independence / dependencies of individuals, societal structures, inclusive development, migration, knowledge, education, health, well-being, …</a:t>
                      </a:r>
                      <a:endParaRPr lang="en-CH" sz="1100" i="1" dirty="0"/>
                    </a:p>
                  </a:txBody>
                  <a:tcPr/>
                </a:tc>
                <a:tc>
                  <a:txBody>
                    <a:bodyPr/>
                    <a:lstStyle/>
                    <a:p>
                      <a:r>
                        <a:rPr lang="de-CH" sz="1100" b="0" i="1" u="none" strike="noStrike" kern="1200" baseline="0" dirty="0">
                          <a:solidFill>
                            <a:schemeClr val="dk1"/>
                          </a:solidFill>
                          <a:latin typeface="+mn-lt"/>
                          <a:ea typeface="+mn-ea"/>
                          <a:cs typeface="+mn-cs"/>
                        </a:rPr>
                        <a:t>Livelihoods, </a:t>
                      </a:r>
                      <a:r>
                        <a:rPr lang="de-CH" sz="1100" b="0" i="1" u="none" strike="noStrike" kern="1200" baseline="0" dirty="0" err="1">
                          <a:solidFill>
                            <a:schemeClr val="dk1"/>
                          </a:solidFill>
                          <a:latin typeface="+mn-lt"/>
                          <a:ea typeface="+mn-ea"/>
                          <a:cs typeface="+mn-cs"/>
                        </a:rPr>
                        <a:t>poverty</a:t>
                      </a:r>
                      <a:r>
                        <a:rPr lang="de-CH" sz="1100" b="0" i="1" u="none" strike="noStrike" kern="1200" baseline="0" dirty="0">
                          <a:solidFill>
                            <a:schemeClr val="dk1"/>
                          </a:solidFill>
                          <a:latin typeface="+mn-lt"/>
                          <a:ea typeface="+mn-ea"/>
                          <a:cs typeface="+mn-cs"/>
                        </a:rPr>
                        <a:t>, </a:t>
                      </a:r>
                      <a:r>
                        <a:rPr lang="de-CH" sz="1100" b="0" i="1" u="none" strike="noStrike" kern="1200" baseline="0" dirty="0" err="1">
                          <a:solidFill>
                            <a:schemeClr val="dk1"/>
                          </a:solidFill>
                          <a:latin typeface="+mn-lt"/>
                          <a:ea typeface="+mn-ea"/>
                          <a:cs typeface="+mn-cs"/>
                        </a:rPr>
                        <a:t>future</a:t>
                      </a:r>
                      <a:r>
                        <a:rPr lang="de-CH" sz="1100" b="0" i="1" u="none" strike="noStrike" kern="1200" baseline="0" dirty="0">
                          <a:solidFill>
                            <a:schemeClr val="dk1"/>
                          </a:solidFill>
                          <a:latin typeface="+mn-lt"/>
                          <a:ea typeface="+mn-ea"/>
                          <a:cs typeface="+mn-cs"/>
                        </a:rPr>
                        <a:t> </a:t>
                      </a:r>
                      <a:r>
                        <a:rPr lang="de-CH" sz="1100" b="0" i="1" u="none" strike="noStrike" kern="1200" baseline="0" dirty="0" err="1">
                          <a:solidFill>
                            <a:schemeClr val="dk1"/>
                          </a:solidFill>
                          <a:latin typeface="+mn-lt"/>
                          <a:ea typeface="+mn-ea"/>
                          <a:cs typeface="+mn-cs"/>
                        </a:rPr>
                        <a:t>of</a:t>
                      </a:r>
                      <a:r>
                        <a:rPr lang="de-CH" sz="1100" b="0" i="1" u="none" strike="noStrike" kern="1200" baseline="0" dirty="0">
                          <a:solidFill>
                            <a:schemeClr val="dk1"/>
                          </a:solidFill>
                          <a:latin typeface="+mn-lt"/>
                          <a:ea typeface="+mn-ea"/>
                          <a:cs typeface="+mn-cs"/>
                        </a:rPr>
                        <a:t> </a:t>
                      </a:r>
                      <a:r>
                        <a:rPr lang="de-CH" sz="1100" b="0" i="1" u="none" strike="noStrike" kern="1200" baseline="0" dirty="0" err="1">
                          <a:solidFill>
                            <a:schemeClr val="dk1"/>
                          </a:solidFill>
                          <a:latin typeface="+mn-lt"/>
                          <a:ea typeface="+mn-ea"/>
                          <a:cs typeface="+mn-cs"/>
                        </a:rPr>
                        <a:t>labour</a:t>
                      </a:r>
                      <a:r>
                        <a:rPr lang="de-CH" sz="1100" b="0" i="1" u="none" strike="noStrike" kern="1200" baseline="0" dirty="0">
                          <a:solidFill>
                            <a:schemeClr val="dk1"/>
                          </a:solidFill>
                          <a:latin typeface="+mn-lt"/>
                          <a:ea typeface="+mn-ea"/>
                          <a:cs typeface="+mn-cs"/>
                        </a:rPr>
                        <a:t>, </a:t>
                      </a:r>
                      <a:r>
                        <a:rPr lang="de-CH" sz="1100" b="0" i="1" u="none" strike="noStrike" kern="1200" baseline="0" dirty="0" err="1">
                          <a:solidFill>
                            <a:schemeClr val="dk1"/>
                          </a:solidFill>
                          <a:latin typeface="+mn-lt"/>
                          <a:ea typeface="+mn-ea"/>
                          <a:cs typeface="+mn-cs"/>
                        </a:rPr>
                        <a:t>inequalities</a:t>
                      </a:r>
                      <a:r>
                        <a:rPr lang="de-CH" sz="1100" b="0" i="1" u="none" strike="noStrike" kern="1200" baseline="0" dirty="0">
                          <a:solidFill>
                            <a:schemeClr val="dk1"/>
                          </a:solidFill>
                          <a:latin typeface="+mn-lt"/>
                          <a:ea typeface="+mn-ea"/>
                          <a:cs typeface="+mn-cs"/>
                        </a:rPr>
                        <a:t>, </a:t>
                      </a:r>
                      <a:r>
                        <a:rPr lang="de-CH" sz="1100" b="0" i="1" u="none" strike="noStrike" kern="1200" baseline="0" dirty="0" err="1">
                          <a:solidFill>
                            <a:schemeClr val="dk1"/>
                          </a:solidFill>
                          <a:latin typeface="+mn-lt"/>
                          <a:ea typeface="+mn-ea"/>
                          <a:cs typeface="+mn-cs"/>
                        </a:rPr>
                        <a:t>migration</a:t>
                      </a:r>
                      <a:r>
                        <a:rPr lang="de-CH" sz="1100" b="0" i="1" u="none" strike="noStrike" kern="1200" baseline="0" dirty="0">
                          <a:solidFill>
                            <a:schemeClr val="dk1"/>
                          </a:solidFill>
                          <a:latin typeface="+mn-lt"/>
                          <a:ea typeface="+mn-ea"/>
                          <a:cs typeface="+mn-cs"/>
                        </a:rPr>
                        <a:t>, </a:t>
                      </a:r>
                      <a:r>
                        <a:rPr lang="de-CH" sz="1100" b="0" i="1" u="none" strike="noStrike" kern="1200" baseline="0" dirty="0" err="1">
                          <a:solidFill>
                            <a:schemeClr val="dk1"/>
                          </a:solidFill>
                          <a:latin typeface="+mn-lt"/>
                          <a:ea typeface="+mn-ea"/>
                          <a:cs typeface="+mn-cs"/>
                        </a:rPr>
                        <a:t>economic</a:t>
                      </a:r>
                      <a:r>
                        <a:rPr lang="de-CH" sz="1100" b="0" i="1" u="none" strike="noStrike" kern="1200" baseline="0" dirty="0">
                          <a:solidFill>
                            <a:schemeClr val="dk1"/>
                          </a:solidFill>
                          <a:latin typeface="+mn-lt"/>
                          <a:ea typeface="+mn-ea"/>
                          <a:cs typeface="+mn-cs"/>
                        </a:rPr>
                        <a:t> &amp; </a:t>
                      </a:r>
                      <a:r>
                        <a:rPr lang="de-CH" sz="1100" b="0" i="1" u="none" strike="noStrike" kern="1200" baseline="0" dirty="0" err="1">
                          <a:solidFill>
                            <a:schemeClr val="dk1"/>
                          </a:solidFill>
                          <a:latin typeface="+mn-lt"/>
                          <a:ea typeface="+mn-ea"/>
                          <a:cs typeface="+mn-cs"/>
                        </a:rPr>
                        <a:t>political</a:t>
                      </a:r>
                      <a:r>
                        <a:rPr lang="de-CH" sz="1100" b="0" i="1" u="none" strike="noStrike" kern="1200" baseline="0" dirty="0">
                          <a:solidFill>
                            <a:schemeClr val="dk1"/>
                          </a:solidFill>
                          <a:latin typeface="+mn-lt"/>
                          <a:ea typeface="+mn-ea"/>
                          <a:cs typeface="+mn-cs"/>
                        </a:rPr>
                        <a:t> power </a:t>
                      </a:r>
                      <a:r>
                        <a:rPr lang="de-CH" sz="1100" b="0" i="1" u="none" strike="noStrike" kern="1200" baseline="0" dirty="0" err="1">
                          <a:solidFill>
                            <a:schemeClr val="dk1"/>
                          </a:solidFill>
                          <a:latin typeface="+mn-lt"/>
                          <a:ea typeface="+mn-ea"/>
                          <a:cs typeface="+mn-cs"/>
                        </a:rPr>
                        <a:t>relations</a:t>
                      </a:r>
                      <a:r>
                        <a:rPr lang="de-CH" sz="1100" b="0" i="1" u="none" strike="noStrike" kern="1200" baseline="0" dirty="0">
                          <a:solidFill>
                            <a:schemeClr val="dk1"/>
                          </a:solidFill>
                          <a:latin typeface="+mn-lt"/>
                          <a:ea typeface="+mn-ea"/>
                          <a:cs typeface="+mn-cs"/>
                        </a:rPr>
                        <a:t>, </a:t>
                      </a:r>
                      <a:r>
                        <a:rPr lang="de-CH" sz="1100" b="0" i="1" u="none" strike="noStrike" kern="1200" baseline="0" dirty="0" err="1">
                          <a:solidFill>
                            <a:schemeClr val="dk1"/>
                          </a:solidFill>
                          <a:latin typeface="+mn-lt"/>
                          <a:ea typeface="+mn-ea"/>
                          <a:cs typeface="+mn-cs"/>
                        </a:rPr>
                        <a:t>globalization</a:t>
                      </a:r>
                      <a:r>
                        <a:rPr lang="de-CH" sz="1100" b="0" i="1" u="none" strike="noStrike" kern="1200" baseline="0" dirty="0">
                          <a:solidFill>
                            <a:schemeClr val="dk1"/>
                          </a:solidFill>
                          <a:latin typeface="+mn-lt"/>
                          <a:ea typeface="+mn-ea"/>
                          <a:cs typeface="+mn-cs"/>
                        </a:rPr>
                        <a:t>, …</a:t>
                      </a:r>
                      <a:endParaRPr lang="en-CH" sz="1100" i="1" dirty="0"/>
                    </a:p>
                  </a:txBody>
                  <a:tcPr/>
                </a:tc>
                <a:extLst>
                  <a:ext uri="{0D108BD9-81ED-4DB2-BD59-A6C34878D82A}">
                    <a16:rowId xmlns:a16="http://schemas.microsoft.com/office/drawing/2014/main" val="3310205983"/>
                  </a:ext>
                </a:extLst>
              </a:tr>
              <a:tr h="370840">
                <a:tc>
                  <a:txBody>
                    <a:bodyPr/>
                    <a:lstStyle/>
                    <a:p>
                      <a:r>
                        <a:rPr lang="de-CH" sz="1800" b="1" dirty="0"/>
                        <a:t>Topics</a:t>
                      </a:r>
                    </a:p>
                    <a:p>
                      <a:endParaRPr lang="en-CH" sz="1200" b="1" dirty="0"/>
                    </a:p>
                  </a:txBody>
                  <a:tcPr anchor="ctr"/>
                </a:tc>
                <a:tc>
                  <a:txBody>
                    <a:bodyPr/>
                    <a:lstStyle/>
                    <a:p>
                      <a:r>
                        <a:rPr lang="de-CH" sz="1800" dirty="0"/>
                        <a:t>Expansion </a:t>
                      </a:r>
                      <a:r>
                        <a:rPr lang="de-CH" sz="1800" dirty="0" err="1"/>
                        <a:t>of</a:t>
                      </a:r>
                      <a:r>
                        <a:rPr lang="de-CH" sz="1800" dirty="0"/>
                        <a:t> urban </a:t>
                      </a:r>
                      <a:r>
                        <a:rPr lang="de-CH" sz="1800" dirty="0" err="1"/>
                        <a:t>areas</a:t>
                      </a:r>
                      <a:r>
                        <a:rPr lang="de-CH" sz="1800" dirty="0"/>
                        <a:t>, </a:t>
                      </a:r>
                      <a:r>
                        <a:rPr lang="de-CH" sz="1800" dirty="0" err="1"/>
                        <a:t>habitat</a:t>
                      </a:r>
                      <a:r>
                        <a:rPr lang="de-CH" sz="1800" dirty="0"/>
                        <a:t> </a:t>
                      </a:r>
                      <a:r>
                        <a:rPr lang="de-CH" sz="1800" dirty="0" err="1"/>
                        <a:t>loss</a:t>
                      </a:r>
                      <a:r>
                        <a:rPr lang="de-CH" sz="1800" dirty="0"/>
                        <a:t>, </a:t>
                      </a:r>
                      <a:r>
                        <a:rPr lang="de-CH" sz="1800" dirty="0" err="1"/>
                        <a:t>deforestation</a:t>
                      </a:r>
                      <a:r>
                        <a:rPr lang="de-CH" sz="1800" dirty="0"/>
                        <a:t>, </a:t>
                      </a:r>
                      <a:r>
                        <a:rPr lang="de-CH" sz="1800" dirty="0" err="1"/>
                        <a:t>changes</a:t>
                      </a:r>
                      <a:r>
                        <a:rPr lang="de-CH" sz="1800" dirty="0"/>
                        <a:t> in </a:t>
                      </a:r>
                      <a:r>
                        <a:rPr lang="de-CH" sz="1800" dirty="0" err="1"/>
                        <a:t>land</a:t>
                      </a:r>
                      <a:r>
                        <a:rPr lang="de-CH" sz="1800" dirty="0"/>
                        <a:t> </a:t>
                      </a:r>
                      <a:r>
                        <a:rPr lang="de-CH" sz="1800" dirty="0" err="1"/>
                        <a:t>cover</a:t>
                      </a:r>
                      <a:r>
                        <a:rPr lang="de-CH" sz="1800" dirty="0"/>
                        <a:t> (</a:t>
                      </a:r>
                      <a:r>
                        <a:rPr lang="de-CH" sz="1800" dirty="0" err="1"/>
                        <a:t>impacting</a:t>
                      </a:r>
                      <a:r>
                        <a:rPr lang="de-CH" sz="1800" dirty="0"/>
                        <a:t> </a:t>
                      </a:r>
                      <a:r>
                        <a:rPr lang="de-CH" sz="1800" dirty="0" err="1"/>
                        <a:t>ecosystems</a:t>
                      </a:r>
                      <a:r>
                        <a:rPr lang="de-CH" sz="1800" dirty="0"/>
                        <a:t> and </a:t>
                      </a:r>
                      <a:r>
                        <a:rPr lang="de-CH" sz="1800" dirty="0" err="1"/>
                        <a:t>biodversity</a:t>
                      </a:r>
                      <a:r>
                        <a:rPr lang="de-CH" sz="1800" dirty="0"/>
                        <a:t>), </a:t>
                      </a:r>
                      <a:r>
                        <a:rPr lang="de-CH" sz="1800" dirty="0" err="1"/>
                        <a:t>higher</a:t>
                      </a:r>
                      <a:r>
                        <a:rPr lang="de-CH" sz="1800" dirty="0"/>
                        <a:t> </a:t>
                      </a:r>
                      <a:r>
                        <a:rPr lang="de-CH" sz="1800" dirty="0" err="1"/>
                        <a:t>resource</a:t>
                      </a:r>
                      <a:r>
                        <a:rPr lang="de-CH" sz="1800" dirty="0"/>
                        <a:t> </a:t>
                      </a:r>
                      <a:r>
                        <a:rPr lang="de-CH" sz="1800" dirty="0" err="1"/>
                        <a:t>consumption</a:t>
                      </a:r>
                      <a:r>
                        <a:rPr lang="de-CH" sz="1800" dirty="0"/>
                        <a:t> (</a:t>
                      </a:r>
                      <a:r>
                        <a:rPr lang="de-CH" sz="1800" dirty="0" err="1"/>
                        <a:t>water</a:t>
                      </a:r>
                      <a:r>
                        <a:rPr lang="de-CH" sz="1800" dirty="0"/>
                        <a:t>, </a:t>
                      </a:r>
                      <a:r>
                        <a:rPr lang="de-CH" sz="1800" dirty="0" err="1"/>
                        <a:t>energy</a:t>
                      </a:r>
                      <a:r>
                        <a:rPr lang="de-CH" sz="1800" dirty="0"/>
                        <a:t>), </a:t>
                      </a:r>
                      <a:r>
                        <a:rPr lang="de-CH" sz="1800" dirty="0" err="1"/>
                        <a:t>waste</a:t>
                      </a:r>
                      <a:endParaRPr lang="en-CH" sz="1800" dirty="0"/>
                    </a:p>
                  </a:txBody>
                  <a:tcPr/>
                </a:tc>
                <a:tc>
                  <a:txBody>
                    <a:bodyPr/>
                    <a:lstStyle/>
                    <a:p>
                      <a:r>
                        <a:rPr lang="de-CH" sz="1800" dirty="0" err="1"/>
                        <a:t>Dependencies</a:t>
                      </a:r>
                      <a:r>
                        <a:rPr lang="de-CH" sz="1800" dirty="0"/>
                        <a:t> on urban </a:t>
                      </a:r>
                      <a:r>
                        <a:rPr lang="de-CH" sz="1800" dirty="0" err="1"/>
                        <a:t>services</a:t>
                      </a:r>
                      <a:r>
                        <a:rPr lang="de-CH" sz="1800" dirty="0"/>
                        <a:t> and </a:t>
                      </a:r>
                      <a:r>
                        <a:rPr lang="de-CH" sz="1800" dirty="0" err="1"/>
                        <a:t>systems</a:t>
                      </a:r>
                      <a:r>
                        <a:rPr lang="de-CH" sz="1800" dirty="0"/>
                        <a:t>, </a:t>
                      </a:r>
                      <a:r>
                        <a:rPr lang="de-CH" sz="1800" dirty="0" err="1"/>
                        <a:t>strain</a:t>
                      </a:r>
                      <a:r>
                        <a:rPr lang="de-CH" sz="1800" dirty="0"/>
                        <a:t> </a:t>
                      </a:r>
                      <a:r>
                        <a:rPr lang="de-CH" sz="1800" dirty="0" err="1"/>
                        <a:t>existing</a:t>
                      </a:r>
                      <a:r>
                        <a:rPr lang="de-CH" sz="1800" dirty="0"/>
                        <a:t> urban </a:t>
                      </a:r>
                      <a:r>
                        <a:rPr lang="de-CH" sz="1800" dirty="0" err="1"/>
                        <a:t>infrastructure</a:t>
                      </a:r>
                      <a:r>
                        <a:rPr lang="de-CH" sz="1800" dirty="0"/>
                        <a:t>, </a:t>
                      </a:r>
                      <a:r>
                        <a:rPr lang="de-CH" sz="1800" dirty="0" err="1"/>
                        <a:t>delinquency</a:t>
                      </a:r>
                      <a:r>
                        <a:rPr lang="de-CH" sz="1800" dirty="0"/>
                        <a:t>, </a:t>
                      </a:r>
                      <a:r>
                        <a:rPr lang="de-CH" sz="1800" dirty="0" err="1"/>
                        <a:t>increased</a:t>
                      </a:r>
                      <a:r>
                        <a:rPr lang="de-CH" sz="1800" dirty="0"/>
                        <a:t> </a:t>
                      </a:r>
                      <a:r>
                        <a:rPr lang="de-CH" sz="1800" dirty="0" err="1"/>
                        <a:t>inequalities</a:t>
                      </a:r>
                      <a:r>
                        <a:rPr lang="de-CH" sz="1800" dirty="0"/>
                        <a:t>, …</a:t>
                      </a:r>
                      <a:endParaRPr lang="en-CH" sz="1800" dirty="0"/>
                    </a:p>
                  </a:txBody>
                  <a:tcPr/>
                </a:tc>
                <a:tc>
                  <a:txBody>
                    <a:bodyPr/>
                    <a:lstStyle/>
                    <a:p>
                      <a:r>
                        <a:rPr lang="en-GB" sz="1800" dirty="0"/>
                        <a:t>Globalization of </a:t>
                      </a:r>
                      <a:r>
                        <a:rPr lang="en-GB" sz="1800" dirty="0" err="1"/>
                        <a:t>labor</a:t>
                      </a:r>
                      <a:r>
                        <a:rPr lang="en-GB" sz="1800" dirty="0"/>
                        <a:t> market, unequal distribution of resources, job opportunities, social services, …</a:t>
                      </a:r>
                      <a:endParaRPr lang="en-CH" sz="1800" dirty="0"/>
                    </a:p>
                  </a:txBody>
                  <a:tcPr/>
                </a:tc>
                <a:extLst>
                  <a:ext uri="{0D108BD9-81ED-4DB2-BD59-A6C34878D82A}">
                    <a16:rowId xmlns:a16="http://schemas.microsoft.com/office/drawing/2014/main" val="55650827"/>
                  </a:ext>
                </a:extLst>
              </a:tr>
            </a:tbl>
          </a:graphicData>
        </a:graphic>
      </p:graphicFrame>
      <p:pic>
        <p:nvPicPr>
          <p:cNvPr id="11" name="Picture 10">
            <a:extLst>
              <a:ext uri="{FF2B5EF4-FFF2-40B4-BE49-F238E27FC236}">
                <a16:creationId xmlns:a16="http://schemas.microsoft.com/office/drawing/2014/main" id="{863BEA29-477F-91E9-C36C-36267DC640F4}"/>
              </a:ext>
            </a:extLst>
          </p:cNvPr>
          <p:cNvPicPr>
            <a:picLocks noChangeAspect="1"/>
          </p:cNvPicPr>
          <p:nvPr/>
        </p:nvPicPr>
        <p:blipFill>
          <a:blip r:embed="rId2"/>
          <a:stretch>
            <a:fillRect/>
          </a:stretch>
        </p:blipFill>
        <p:spPr>
          <a:xfrm>
            <a:off x="10566673" y="415497"/>
            <a:ext cx="1019517" cy="1179577"/>
          </a:xfrm>
          <a:prstGeom prst="rect">
            <a:avLst/>
          </a:prstGeom>
        </p:spPr>
      </p:pic>
    </p:spTree>
    <p:extLst>
      <p:ext uri="{BB962C8B-B14F-4D97-AF65-F5344CB8AC3E}">
        <p14:creationId xmlns:p14="http://schemas.microsoft.com/office/powerpoint/2010/main" val="3323047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E6A1A-7E83-2A26-F944-52D4B29C0989}"/>
              </a:ext>
            </a:extLst>
          </p:cNvPr>
          <p:cNvSpPr>
            <a:spLocks noGrp="1"/>
          </p:cNvSpPr>
          <p:nvPr>
            <p:ph type="title"/>
          </p:nvPr>
        </p:nvSpPr>
        <p:spPr/>
        <p:txBody>
          <a:bodyPr/>
          <a:lstStyle/>
          <a:p>
            <a:r>
              <a:rPr lang="de-CH" dirty="0" err="1"/>
              <a:t>Example</a:t>
            </a:r>
            <a:r>
              <a:rPr lang="de-CH" dirty="0"/>
              <a:t> 1: Urban </a:t>
            </a:r>
            <a:r>
              <a:rPr lang="de-CH" dirty="0" err="1"/>
              <a:t>migration</a:t>
            </a:r>
            <a:r>
              <a:rPr lang="de-CH" dirty="0"/>
              <a:t> </a:t>
            </a:r>
            <a:endParaRPr lang="en-CH" dirty="0"/>
          </a:p>
        </p:txBody>
      </p:sp>
      <p:sp>
        <p:nvSpPr>
          <p:cNvPr id="6" name="Slide Number Placeholder 5">
            <a:extLst>
              <a:ext uri="{FF2B5EF4-FFF2-40B4-BE49-F238E27FC236}">
                <a16:creationId xmlns:a16="http://schemas.microsoft.com/office/drawing/2014/main" id="{FBD39606-4185-76E0-782E-5C756BE59826}"/>
              </a:ext>
            </a:extLst>
          </p:cNvPr>
          <p:cNvSpPr>
            <a:spLocks noGrp="1"/>
          </p:cNvSpPr>
          <p:nvPr>
            <p:ph type="sldNum" sz="quarter" idx="12"/>
          </p:nvPr>
        </p:nvSpPr>
        <p:spPr/>
        <p:txBody>
          <a:bodyPr/>
          <a:lstStyle/>
          <a:p>
            <a:fld id="{A65A5C87-DF58-40C8-B092-1DE63DB4547E}" type="slidenum">
              <a:rPr lang="en-US" smtClean="0"/>
              <a:t>40</a:t>
            </a:fld>
            <a:endParaRPr lang="en-US" dirty="0"/>
          </a:p>
        </p:txBody>
      </p:sp>
      <p:graphicFrame>
        <p:nvGraphicFramePr>
          <p:cNvPr id="5" name="Table 4">
            <a:extLst>
              <a:ext uri="{FF2B5EF4-FFF2-40B4-BE49-F238E27FC236}">
                <a16:creationId xmlns:a16="http://schemas.microsoft.com/office/drawing/2014/main" id="{20701F9F-5870-432A-D726-B5F86787FF59}"/>
              </a:ext>
            </a:extLst>
          </p:cNvPr>
          <p:cNvGraphicFramePr>
            <a:graphicFrameLocks noGrp="1"/>
          </p:cNvGraphicFramePr>
          <p:nvPr>
            <p:extLst>
              <p:ext uri="{D42A27DB-BD31-4B8C-83A1-F6EECF244321}">
                <p14:modId xmlns:p14="http://schemas.microsoft.com/office/powerpoint/2010/main" val="1125052854"/>
              </p:ext>
            </p:extLst>
          </p:nvPr>
        </p:nvGraphicFramePr>
        <p:xfrm>
          <a:off x="672548" y="2083435"/>
          <a:ext cx="10611148" cy="4211320"/>
        </p:xfrm>
        <a:graphic>
          <a:graphicData uri="http://schemas.openxmlformats.org/drawingml/2006/table">
            <a:tbl>
              <a:tblPr firstRow="1" bandRow="1">
                <a:tableStyleId>{21E4AEA4-8DFA-4A89-87EB-49C32662AFE0}</a:tableStyleId>
              </a:tblPr>
              <a:tblGrid>
                <a:gridCol w="2152948">
                  <a:extLst>
                    <a:ext uri="{9D8B030D-6E8A-4147-A177-3AD203B41FA5}">
                      <a16:colId xmlns:a16="http://schemas.microsoft.com/office/drawing/2014/main" val="2440231449"/>
                    </a:ext>
                  </a:extLst>
                </a:gridCol>
                <a:gridCol w="2641026">
                  <a:extLst>
                    <a:ext uri="{9D8B030D-6E8A-4147-A177-3AD203B41FA5}">
                      <a16:colId xmlns:a16="http://schemas.microsoft.com/office/drawing/2014/main" val="1766221134"/>
                    </a:ext>
                  </a:extLst>
                </a:gridCol>
                <a:gridCol w="2902226">
                  <a:extLst>
                    <a:ext uri="{9D8B030D-6E8A-4147-A177-3AD203B41FA5}">
                      <a16:colId xmlns:a16="http://schemas.microsoft.com/office/drawing/2014/main" val="2887298412"/>
                    </a:ext>
                  </a:extLst>
                </a:gridCol>
                <a:gridCol w="2914948">
                  <a:extLst>
                    <a:ext uri="{9D8B030D-6E8A-4147-A177-3AD203B41FA5}">
                      <a16:colId xmlns:a16="http://schemas.microsoft.com/office/drawing/2014/main" val="3863705699"/>
                    </a:ext>
                  </a:extLst>
                </a:gridCol>
              </a:tblGrid>
              <a:tr h="370840">
                <a:tc>
                  <a:txBody>
                    <a:bodyPr/>
                    <a:lstStyle/>
                    <a:p>
                      <a:endParaRPr lang="en-CH" dirty="0"/>
                    </a:p>
                  </a:txBody>
                  <a:tcPr/>
                </a:tc>
                <a:tc>
                  <a:txBody>
                    <a:bodyPr/>
                    <a:lstStyle/>
                    <a:p>
                      <a:pPr algn="ctr"/>
                      <a:r>
                        <a:rPr lang="de-CH" sz="2400" dirty="0"/>
                        <a:t>Knowledge</a:t>
                      </a:r>
                      <a:endParaRPr lang="en-CH" dirty="0"/>
                    </a:p>
                  </a:txBody>
                  <a:tcPr/>
                </a:tc>
                <a:tc>
                  <a:txBody>
                    <a:bodyPr/>
                    <a:lstStyle/>
                    <a:p>
                      <a:pPr algn="ctr"/>
                      <a:r>
                        <a:rPr lang="de-CH" sz="2400" dirty="0"/>
                        <a:t>Skills</a:t>
                      </a:r>
                      <a:endParaRPr lang="en-CH" dirty="0"/>
                    </a:p>
                  </a:txBody>
                  <a:tcPr/>
                </a:tc>
                <a:tc>
                  <a:txBody>
                    <a:bodyPr/>
                    <a:lstStyle/>
                    <a:p>
                      <a:pPr algn="ctr"/>
                      <a:r>
                        <a:rPr lang="de-CH" sz="2400" dirty="0"/>
                        <a:t>Attitude</a:t>
                      </a:r>
                      <a:endParaRPr lang="en-CH" dirty="0"/>
                    </a:p>
                  </a:txBody>
                  <a:tcPr/>
                </a:tc>
                <a:extLst>
                  <a:ext uri="{0D108BD9-81ED-4DB2-BD59-A6C34878D82A}">
                    <a16:rowId xmlns:a16="http://schemas.microsoft.com/office/drawing/2014/main" val="1783192920"/>
                  </a:ext>
                </a:extLst>
              </a:tr>
              <a:tr h="370840">
                <a:tc gridSpan="4">
                  <a:txBody>
                    <a:bodyPr/>
                    <a:lstStyle/>
                    <a:p>
                      <a:endParaRPr lang="de-CH" dirty="0"/>
                    </a:p>
                  </a:txBody>
                  <a:tcPr/>
                </a:tc>
                <a:tc hMerge="1">
                  <a:txBody>
                    <a:bodyPr/>
                    <a:lstStyle/>
                    <a:p>
                      <a:endParaRPr lang="en-CH"/>
                    </a:p>
                  </a:txBody>
                  <a:tcPr/>
                </a:tc>
                <a:tc hMerge="1">
                  <a:txBody>
                    <a:bodyPr/>
                    <a:lstStyle/>
                    <a:p>
                      <a:endParaRPr lang="en-CH"/>
                    </a:p>
                  </a:txBody>
                  <a:tcPr/>
                </a:tc>
                <a:tc hMerge="1">
                  <a:txBody>
                    <a:bodyPr/>
                    <a:lstStyle/>
                    <a:p>
                      <a:endParaRPr lang="en-CH" dirty="0"/>
                    </a:p>
                  </a:txBody>
                  <a:tcPr/>
                </a:tc>
                <a:extLst>
                  <a:ext uri="{0D108BD9-81ED-4DB2-BD59-A6C34878D82A}">
                    <a16:rowId xmlns:a16="http://schemas.microsoft.com/office/drawing/2014/main" val="3031301615"/>
                  </a:ext>
                </a:extLst>
              </a:tr>
              <a:tr h="370840">
                <a:tc>
                  <a:txBody>
                    <a:bodyPr/>
                    <a:lstStyle/>
                    <a:p>
                      <a:r>
                        <a:rPr lang="de-CH" b="1" dirty="0"/>
                        <a:t>Learning </a:t>
                      </a:r>
                      <a:r>
                        <a:rPr lang="de-CH" b="1" err="1"/>
                        <a:t>outcomes</a:t>
                      </a:r>
                    </a:p>
                    <a:p>
                      <a:pPr lvl="0">
                        <a:buNone/>
                      </a:pPr>
                      <a:endParaRPr lang="de-CH" b="1" dirty="0"/>
                    </a:p>
                    <a:p>
                      <a:pPr lvl="0">
                        <a:buNone/>
                      </a:pPr>
                      <a:r>
                        <a:rPr lang="de-CH" sz="1800" b="0" i="0" u="none" strike="noStrike" noProof="0" dirty="0">
                          <a:solidFill>
                            <a:srgbClr val="000000"/>
                          </a:solidFill>
                          <a:latin typeface="Avenir Next LT Pro"/>
                        </a:rPr>
                        <a:t>At </a:t>
                      </a:r>
                      <a:r>
                        <a:rPr lang="de-CH" sz="1800" b="0" i="0" u="none" strike="noStrike" noProof="0" dirty="0" err="1">
                          <a:solidFill>
                            <a:srgbClr val="000000"/>
                          </a:solidFill>
                          <a:latin typeface="Avenir Next LT Pro"/>
                        </a:rPr>
                        <a:t>the</a:t>
                      </a:r>
                      <a:r>
                        <a:rPr lang="de-CH" sz="1800" b="0" i="0" u="none" strike="noStrike" noProof="0" dirty="0">
                          <a:solidFill>
                            <a:srgbClr val="000000"/>
                          </a:solidFill>
                          <a:latin typeface="Avenir Next LT Pro"/>
                        </a:rPr>
                        <a:t> end </a:t>
                      </a:r>
                      <a:r>
                        <a:rPr lang="de-CH" sz="1800" b="0" i="0" u="none" strike="noStrike" noProof="0" dirty="0" err="1">
                          <a:solidFill>
                            <a:srgbClr val="000000"/>
                          </a:solidFill>
                          <a:latin typeface="Avenir Next LT Pro"/>
                        </a:rPr>
                        <a:t>of</a:t>
                      </a:r>
                      <a:r>
                        <a:rPr lang="de-CH" sz="1800" b="0" i="0" u="none" strike="noStrike" noProof="0" dirty="0">
                          <a:solidFill>
                            <a:srgbClr val="000000"/>
                          </a:solidFill>
                          <a:latin typeface="Avenir Next LT Pro"/>
                        </a:rPr>
                        <a:t> </a:t>
                      </a:r>
                      <a:r>
                        <a:rPr lang="de-CH" sz="1800" b="0" i="0" u="none" strike="noStrike" noProof="0" dirty="0" err="1">
                          <a:solidFill>
                            <a:srgbClr val="000000"/>
                          </a:solidFill>
                          <a:latin typeface="Avenir Next LT Pro"/>
                        </a:rPr>
                        <a:t>the</a:t>
                      </a:r>
                      <a:r>
                        <a:rPr lang="de-CH" sz="1800" b="0" i="0" u="none" strike="noStrike" noProof="0" dirty="0">
                          <a:solidFill>
                            <a:srgbClr val="000000"/>
                          </a:solidFill>
                          <a:latin typeface="Avenir Next LT Pro"/>
                        </a:rPr>
                        <a:t> </a:t>
                      </a:r>
                      <a:r>
                        <a:rPr lang="de-CH" sz="1800" b="0" i="0" u="none" strike="noStrike" noProof="0" dirty="0" err="1">
                          <a:solidFill>
                            <a:srgbClr val="000000"/>
                          </a:solidFill>
                          <a:latin typeface="Avenir Next LT Pro"/>
                        </a:rPr>
                        <a:t>session</a:t>
                      </a:r>
                      <a:r>
                        <a:rPr lang="de-CH" sz="1800" b="0" i="0" u="none" strike="noStrike" noProof="0" dirty="0">
                          <a:solidFill>
                            <a:srgbClr val="000000"/>
                          </a:solidFill>
                          <a:latin typeface="Avenir Next LT Pro"/>
                        </a:rPr>
                        <a:t>, </a:t>
                      </a:r>
                      <a:r>
                        <a:rPr lang="de-CH" sz="1800" b="0" i="0" u="none" strike="noStrike" noProof="0" dirty="0" err="1">
                          <a:solidFill>
                            <a:srgbClr val="000000"/>
                          </a:solidFill>
                          <a:latin typeface="Avenir Next LT Pro"/>
                        </a:rPr>
                        <a:t>students</a:t>
                      </a:r>
                      <a:r>
                        <a:rPr lang="de-CH" sz="1800" b="0" i="0" u="none" strike="noStrike" noProof="0" dirty="0">
                          <a:solidFill>
                            <a:srgbClr val="000000"/>
                          </a:solidFill>
                          <a:latin typeface="Avenir Next LT Pro"/>
                        </a:rPr>
                        <a:t> will </a:t>
                      </a:r>
                      <a:r>
                        <a:rPr lang="de-CH" sz="1800" b="0" i="0" u="none" strike="noStrike" noProof="0" dirty="0" err="1">
                          <a:solidFill>
                            <a:srgbClr val="000000"/>
                          </a:solidFill>
                          <a:latin typeface="Avenir Next LT Pro"/>
                        </a:rPr>
                        <a:t>be</a:t>
                      </a:r>
                      <a:r>
                        <a:rPr lang="de-CH" sz="1800" b="0" i="0" u="none" strike="noStrike" noProof="0" dirty="0">
                          <a:solidFill>
                            <a:srgbClr val="000000"/>
                          </a:solidFill>
                          <a:latin typeface="Avenir Next LT Pro"/>
                        </a:rPr>
                        <a:t> </a:t>
                      </a:r>
                      <a:r>
                        <a:rPr lang="de-CH" sz="1800" b="0" i="0" u="none" strike="noStrike" noProof="0" dirty="0" err="1">
                          <a:solidFill>
                            <a:srgbClr val="000000"/>
                          </a:solidFill>
                          <a:latin typeface="Avenir Next LT Pro"/>
                        </a:rPr>
                        <a:t>able</a:t>
                      </a:r>
                      <a:r>
                        <a:rPr lang="de-CH" sz="1800" b="0" i="0" u="none" strike="noStrike" noProof="0" dirty="0">
                          <a:solidFill>
                            <a:srgbClr val="000000"/>
                          </a:solidFill>
                          <a:latin typeface="Avenir Next LT Pro"/>
                        </a:rPr>
                        <a:t>... </a:t>
                      </a:r>
                      <a:endParaRPr lang="de-CH" dirty="0"/>
                    </a:p>
                  </a:txBody>
                  <a:tcPr/>
                </a:tc>
                <a:tc>
                  <a:txBody>
                    <a:bodyPr/>
                    <a:lstStyle/>
                    <a:p>
                      <a:r>
                        <a:rPr lang="en-GB" dirty="0"/>
                        <a:t>to </a:t>
                      </a:r>
                      <a:r>
                        <a:rPr lang="en-GB" b="1" dirty="0"/>
                        <a:t>understand of the factors </a:t>
                      </a:r>
                      <a:r>
                        <a:rPr lang="en-GB" dirty="0"/>
                        <a:t>contributing to urban migration, considering social, economic, and environmental aspects.</a:t>
                      </a:r>
                      <a:endParaRPr lang="en-CH" b="1" dirty="0"/>
                    </a:p>
                  </a:txBody>
                  <a:tcPr/>
                </a:tc>
                <a:tc>
                  <a:txBody>
                    <a:bodyPr/>
                    <a:lstStyle/>
                    <a:p>
                      <a:r>
                        <a:rPr lang="en-GB" dirty="0"/>
                        <a:t>to </a:t>
                      </a:r>
                      <a:r>
                        <a:rPr lang="en-GB" b="1" dirty="0"/>
                        <a:t>collect information </a:t>
                      </a:r>
                      <a:r>
                        <a:rPr lang="en-GB" dirty="0"/>
                        <a:t>effectively through various media, including video and photography, to </a:t>
                      </a:r>
                      <a:r>
                        <a:rPr lang="en-GB" dirty="0" err="1"/>
                        <a:t>analyze</a:t>
                      </a:r>
                      <a:r>
                        <a:rPr lang="en-GB" dirty="0"/>
                        <a:t> and present data on urban migration.</a:t>
                      </a:r>
                      <a:endParaRPr lang="en-CH" b="1" dirty="0"/>
                    </a:p>
                  </a:txBody>
                  <a:tcPr/>
                </a:tc>
                <a:tc>
                  <a:txBody>
                    <a:bodyPr/>
                    <a:lstStyle/>
                    <a:p>
                      <a:r>
                        <a:rPr lang="en-GB" dirty="0"/>
                        <a:t>to </a:t>
                      </a:r>
                      <a:r>
                        <a:rPr lang="en-GB" b="1" dirty="0"/>
                        <a:t>engage in constructive debates within groups </a:t>
                      </a:r>
                      <a:r>
                        <a:rPr lang="en-GB" dirty="0"/>
                        <a:t>to discuss challenges related to urban migration and propose potential solutions.</a:t>
                      </a:r>
                      <a:endParaRPr lang="en-CH" b="1" dirty="0"/>
                    </a:p>
                  </a:txBody>
                  <a:tcPr/>
                </a:tc>
                <a:extLst>
                  <a:ext uri="{0D108BD9-81ED-4DB2-BD59-A6C34878D82A}">
                    <a16:rowId xmlns:a16="http://schemas.microsoft.com/office/drawing/2014/main" val="2991621913"/>
                  </a:ext>
                </a:extLst>
              </a:tr>
              <a:tr h="370840">
                <a:tc>
                  <a:txBody>
                    <a:bodyPr/>
                    <a:lstStyle/>
                    <a:p>
                      <a:r>
                        <a:rPr lang="de-CH" sz="1400" b="1" dirty="0" err="1"/>
                        <a:t>Measurable</a:t>
                      </a:r>
                      <a:r>
                        <a:rPr lang="de-CH" sz="1400" b="1" dirty="0"/>
                        <a:t> </a:t>
                      </a:r>
                      <a:r>
                        <a:rPr lang="de-CH" sz="1400" b="1" dirty="0" err="1"/>
                        <a:t>indicator</a:t>
                      </a:r>
                      <a:endParaRPr lang="en-CH" sz="1400" b="1" i="1" dirty="0"/>
                    </a:p>
                  </a:txBody>
                  <a:tcPr/>
                </a:tc>
                <a:tc>
                  <a:txBody>
                    <a:bodyPr/>
                    <a:lstStyle/>
                    <a:p>
                      <a:r>
                        <a:rPr lang="en-GB" sz="1400" i="1" dirty="0"/>
                        <a:t>Successful completion of a knowledge assessment, such as a quiz, reflecting understanding of key concepts related to urban migration</a:t>
                      </a:r>
                      <a:endParaRPr lang="en-CH" sz="1400" i="1" dirty="0"/>
                    </a:p>
                  </a:txBody>
                  <a:tcPr/>
                </a:tc>
                <a:tc>
                  <a:txBody>
                    <a:bodyPr/>
                    <a:lstStyle/>
                    <a:p>
                      <a:r>
                        <a:rPr lang="en-GB" sz="1400" i="1" dirty="0"/>
                        <a:t>Submission of a multimedia presentation or report showcasing collected information, demonstrating proficiency in information gathering skills.</a:t>
                      </a:r>
                      <a:endParaRPr lang="en-CH" sz="1400" i="1" dirty="0"/>
                    </a:p>
                  </a:txBody>
                  <a:tcPr/>
                </a:tc>
                <a:tc>
                  <a:txBody>
                    <a:bodyPr/>
                    <a:lstStyle/>
                    <a:p>
                      <a:r>
                        <a:rPr lang="en-GB" sz="1400" i="1" dirty="0"/>
                        <a:t>Participation in group debates and the submission of a group solution proposal, reflecting an open-minded and collaborative attitude toward problem-solving</a:t>
                      </a:r>
                      <a:endParaRPr lang="en-CH" sz="1400" i="1" dirty="0"/>
                    </a:p>
                  </a:txBody>
                  <a:tcPr/>
                </a:tc>
                <a:extLst>
                  <a:ext uri="{0D108BD9-81ED-4DB2-BD59-A6C34878D82A}">
                    <a16:rowId xmlns:a16="http://schemas.microsoft.com/office/drawing/2014/main" val="2860899679"/>
                  </a:ext>
                </a:extLst>
              </a:tr>
            </a:tbl>
          </a:graphicData>
        </a:graphic>
      </p:graphicFrame>
      <p:pic>
        <p:nvPicPr>
          <p:cNvPr id="3" name="Picture 2">
            <a:extLst>
              <a:ext uri="{FF2B5EF4-FFF2-40B4-BE49-F238E27FC236}">
                <a16:creationId xmlns:a16="http://schemas.microsoft.com/office/drawing/2014/main" id="{4CE82F25-0FBA-0953-FFB1-E35D876E9554}"/>
              </a:ext>
            </a:extLst>
          </p:cNvPr>
          <p:cNvPicPr>
            <a:picLocks noChangeAspect="1"/>
          </p:cNvPicPr>
          <p:nvPr/>
        </p:nvPicPr>
        <p:blipFill>
          <a:blip r:embed="rId2"/>
          <a:stretch>
            <a:fillRect/>
          </a:stretch>
        </p:blipFill>
        <p:spPr>
          <a:xfrm>
            <a:off x="3717738" y="1455493"/>
            <a:ext cx="621846" cy="627942"/>
          </a:xfrm>
          <a:prstGeom prst="rect">
            <a:avLst/>
          </a:prstGeom>
        </p:spPr>
      </p:pic>
      <p:pic>
        <p:nvPicPr>
          <p:cNvPr id="4" name="Picture 3">
            <a:extLst>
              <a:ext uri="{FF2B5EF4-FFF2-40B4-BE49-F238E27FC236}">
                <a16:creationId xmlns:a16="http://schemas.microsoft.com/office/drawing/2014/main" id="{91029A60-DBD2-5D80-EABD-6908661C3B74}"/>
              </a:ext>
            </a:extLst>
          </p:cNvPr>
          <p:cNvPicPr>
            <a:picLocks noChangeAspect="1"/>
          </p:cNvPicPr>
          <p:nvPr/>
        </p:nvPicPr>
        <p:blipFill>
          <a:blip r:embed="rId3"/>
          <a:stretch>
            <a:fillRect/>
          </a:stretch>
        </p:blipFill>
        <p:spPr>
          <a:xfrm>
            <a:off x="6628728" y="1457384"/>
            <a:ext cx="626051" cy="626051"/>
          </a:xfrm>
          <a:prstGeom prst="rect">
            <a:avLst/>
          </a:prstGeom>
        </p:spPr>
      </p:pic>
      <p:pic>
        <p:nvPicPr>
          <p:cNvPr id="8" name="Graphic 7" descr="Heart outline">
            <a:extLst>
              <a:ext uri="{FF2B5EF4-FFF2-40B4-BE49-F238E27FC236}">
                <a16:creationId xmlns:a16="http://schemas.microsoft.com/office/drawing/2014/main" id="{7B1AD864-2505-BC0F-1CD8-BD280B3113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36739" y="1381538"/>
            <a:ext cx="803877" cy="803877"/>
          </a:xfrm>
          <a:prstGeom prst="rect">
            <a:avLst/>
          </a:prstGeom>
        </p:spPr>
      </p:pic>
      <p:pic>
        <p:nvPicPr>
          <p:cNvPr id="9" name="Picture 8">
            <a:extLst>
              <a:ext uri="{FF2B5EF4-FFF2-40B4-BE49-F238E27FC236}">
                <a16:creationId xmlns:a16="http://schemas.microsoft.com/office/drawing/2014/main" id="{F3BED82E-4AA7-A948-693D-32CAB30BA4A5}"/>
              </a:ext>
            </a:extLst>
          </p:cNvPr>
          <p:cNvPicPr>
            <a:picLocks noChangeAspect="1"/>
          </p:cNvPicPr>
          <p:nvPr/>
        </p:nvPicPr>
        <p:blipFill>
          <a:blip r:embed="rId5"/>
          <a:stretch>
            <a:fillRect/>
          </a:stretch>
        </p:blipFill>
        <p:spPr>
          <a:xfrm>
            <a:off x="10566673" y="415497"/>
            <a:ext cx="1019517" cy="1179577"/>
          </a:xfrm>
          <a:prstGeom prst="rect">
            <a:avLst/>
          </a:prstGeom>
        </p:spPr>
      </p:pic>
    </p:spTree>
    <p:extLst>
      <p:ext uri="{BB962C8B-B14F-4D97-AF65-F5344CB8AC3E}">
        <p14:creationId xmlns:p14="http://schemas.microsoft.com/office/powerpoint/2010/main" val="22848774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E6A1A-7E83-2A26-F944-52D4B29C0989}"/>
              </a:ext>
            </a:extLst>
          </p:cNvPr>
          <p:cNvSpPr>
            <a:spLocks noGrp="1"/>
          </p:cNvSpPr>
          <p:nvPr>
            <p:ph type="title"/>
          </p:nvPr>
        </p:nvSpPr>
        <p:spPr/>
        <p:txBody>
          <a:bodyPr/>
          <a:lstStyle/>
          <a:p>
            <a:r>
              <a:rPr lang="de-CH" dirty="0" err="1"/>
              <a:t>Example</a:t>
            </a:r>
            <a:r>
              <a:rPr lang="de-CH" dirty="0"/>
              <a:t> 2: Urban </a:t>
            </a:r>
            <a:r>
              <a:rPr lang="de-CH" dirty="0" err="1"/>
              <a:t>migration</a:t>
            </a:r>
            <a:endParaRPr lang="en-CH" dirty="0"/>
          </a:p>
        </p:txBody>
      </p:sp>
      <p:sp>
        <p:nvSpPr>
          <p:cNvPr id="3" name="Content Placeholder 2">
            <a:extLst>
              <a:ext uri="{FF2B5EF4-FFF2-40B4-BE49-F238E27FC236}">
                <a16:creationId xmlns:a16="http://schemas.microsoft.com/office/drawing/2014/main" id="{0E692BD5-4517-FE08-F395-FE69649F18A0}"/>
              </a:ext>
            </a:extLst>
          </p:cNvPr>
          <p:cNvSpPr>
            <a:spLocks noGrp="1"/>
          </p:cNvSpPr>
          <p:nvPr>
            <p:ph idx="1"/>
          </p:nvPr>
        </p:nvSpPr>
        <p:spPr/>
        <p:txBody>
          <a:bodyPr vert="horz" lIns="91440" tIns="45720" rIns="91440" bIns="45720" rtlCol="0" anchor="t">
            <a:normAutofit fontScale="85000" lnSpcReduction="20000"/>
          </a:bodyPr>
          <a:lstStyle/>
          <a:p>
            <a:pPr marL="0" indent="0">
              <a:buNone/>
            </a:pPr>
            <a:r>
              <a:rPr lang="en-GB" b="1" dirty="0"/>
              <a:t>Learning activities</a:t>
            </a:r>
          </a:p>
          <a:p>
            <a:r>
              <a:rPr lang="en-GB" dirty="0"/>
              <a:t>Brainstorming on urban migration (individual activity)</a:t>
            </a:r>
          </a:p>
          <a:p>
            <a:r>
              <a:rPr lang="en-GB" dirty="0"/>
              <a:t>Collection of information: video, photo, etc.</a:t>
            </a:r>
          </a:p>
          <a:p>
            <a:r>
              <a:rPr lang="en-GB" dirty="0"/>
              <a:t>Debating on how to overcome the challenge (in groups)</a:t>
            </a:r>
          </a:p>
          <a:p>
            <a:pPr marL="0" indent="0">
              <a:buNone/>
            </a:pPr>
            <a:r>
              <a:rPr lang="en-GB" b="1" dirty="0"/>
              <a:t>Assessment</a:t>
            </a:r>
          </a:p>
          <a:p>
            <a:r>
              <a:rPr lang="en-GB" dirty="0"/>
              <a:t>Written reflection on how to overcome the challenge: Propose a solution and develop a strategy </a:t>
            </a:r>
          </a:p>
          <a:p>
            <a:r>
              <a:rPr lang="en-GB" dirty="0"/>
              <a:t>Write a report about migration, asking your elders</a:t>
            </a:r>
          </a:p>
          <a:p>
            <a:endParaRPr lang="en-GB" dirty="0"/>
          </a:p>
        </p:txBody>
      </p:sp>
      <p:sp>
        <p:nvSpPr>
          <p:cNvPr id="6" name="Slide Number Placeholder 5">
            <a:extLst>
              <a:ext uri="{FF2B5EF4-FFF2-40B4-BE49-F238E27FC236}">
                <a16:creationId xmlns:a16="http://schemas.microsoft.com/office/drawing/2014/main" id="{FBD39606-4185-76E0-782E-5C756BE59826}"/>
              </a:ext>
            </a:extLst>
          </p:cNvPr>
          <p:cNvSpPr>
            <a:spLocks noGrp="1"/>
          </p:cNvSpPr>
          <p:nvPr>
            <p:ph type="sldNum" sz="quarter" idx="12"/>
          </p:nvPr>
        </p:nvSpPr>
        <p:spPr/>
        <p:txBody>
          <a:bodyPr/>
          <a:lstStyle/>
          <a:p>
            <a:fld id="{A65A5C87-DF58-40C8-B092-1DE63DB4547E}" type="slidenum">
              <a:rPr lang="en-US" smtClean="0"/>
              <a:t>41</a:t>
            </a:fld>
            <a:endParaRPr lang="en-US" dirty="0"/>
          </a:p>
        </p:txBody>
      </p:sp>
      <p:pic>
        <p:nvPicPr>
          <p:cNvPr id="7" name="Picture 6">
            <a:extLst>
              <a:ext uri="{FF2B5EF4-FFF2-40B4-BE49-F238E27FC236}">
                <a16:creationId xmlns:a16="http://schemas.microsoft.com/office/drawing/2014/main" id="{51318164-DC53-10FE-DD41-316463FD0409}"/>
              </a:ext>
            </a:extLst>
          </p:cNvPr>
          <p:cNvPicPr>
            <a:picLocks noChangeAspect="1"/>
          </p:cNvPicPr>
          <p:nvPr/>
        </p:nvPicPr>
        <p:blipFill>
          <a:blip r:embed="rId2"/>
          <a:stretch>
            <a:fillRect/>
          </a:stretch>
        </p:blipFill>
        <p:spPr>
          <a:xfrm>
            <a:off x="10566673" y="415497"/>
            <a:ext cx="1019517" cy="1179577"/>
          </a:xfrm>
          <a:prstGeom prst="rect">
            <a:avLst/>
          </a:prstGeom>
        </p:spPr>
      </p:pic>
    </p:spTree>
    <p:extLst>
      <p:ext uri="{BB962C8B-B14F-4D97-AF65-F5344CB8AC3E}">
        <p14:creationId xmlns:p14="http://schemas.microsoft.com/office/powerpoint/2010/main" val="24662157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pPr marL="0" indent="0">
              <a:lnSpc>
                <a:spcPct val="110000"/>
              </a:lnSpc>
              <a:buNone/>
            </a:pPr>
            <a:r>
              <a:rPr lang="en-US" sz="5400" dirty="0">
                <a:effectLst/>
                <a:ea typeface="Calibri" panose="020F0502020204030204" pitchFamily="34" charset="0"/>
              </a:rPr>
              <a:t>Reflection</a:t>
            </a:r>
            <a:endParaRPr lang="en-US" sz="5400" dirty="0">
              <a:highlight>
                <a:srgbClr val="FFFF00"/>
              </a:highlight>
            </a:endParaRP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normAutofit/>
          </a:bodyPr>
          <a:lstStyle/>
          <a:p>
            <a:pPr algn="ctr"/>
            <a:r>
              <a:rPr lang="en-US" sz="9600" dirty="0"/>
              <a:t>4</a:t>
            </a:r>
          </a:p>
        </p:txBody>
      </p:sp>
    </p:spTree>
    <p:extLst>
      <p:ext uri="{BB962C8B-B14F-4D97-AF65-F5344CB8AC3E}">
        <p14:creationId xmlns:p14="http://schemas.microsoft.com/office/powerpoint/2010/main" val="20311940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E6A1A-7E83-2A26-F944-52D4B29C0989}"/>
              </a:ext>
            </a:extLst>
          </p:cNvPr>
          <p:cNvSpPr>
            <a:spLocks noGrp="1"/>
          </p:cNvSpPr>
          <p:nvPr>
            <p:ph type="title"/>
          </p:nvPr>
        </p:nvSpPr>
        <p:spPr>
          <a:xfrm>
            <a:off x="841246" y="978619"/>
            <a:ext cx="5991244" cy="1106424"/>
          </a:xfrm>
        </p:spPr>
        <p:txBody>
          <a:bodyPr vert="horz" lIns="91440" tIns="45720" rIns="91440" bIns="45720" rtlCol="0" anchor="ctr">
            <a:normAutofit/>
          </a:bodyPr>
          <a:lstStyle/>
          <a:p>
            <a:r>
              <a:rPr lang="en-US" sz="3200" dirty="0"/>
              <a:t>Reflection task: Muddiest point</a:t>
            </a:r>
          </a:p>
        </p:txBody>
      </p:sp>
      <p:sp>
        <p:nvSpPr>
          <p:cNvPr id="9" name="TextBox 8">
            <a:extLst>
              <a:ext uri="{FF2B5EF4-FFF2-40B4-BE49-F238E27FC236}">
                <a16:creationId xmlns:a16="http://schemas.microsoft.com/office/drawing/2014/main" id="{079D97C2-AB43-5C8D-2AB8-71368E8734BB}"/>
              </a:ext>
            </a:extLst>
          </p:cNvPr>
          <p:cNvSpPr txBox="1"/>
          <p:nvPr/>
        </p:nvSpPr>
        <p:spPr>
          <a:xfrm>
            <a:off x="841248" y="2252870"/>
            <a:ext cx="5993892" cy="3560251"/>
          </a:xfrm>
          <a:prstGeom prst="rect">
            <a:avLst/>
          </a:prstGeom>
        </p:spPr>
        <p:txBody>
          <a:bodyPr vert="horz" lIns="91440" tIns="45720" rIns="91440" bIns="45720" rtlCol="0">
            <a:normAutofit/>
          </a:bodyPr>
          <a:lstStyle/>
          <a:p>
            <a:pPr marL="342900" indent="-342900">
              <a:lnSpc>
                <a:spcPct val="110000"/>
              </a:lnSpc>
              <a:spcAft>
                <a:spcPts val="600"/>
              </a:spcAft>
              <a:buFont typeface="Arial" panose="020B0604020202020204" pitchFamily="34" charset="0"/>
              <a:buChar char="•"/>
            </a:pPr>
            <a:r>
              <a:rPr lang="en-GB" sz="2400" dirty="0"/>
              <a:t>Take a few minutes to write down the most difficult or confusing part of today’s session. </a:t>
            </a:r>
          </a:p>
          <a:p>
            <a:pPr marL="342900" indent="-342900">
              <a:lnSpc>
                <a:spcPct val="110000"/>
              </a:lnSpc>
              <a:spcAft>
                <a:spcPts val="600"/>
              </a:spcAft>
              <a:buFont typeface="Arial" panose="020B0604020202020204" pitchFamily="34" charset="0"/>
              <a:buChar char="•"/>
            </a:pPr>
            <a:r>
              <a:rPr lang="en-US" sz="2400" dirty="0"/>
              <a:t>We will address your “muddiest points” in the next session. </a:t>
            </a:r>
          </a:p>
          <a:p>
            <a:pPr>
              <a:lnSpc>
                <a:spcPct val="110000"/>
              </a:lnSpc>
              <a:spcAft>
                <a:spcPts val="600"/>
              </a:spcAft>
            </a:pPr>
            <a:endParaRPr lang="en-US" sz="2400" dirty="0">
              <a:hlinkClick r:id="rId3"/>
            </a:endParaRPr>
          </a:p>
        </p:txBody>
      </p:sp>
      <p:pic>
        <p:nvPicPr>
          <p:cNvPr id="8" name="Content Placeholder 7">
            <a:extLst>
              <a:ext uri="{FF2B5EF4-FFF2-40B4-BE49-F238E27FC236}">
                <a16:creationId xmlns:a16="http://schemas.microsoft.com/office/drawing/2014/main" id="{0726DA7D-E295-AA52-357F-8EB590DC895F}"/>
              </a:ext>
            </a:extLst>
          </p:cNvPr>
          <p:cNvPicPr>
            <a:picLocks noGrp="1" noChangeAspect="1"/>
          </p:cNvPicPr>
          <p:nvPr>
            <p:ph idx="1"/>
          </p:nvPr>
        </p:nvPicPr>
        <p:blipFill>
          <a:blip r:embed="rId4"/>
          <a:stretch>
            <a:fillRect/>
          </a:stretch>
        </p:blipFill>
        <p:spPr>
          <a:xfrm>
            <a:off x="7679814" y="784698"/>
            <a:ext cx="4097657" cy="5188020"/>
          </a:xfrm>
          <a:prstGeom prst="rect">
            <a:avLst/>
          </a:prstGeom>
        </p:spPr>
      </p:pic>
      <p:sp>
        <p:nvSpPr>
          <p:cNvPr id="6" name="Slide Number Placeholder 5">
            <a:extLst>
              <a:ext uri="{FF2B5EF4-FFF2-40B4-BE49-F238E27FC236}">
                <a16:creationId xmlns:a16="http://schemas.microsoft.com/office/drawing/2014/main" id="{FBD39606-4185-76E0-782E-5C756BE59826}"/>
              </a:ext>
            </a:extLst>
          </p:cNvPr>
          <p:cNvSpPr>
            <a:spLocks noGrp="1"/>
          </p:cNvSpPr>
          <p:nvPr>
            <p:ph type="sldNum" sz="quarter" idx="12"/>
          </p:nvPr>
        </p:nvSpPr>
        <p:spPr>
          <a:xfrm>
            <a:off x="8613648" y="6356350"/>
            <a:ext cx="2743200" cy="365125"/>
          </a:xfrm>
        </p:spPr>
        <p:txBody>
          <a:bodyPr vert="horz" lIns="91440" tIns="45720" rIns="91440" bIns="45720" rtlCol="0" anchor="ctr">
            <a:normAutofit/>
          </a:bodyPr>
          <a:lstStyle/>
          <a:p>
            <a:pPr>
              <a:spcAft>
                <a:spcPts val="600"/>
              </a:spcAft>
            </a:pPr>
            <a:fld id="{A65A5C87-DF58-40C8-B092-1DE63DB4547E}" type="slidenum">
              <a:rPr lang="en-US">
                <a:solidFill>
                  <a:schemeClr val="tx2">
                    <a:lumMod val="50000"/>
                    <a:lumOff val="50000"/>
                  </a:schemeClr>
                </a:solidFill>
              </a:rPr>
              <a:pPr>
                <a:spcAft>
                  <a:spcPts val="600"/>
                </a:spcAft>
              </a:pPr>
              <a:t>43</a:t>
            </a:fld>
            <a:endParaRPr lang="en-US">
              <a:solidFill>
                <a:schemeClr val="tx2">
                  <a:lumMod val="50000"/>
                  <a:lumOff val="50000"/>
                </a:schemeClr>
              </a:solidFill>
            </a:endParaRPr>
          </a:p>
        </p:txBody>
      </p:sp>
    </p:spTree>
    <p:extLst>
      <p:ext uri="{BB962C8B-B14F-4D97-AF65-F5344CB8AC3E}">
        <p14:creationId xmlns:p14="http://schemas.microsoft.com/office/powerpoint/2010/main" val="40487698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260C1-2556-A004-4422-3CFAC1372BC5}"/>
              </a:ext>
            </a:extLst>
          </p:cNvPr>
          <p:cNvSpPr>
            <a:spLocks noGrp="1"/>
          </p:cNvSpPr>
          <p:nvPr>
            <p:ph type="title"/>
          </p:nvPr>
        </p:nvSpPr>
        <p:spPr>
          <a:xfrm>
            <a:off x="841248" y="256032"/>
            <a:ext cx="10506456" cy="1014984"/>
          </a:xfrm>
        </p:spPr>
        <p:txBody>
          <a:bodyPr anchor="b">
            <a:normAutofit/>
          </a:bodyPr>
          <a:lstStyle/>
          <a:p>
            <a:r>
              <a:rPr lang="en-GB" sz="3700" dirty="0">
                <a:latin typeface="Avenir Next LT Pro"/>
                <a:cs typeface="Arial"/>
              </a:rPr>
              <a:t>Task after Session 3 – Session development</a:t>
            </a:r>
            <a:endParaRPr lang="en-US" sz="3700" dirty="0"/>
          </a:p>
        </p:txBody>
      </p:sp>
      <p:sp>
        <p:nvSpPr>
          <p:cNvPr id="6" name="Slide Number Placeholder 5">
            <a:extLst>
              <a:ext uri="{FF2B5EF4-FFF2-40B4-BE49-F238E27FC236}">
                <a16:creationId xmlns:a16="http://schemas.microsoft.com/office/drawing/2014/main" id="{A346D40A-E872-7071-0F94-4FD48DEFD9FC}"/>
              </a:ext>
            </a:extLst>
          </p:cNvPr>
          <p:cNvSpPr>
            <a:spLocks noGrp="1"/>
          </p:cNvSpPr>
          <p:nvPr>
            <p:ph type="sldNum" sz="quarter" idx="12"/>
          </p:nvPr>
        </p:nvSpPr>
        <p:spPr>
          <a:xfrm>
            <a:off x="8873254" y="6356350"/>
            <a:ext cx="2477498" cy="365125"/>
          </a:xfrm>
        </p:spPr>
        <p:txBody>
          <a:bodyPr>
            <a:normAutofit/>
          </a:bodyPr>
          <a:lstStyle/>
          <a:p>
            <a:pPr>
              <a:spcAft>
                <a:spcPts val="600"/>
              </a:spcAft>
            </a:pPr>
            <a:fld id="{A65A5C87-DF58-40C8-B092-1DE63DB4547E}" type="slidenum">
              <a:rPr lang="en-US" smtClean="0"/>
              <a:pPr>
                <a:spcAft>
                  <a:spcPts val="600"/>
                </a:spcAft>
              </a:pPr>
              <a:t>44</a:t>
            </a:fld>
            <a:endParaRPr lang="en-US"/>
          </a:p>
        </p:txBody>
      </p:sp>
      <p:graphicFrame>
        <p:nvGraphicFramePr>
          <p:cNvPr id="8" name="Content Placeholder 2">
            <a:extLst>
              <a:ext uri="{FF2B5EF4-FFF2-40B4-BE49-F238E27FC236}">
                <a16:creationId xmlns:a16="http://schemas.microsoft.com/office/drawing/2014/main" id="{4A3C513B-178A-E67E-8D07-A2FBC1C2AC2A}"/>
              </a:ext>
            </a:extLst>
          </p:cNvPr>
          <p:cNvGraphicFramePr>
            <a:graphicFrameLocks noGrp="1"/>
          </p:cNvGraphicFramePr>
          <p:nvPr>
            <p:ph idx="1"/>
            <p:extLst>
              <p:ext uri="{D42A27DB-BD31-4B8C-83A1-F6EECF244321}">
                <p14:modId xmlns:p14="http://schemas.microsoft.com/office/powerpoint/2010/main" val="2396911871"/>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473400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39149-F6EC-015F-1BEF-932BFB3AFF3B}"/>
              </a:ext>
            </a:extLst>
          </p:cNvPr>
          <p:cNvSpPr>
            <a:spLocks noGrp="1"/>
          </p:cNvSpPr>
          <p:nvPr>
            <p:ph type="title"/>
          </p:nvPr>
        </p:nvSpPr>
        <p:spPr>
          <a:xfrm>
            <a:off x="841246" y="978619"/>
            <a:ext cx="5991244" cy="1106424"/>
          </a:xfrm>
        </p:spPr>
        <p:txBody>
          <a:bodyPr>
            <a:normAutofit/>
          </a:bodyPr>
          <a:lstStyle/>
          <a:p>
            <a:r>
              <a:rPr lang="en-GB" sz="3200" dirty="0"/>
              <a:t>Overall Course Project</a:t>
            </a:r>
          </a:p>
        </p:txBody>
      </p:sp>
      <p:pic>
        <p:nvPicPr>
          <p:cNvPr id="8" name="Picture 7" descr="Drawings on colourful paper">
            <a:extLst>
              <a:ext uri="{FF2B5EF4-FFF2-40B4-BE49-F238E27FC236}">
                <a16:creationId xmlns:a16="http://schemas.microsoft.com/office/drawing/2014/main" id="{33E71B99-0A4F-803A-4EAE-B22F7CDD9F4F}"/>
              </a:ext>
            </a:extLst>
          </p:cNvPr>
          <p:cNvPicPr>
            <a:picLocks noChangeAspect="1"/>
          </p:cNvPicPr>
          <p:nvPr/>
        </p:nvPicPr>
        <p:blipFill rotWithShape="1">
          <a:blip r:embed="rId2"/>
          <a:srcRect l="15114" r="41099" b="-3"/>
          <a:stretch/>
        </p:blipFill>
        <p:spPr>
          <a:xfrm>
            <a:off x="10130589" y="136525"/>
            <a:ext cx="1139097" cy="1736520"/>
          </a:xfrm>
          <a:prstGeom prst="rect">
            <a:avLst/>
          </a:prstGeom>
        </p:spPr>
      </p:pic>
      <p:sp>
        <p:nvSpPr>
          <p:cNvPr id="4" name="Date Placeholder 3">
            <a:extLst>
              <a:ext uri="{FF2B5EF4-FFF2-40B4-BE49-F238E27FC236}">
                <a16:creationId xmlns:a16="http://schemas.microsoft.com/office/drawing/2014/main" id="{6118C714-5910-8836-A854-08998C3669A3}"/>
              </a:ext>
            </a:extLst>
          </p:cNvPr>
          <p:cNvSpPr>
            <a:spLocks noGrp="1"/>
          </p:cNvSpPr>
          <p:nvPr>
            <p:ph type="dt" sz="half" idx="10"/>
          </p:nvPr>
        </p:nvSpPr>
        <p:spPr>
          <a:xfrm>
            <a:off x="841248" y="6356350"/>
            <a:ext cx="2743200" cy="365125"/>
          </a:xfrm>
        </p:spPr>
        <p:txBody>
          <a:bodyPr>
            <a:normAutofit/>
          </a:bodyPr>
          <a:lstStyle/>
          <a:p>
            <a:pPr>
              <a:spcAft>
                <a:spcPts val="600"/>
              </a:spcAft>
            </a:pPr>
            <a:r>
              <a:rPr lang="en-US">
                <a:solidFill>
                  <a:schemeClr val="tx2">
                    <a:lumMod val="50000"/>
                    <a:lumOff val="50000"/>
                  </a:schemeClr>
                </a:solidFill>
              </a:rPr>
              <a:t>9/4/20XX</a:t>
            </a:r>
          </a:p>
        </p:txBody>
      </p:sp>
      <p:sp>
        <p:nvSpPr>
          <p:cNvPr id="5" name="Footer Placeholder 4">
            <a:extLst>
              <a:ext uri="{FF2B5EF4-FFF2-40B4-BE49-F238E27FC236}">
                <a16:creationId xmlns:a16="http://schemas.microsoft.com/office/drawing/2014/main" id="{1FFD434A-EF15-2775-21B6-04AE74E6CD95}"/>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solidFill>
                  <a:schemeClr val="tx2">
                    <a:lumMod val="50000"/>
                    <a:lumOff val="50000"/>
                  </a:schemeClr>
                </a:solidFill>
              </a:rPr>
              <a:t>Presentation Title</a:t>
            </a:r>
          </a:p>
        </p:txBody>
      </p:sp>
      <p:graphicFrame>
        <p:nvGraphicFramePr>
          <p:cNvPr id="10" name="Table 9">
            <a:extLst>
              <a:ext uri="{FF2B5EF4-FFF2-40B4-BE49-F238E27FC236}">
                <a16:creationId xmlns:a16="http://schemas.microsoft.com/office/drawing/2014/main" id="{28D9ADCE-7E7E-3C8C-8317-5F860FA9BD80}"/>
              </a:ext>
            </a:extLst>
          </p:cNvPr>
          <p:cNvGraphicFramePr>
            <a:graphicFrameLocks noGrp="1"/>
          </p:cNvGraphicFramePr>
          <p:nvPr>
            <p:extLst>
              <p:ext uri="{D42A27DB-BD31-4B8C-83A1-F6EECF244321}">
                <p14:modId xmlns:p14="http://schemas.microsoft.com/office/powerpoint/2010/main" val="11350684"/>
              </p:ext>
            </p:extLst>
          </p:nvPr>
        </p:nvGraphicFramePr>
        <p:xfrm>
          <a:off x="587594" y="2020888"/>
          <a:ext cx="9992227" cy="4762182"/>
        </p:xfrm>
        <a:graphic>
          <a:graphicData uri="http://schemas.openxmlformats.org/drawingml/2006/table">
            <a:tbl>
              <a:tblPr firstRow="1" bandRow="1">
                <a:tableStyleId>{5C22544A-7EE6-4342-B048-85BDC9FD1C3A}</a:tableStyleId>
              </a:tblPr>
              <a:tblGrid>
                <a:gridCol w="1024637">
                  <a:extLst>
                    <a:ext uri="{9D8B030D-6E8A-4147-A177-3AD203B41FA5}">
                      <a16:colId xmlns:a16="http://schemas.microsoft.com/office/drawing/2014/main" val="3746407580"/>
                    </a:ext>
                  </a:extLst>
                </a:gridCol>
                <a:gridCol w="3356811">
                  <a:extLst>
                    <a:ext uri="{9D8B030D-6E8A-4147-A177-3AD203B41FA5}">
                      <a16:colId xmlns:a16="http://schemas.microsoft.com/office/drawing/2014/main" val="1835962411"/>
                    </a:ext>
                  </a:extLst>
                </a:gridCol>
                <a:gridCol w="5610779">
                  <a:extLst>
                    <a:ext uri="{9D8B030D-6E8A-4147-A177-3AD203B41FA5}">
                      <a16:colId xmlns:a16="http://schemas.microsoft.com/office/drawing/2014/main" val="4132134866"/>
                    </a:ext>
                  </a:extLst>
                </a:gridCol>
              </a:tblGrid>
              <a:tr h="306139">
                <a:tc>
                  <a:txBody>
                    <a:bodyPr/>
                    <a:lstStyle/>
                    <a:p>
                      <a:r>
                        <a:rPr lang="de-CH" sz="1400"/>
                        <a:t>Session</a:t>
                      </a:r>
                      <a:endParaRPr lang="en-CH" sz="1400"/>
                    </a:p>
                  </a:txBody>
                  <a:tcPr/>
                </a:tc>
                <a:tc>
                  <a:txBody>
                    <a:bodyPr/>
                    <a:lstStyle/>
                    <a:p>
                      <a:r>
                        <a:rPr lang="de-CH" sz="1400" err="1"/>
                        <a:t>Addressed</a:t>
                      </a:r>
                      <a:r>
                        <a:rPr lang="de-CH" sz="1400"/>
                        <a:t> </a:t>
                      </a:r>
                      <a:r>
                        <a:rPr lang="de-CH" sz="1400" err="1"/>
                        <a:t>topics</a:t>
                      </a:r>
                      <a:endParaRPr lang="en-CH" sz="1400"/>
                    </a:p>
                  </a:txBody>
                  <a:tcPr/>
                </a:tc>
                <a:tc>
                  <a:txBody>
                    <a:bodyPr/>
                    <a:lstStyle/>
                    <a:p>
                      <a:r>
                        <a:rPr lang="de-CH" sz="1400"/>
                        <a:t>Tasks</a:t>
                      </a:r>
                      <a:endParaRPr lang="en-CH" sz="1400"/>
                    </a:p>
                  </a:txBody>
                  <a:tcPr/>
                </a:tc>
                <a:extLst>
                  <a:ext uri="{0D108BD9-81ED-4DB2-BD59-A6C34878D82A}">
                    <a16:rowId xmlns:a16="http://schemas.microsoft.com/office/drawing/2014/main" val="1186345061"/>
                  </a:ext>
                </a:extLst>
              </a:tr>
              <a:tr h="881782">
                <a:tc>
                  <a:txBody>
                    <a:bodyPr/>
                    <a:lstStyle/>
                    <a:p>
                      <a:r>
                        <a:rPr lang="de-CH" sz="1400"/>
                        <a:t>1</a:t>
                      </a:r>
                      <a:endParaRPr lang="en-CH" sz="1400"/>
                    </a:p>
                  </a:txBody>
                  <a:tcPr/>
                </a:tc>
                <a:tc>
                  <a:txBody>
                    <a:bodyPr/>
                    <a:lstStyle/>
                    <a:p>
                      <a:pPr marL="285750" indent="-285750">
                        <a:buFont typeface="Arial" panose="020B0604020202020204" pitchFamily="34" charset="0"/>
                        <a:buChar char="•"/>
                      </a:pPr>
                      <a:r>
                        <a:rPr lang="de-CH" sz="1400" err="1"/>
                        <a:t>Defining</a:t>
                      </a:r>
                      <a:r>
                        <a:rPr lang="de-CH" sz="1400"/>
                        <a:t> </a:t>
                      </a:r>
                      <a:r>
                        <a:rPr lang="de-CH" sz="1400" err="1"/>
                        <a:t>Sustainable</a:t>
                      </a:r>
                      <a:r>
                        <a:rPr lang="de-CH" sz="1400"/>
                        <a:t> Development</a:t>
                      </a:r>
                    </a:p>
                    <a:p>
                      <a:pPr marL="285750" indent="-285750">
                        <a:buFont typeface="Arial" panose="020B0604020202020204" pitchFamily="34" charset="0"/>
                        <a:buChar char="•"/>
                      </a:pPr>
                      <a:r>
                        <a:rPr lang="de-CH" sz="1400"/>
                        <a:t>Sustainability Challenges</a:t>
                      </a:r>
                    </a:p>
                    <a:p>
                      <a:pPr marL="285750" indent="-285750">
                        <a:buFont typeface="Arial" panose="020B0604020202020204" pitchFamily="34" charset="0"/>
                        <a:buChar char="•"/>
                      </a:pPr>
                      <a:r>
                        <a:rPr lang="de-CH" sz="1400"/>
                        <a:t>Further Sustainability </a:t>
                      </a:r>
                      <a:r>
                        <a:rPr lang="de-CH" sz="1400" err="1"/>
                        <a:t>Perspectives</a:t>
                      </a:r>
                      <a:endParaRPr lang="en-CH" sz="1400"/>
                    </a:p>
                  </a:txBody>
                  <a:tcPr/>
                </a:tc>
                <a:tc>
                  <a:txBody>
                    <a:bodyPr/>
                    <a:lstStyle/>
                    <a:p>
                      <a:r>
                        <a:rPr lang="en-GB" sz="1400"/>
                        <a:t>Reflect on how Sustainable Development (SD) concepts and topics are currently integrated into your teaching practices. Evaluate your existing course content and syllabi. Identify areas for strengthening the integration of SD into your teaching practices</a:t>
                      </a:r>
                      <a:endParaRPr lang="en-CH" sz="1400"/>
                    </a:p>
                  </a:txBody>
                  <a:tcPr/>
                </a:tc>
                <a:extLst>
                  <a:ext uri="{0D108BD9-81ED-4DB2-BD59-A6C34878D82A}">
                    <a16:rowId xmlns:a16="http://schemas.microsoft.com/office/drawing/2014/main" val="209548986"/>
                  </a:ext>
                </a:extLst>
              </a:tr>
              <a:tr h="934795">
                <a:tc>
                  <a:txBody>
                    <a:bodyPr/>
                    <a:lstStyle/>
                    <a:p>
                      <a:r>
                        <a:rPr lang="de-CH" sz="1400"/>
                        <a:t>2</a:t>
                      </a:r>
                      <a:endParaRPr lang="en-CH" sz="1400"/>
                    </a:p>
                  </a:txBody>
                  <a:tcPr/>
                </a:tc>
                <a:tc>
                  <a:txBody>
                    <a:bodyPr/>
                    <a:lstStyle/>
                    <a:p>
                      <a:pPr marL="285750" indent="-285750">
                        <a:buFont typeface="Arial" panose="020B0604020202020204" pitchFamily="34" charset="0"/>
                        <a:buChar char="•"/>
                      </a:pPr>
                      <a:r>
                        <a:rPr lang="de-CH" sz="1400"/>
                        <a:t>Interlinkages </a:t>
                      </a:r>
                      <a:r>
                        <a:rPr lang="de-CH" sz="1400" err="1"/>
                        <a:t>of</a:t>
                      </a:r>
                      <a:r>
                        <a:rPr lang="de-CH" sz="1400"/>
                        <a:t> Sustainability </a:t>
                      </a:r>
                      <a:r>
                        <a:rPr lang="de-CH" sz="1400" err="1"/>
                        <a:t>Dimensions</a:t>
                      </a:r>
                      <a:endParaRPr lang="de-CH" sz="1400"/>
                    </a:p>
                    <a:p>
                      <a:pPr marL="285750" indent="-285750">
                        <a:buFont typeface="Arial" panose="020B0604020202020204" pitchFamily="34" charset="0"/>
                        <a:buChar char="•"/>
                      </a:pPr>
                      <a:r>
                        <a:rPr lang="de-CH" sz="1400" err="1"/>
                        <a:t>Role</a:t>
                      </a:r>
                      <a:r>
                        <a:rPr lang="de-CH" sz="1400"/>
                        <a:t> </a:t>
                      </a:r>
                      <a:r>
                        <a:rPr lang="de-CH" sz="1400" err="1"/>
                        <a:t>of</a:t>
                      </a:r>
                      <a:r>
                        <a:rPr lang="de-CH" sz="1400"/>
                        <a:t> Science and Higher Education</a:t>
                      </a:r>
                    </a:p>
                    <a:p>
                      <a:pPr marL="285750" indent="-285750">
                        <a:buFont typeface="Arial" panose="020B0604020202020204" pitchFamily="34" charset="0"/>
                        <a:buChar char="•"/>
                      </a:pPr>
                      <a:r>
                        <a:rPr lang="de-CH" sz="1400" err="1"/>
                        <a:t>Disciplinary</a:t>
                      </a:r>
                      <a:r>
                        <a:rPr lang="de-CH" sz="1400"/>
                        <a:t> </a:t>
                      </a:r>
                      <a:r>
                        <a:rPr lang="de-CH" sz="1400" err="1"/>
                        <a:t>Contributions</a:t>
                      </a:r>
                      <a:r>
                        <a:rPr lang="de-CH" sz="1400"/>
                        <a:t>; links </a:t>
                      </a:r>
                      <a:r>
                        <a:rPr lang="de-CH" sz="1400" err="1"/>
                        <a:t>between</a:t>
                      </a:r>
                      <a:r>
                        <a:rPr lang="de-CH" sz="1400"/>
                        <a:t> </a:t>
                      </a:r>
                      <a:r>
                        <a:rPr lang="de-CH" sz="1400" err="1"/>
                        <a:t>disciplines</a:t>
                      </a:r>
                      <a:r>
                        <a:rPr lang="de-CH" sz="1400"/>
                        <a:t> and SD </a:t>
                      </a:r>
                      <a:endParaRPr lang="en-CH" sz="1400"/>
                    </a:p>
                  </a:txBody>
                  <a:tcPr/>
                </a:tc>
                <a:tc>
                  <a:txBody>
                    <a:bodyPr/>
                    <a:lstStyle/>
                    <a:p>
                      <a:r>
                        <a:rPr lang="en-GB" sz="1400" dirty="0"/>
                        <a:t>Identify opportunities to incorporate Sustainable Development concepts and topics. These could include the Sustainable Development Goals</a:t>
                      </a:r>
                      <a:r>
                        <a:rPr lang="en-CH" sz="1400" dirty="0"/>
                        <a:t> </a:t>
                      </a:r>
                      <a:r>
                        <a:rPr lang="en-GB" sz="1400" dirty="0">
                          <a:ea typeface="+mn-lt"/>
                          <a:cs typeface="+mn-lt"/>
                        </a:rPr>
                        <a:t>(+other frameworks relevant to your context)</a:t>
                      </a:r>
                      <a:r>
                        <a:rPr lang="en-GB" sz="1400" dirty="0"/>
                        <a:t>, global sustainability challenges, or different sustainability perspectives. </a:t>
                      </a:r>
                    </a:p>
                    <a:p>
                      <a:r>
                        <a:rPr lang="en-GB" sz="1400" dirty="0"/>
                        <a:t>What is the link between your discipline and SD? </a:t>
                      </a:r>
                      <a:endParaRPr lang="en-CH" sz="1400" dirty="0"/>
                    </a:p>
                  </a:txBody>
                  <a:tcPr/>
                </a:tc>
                <a:extLst>
                  <a:ext uri="{0D108BD9-81ED-4DB2-BD59-A6C34878D82A}">
                    <a16:rowId xmlns:a16="http://schemas.microsoft.com/office/drawing/2014/main" val="1573014285"/>
                  </a:ext>
                </a:extLst>
              </a:tr>
              <a:tr h="1116097">
                <a:tc>
                  <a:txBody>
                    <a:bodyPr/>
                    <a:lstStyle/>
                    <a:p>
                      <a:r>
                        <a:rPr lang="de-CH" sz="1400"/>
                        <a:t>3</a:t>
                      </a:r>
                      <a:endParaRPr lang="en-CH" sz="1400"/>
                    </a:p>
                  </a:txBody>
                  <a:tcPr/>
                </a:tc>
                <a:tc>
                  <a:txBody>
                    <a:bodyPr/>
                    <a:lstStyle/>
                    <a:p>
                      <a:pPr marL="285750" indent="-285750">
                        <a:buFont typeface="Arial" panose="020B0604020202020204" pitchFamily="34" charset="0"/>
                        <a:buChar char="•"/>
                      </a:pPr>
                      <a:r>
                        <a:rPr lang="de-CH" sz="1400"/>
                        <a:t>Education for </a:t>
                      </a:r>
                      <a:r>
                        <a:rPr lang="de-CH" sz="1400" err="1"/>
                        <a:t>Sustainable</a:t>
                      </a:r>
                      <a:r>
                        <a:rPr lang="de-CH" sz="1400"/>
                        <a:t> Development</a:t>
                      </a:r>
                    </a:p>
                    <a:p>
                      <a:pPr marL="285750" indent="-285750">
                        <a:buFont typeface="Arial" panose="020B0604020202020204" pitchFamily="34" charset="0"/>
                        <a:buChar char="•"/>
                      </a:pPr>
                      <a:r>
                        <a:rPr lang="de-CH" sz="1400" err="1"/>
                        <a:t>Constructive</a:t>
                      </a:r>
                      <a:r>
                        <a:rPr lang="de-CH" sz="1400"/>
                        <a:t> Alignment</a:t>
                      </a:r>
                      <a:endParaRPr lang="en-CH" sz="1400"/>
                    </a:p>
                  </a:txBody>
                  <a:tcPr/>
                </a:tc>
                <a:tc>
                  <a:txBody>
                    <a:bodyPr/>
                    <a:lstStyle/>
                    <a:p>
                      <a:r>
                        <a:rPr lang="en-GB" sz="1400" dirty="0"/>
                        <a:t>Find a topic related to SD in your discipline. Develop a lesson/session based on constructive alignment: Formulate at least three learning outcomes, think of suitable learning activities (that actively engage students in understanding and applying SD and ESD principles) and design an assessment format.</a:t>
                      </a:r>
                    </a:p>
                  </a:txBody>
                  <a:tcPr/>
                </a:tc>
                <a:extLst>
                  <a:ext uri="{0D108BD9-81ED-4DB2-BD59-A6C34878D82A}">
                    <a16:rowId xmlns:a16="http://schemas.microsoft.com/office/drawing/2014/main" val="1035713336"/>
                  </a:ext>
                </a:extLst>
              </a:tr>
              <a:tr h="981323">
                <a:tc>
                  <a:txBody>
                    <a:bodyPr/>
                    <a:lstStyle/>
                    <a:p>
                      <a:r>
                        <a:rPr lang="de-CH" sz="1400"/>
                        <a:t>4</a:t>
                      </a:r>
                      <a:endParaRPr lang="en-CH" sz="1400"/>
                    </a:p>
                  </a:txBody>
                  <a:tcPr/>
                </a:tc>
                <a:tc>
                  <a:txBody>
                    <a:bodyPr/>
                    <a:lstStyle/>
                    <a:p>
                      <a:r>
                        <a:rPr lang="en-GB" sz="1400" dirty="0"/>
                        <a:t>Present your Action Plan and identify collaboration opportunities </a:t>
                      </a:r>
                      <a:endParaRPr lang="en-CH" sz="1400" dirty="0"/>
                    </a:p>
                  </a:txBody>
                  <a:tcPr/>
                </a:tc>
                <a:tc>
                  <a:txBody>
                    <a:bodyPr/>
                    <a:lstStyle/>
                    <a:p>
                      <a:r>
                        <a:rPr lang="en-GB" sz="1400" dirty="0"/>
                        <a:t>Explore opportunities for collaboration with other lecturers, departments, or external organizations working on sustainability initiatives. </a:t>
                      </a:r>
                      <a:endParaRPr lang="en-CH" sz="1400" dirty="0"/>
                    </a:p>
                  </a:txBody>
                  <a:tcPr/>
                </a:tc>
                <a:extLst>
                  <a:ext uri="{0D108BD9-81ED-4DB2-BD59-A6C34878D82A}">
                    <a16:rowId xmlns:a16="http://schemas.microsoft.com/office/drawing/2014/main" val="2518751076"/>
                  </a:ext>
                </a:extLst>
              </a:tr>
            </a:tbl>
          </a:graphicData>
        </a:graphic>
      </p:graphicFrame>
      <p:sp>
        <p:nvSpPr>
          <p:cNvPr id="3" name="Text Placeholder 2">
            <a:extLst>
              <a:ext uri="{FF2B5EF4-FFF2-40B4-BE49-F238E27FC236}">
                <a16:creationId xmlns:a16="http://schemas.microsoft.com/office/drawing/2014/main" id="{34BFB3D7-A618-86F6-9AE7-9014E6F0EA3F}"/>
              </a:ext>
            </a:extLst>
          </p:cNvPr>
          <p:cNvSpPr txBox="1">
            <a:spLocks/>
          </p:cNvSpPr>
          <p:nvPr/>
        </p:nvSpPr>
        <p:spPr>
          <a:xfrm>
            <a:off x="4652962" y="140391"/>
            <a:ext cx="5251703" cy="1038225"/>
          </a:xfrm>
          <a:prstGeom prst="rect">
            <a:avLst/>
          </a:prstGeom>
          <a:solidFill>
            <a:schemeClr val="accent1">
              <a:lumMod val="40000"/>
              <a:lumOff val="60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buNone/>
            </a:pPr>
            <a:r>
              <a:rPr lang="en-US" sz="2000" dirty="0"/>
              <a:t>Creating an </a:t>
            </a:r>
            <a:r>
              <a:rPr lang="en-US" sz="2000" b="1" dirty="0"/>
              <a:t>Action Plan</a:t>
            </a:r>
            <a:r>
              <a:rPr lang="en-US" sz="2000" dirty="0"/>
              <a:t> to Integrate </a:t>
            </a:r>
            <a:r>
              <a:rPr lang="en-US" sz="2000" b="1" dirty="0"/>
              <a:t>Sustainable Development</a:t>
            </a:r>
            <a:r>
              <a:rPr lang="en-US" sz="2000" dirty="0"/>
              <a:t> into Your </a:t>
            </a:r>
            <a:r>
              <a:rPr lang="en-US" sz="2000" b="1" dirty="0"/>
              <a:t>Teaching</a:t>
            </a:r>
          </a:p>
        </p:txBody>
      </p:sp>
    </p:spTree>
    <p:extLst>
      <p:ext uri="{BB962C8B-B14F-4D97-AF65-F5344CB8AC3E}">
        <p14:creationId xmlns:p14="http://schemas.microsoft.com/office/powerpoint/2010/main" val="32495660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C2932-5448-BBD6-2A82-37FC24E5B05C}"/>
              </a:ext>
            </a:extLst>
          </p:cNvPr>
          <p:cNvSpPr>
            <a:spLocks noGrp="1"/>
          </p:cNvSpPr>
          <p:nvPr>
            <p:ph type="title"/>
          </p:nvPr>
        </p:nvSpPr>
        <p:spPr>
          <a:xfrm>
            <a:off x="5359510" y="978619"/>
            <a:ext cx="5991244" cy="1106424"/>
          </a:xfrm>
        </p:spPr>
        <p:txBody>
          <a:bodyPr>
            <a:normAutofit/>
          </a:bodyPr>
          <a:lstStyle/>
          <a:p>
            <a:r>
              <a:rPr lang="de-CH" sz="3200" dirty="0"/>
              <a:t>Outlook on </a:t>
            </a:r>
            <a:r>
              <a:rPr lang="de-CH" sz="3200" dirty="0" err="1"/>
              <a:t>next</a:t>
            </a:r>
            <a:r>
              <a:rPr lang="de-CH" sz="3200" dirty="0"/>
              <a:t> </a:t>
            </a:r>
            <a:r>
              <a:rPr lang="de-CH" sz="3200" dirty="0" err="1"/>
              <a:t>session</a:t>
            </a:r>
            <a:r>
              <a:rPr lang="de-CH" sz="3200" dirty="0"/>
              <a:t>: </a:t>
            </a:r>
            <a:r>
              <a:rPr lang="de-CH" sz="3200" dirty="0" err="1"/>
              <a:t>Presentations</a:t>
            </a:r>
            <a:r>
              <a:rPr lang="de-CH" sz="3200" dirty="0"/>
              <a:t> </a:t>
            </a:r>
            <a:r>
              <a:rPr lang="de-CH" sz="3200" dirty="0" err="1"/>
              <a:t>of</a:t>
            </a:r>
            <a:r>
              <a:rPr lang="de-CH" sz="3200" dirty="0"/>
              <a:t> </a:t>
            </a:r>
            <a:r>
              <a:rPr lang="de-CH" sz="3200" dirty="0" err="1"/>
              <a:t>action</a:t>
            </a:r>
            <a:r>
              <a:rPr lang="de-CH" sz="3200" dirty="0"/>
              <a:t> </a:t>
            </a:r>
            <a:r>
              <a:rPr lang="de-CH" sz="3200" dirty="0" err="1"/>
              <a:t>plans</a:t>
            </a:r>
            <a:endParaRPr lang="en-CH" sz="3200" dirty="0"/>
          </a:p>
        </p:txBody>
      </p:sp>
      <p:pic>
        <p:nvPicPr>
          <p:cNvPr id="8" name="Graphic 7" descr="Teacher outline">
            <a:extLst>
              <a:ext uri="{FF2B5EF4-FFF2-40B4-BE49-F238E27FC236}">
                <a16:creationId xmlns:a16="http://schemas.microsoft.com/office/drawing/2014/main" id="{B1DD30BC-AECF-7496-8048-DDA2EE0891B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14528" y="1361884"/>
            <a:ext cx="4033647" cy="4033647"/>
          </a:xfrm>
          <a:prstGeom prst="rect">
            <a:avLst/>
          </a:prstGeom>
        </p:spPr>
      </p:pic>
      <p:sp>
        <p:nvSpPr>
          <p:cNvPr id="3" name="Content Placeholder 2">
            <a:extLst>
              <a:ext uri="{FF2B5EF4-FFF2-40B4-BE49-F238E27FC236}">
                <a16:creationId xmlns:a16="http://schemas.microsoft.com/office/drawing/2014/main" id="{4F98B5D7-FDD2-3B28-3199-7032913CCE0D}"/>
              </a:ext>
            </a:extLst>
          </p:cNvPr>
          <p:cNvSpPr>
            <a:spLocks noGrp="1"/>
          </p:cNvSpPr>
          <p:nvPr>
            <p:ph idx="1"/>
          </p:nvPr>
        </p:nvSpPr>
        <p:spPr>
          <a:xfrm>
            <a:off x="5356861" y="2252870"/>
            <a:ext cx="5993892" cy="3560251"/>
          </a:xfrm>
        </p:spPr>
        <p:txBody>
          <a:bodyPr vert="horz" lIns="91440" tIns="45720" rIns="91440" bIns="45720" rtlCol="0" anchor="t">
            <a:normAutofit/>
          </a:bodyPr>
          <a:lstStyle/>
          <a:p>
            <a:r>
              <a:rPr lang="en-GB" sz="1800" dirty="0"/>
              <a:t>Each participant has </a:t>
            </a:r>
            <a:r>
              <a:rPr lang="en-GB" sz="1800" b="1" dirty="0"/>
              <a:t>6 minutes </a:t>
            </a:r>
            <a:r>
              <a:rPr lang="en-GB" sz="1800" dirty="0"/>
              <a:t>to present their action plan.</a:t>
            </a:r>
          </a:p>
          <a:p>
            <a:r>
              <a:rPr lang="en-GB" sz="1800" dirty="0"/>
              <a:t>Focus on key points: </a:t>
            </a:r>
          </a:p>
          <a:p>
            <a:pPr lvl="1"/>
            <a:r>
              <a:rPr lang="en-GB" sz="1400" dirty="0"/>
              <a:t>Current state (task after session 1), </a:t>
            </a:r>
          </a:p>
          <a:p>
            <a:pPr lvl="1"/>
            <a:r>
              <a:rPr lang="en-GB" sz="1400" dirty="0"/>
              <a:t>Areas for improvement, opportunities identified (task after session 2), </a:t>
            </a:r>
          </a:p>
          <a:p>
            <a:pPr lvl="1"/>
            <a:r>
              <a:rPr lang="en-GB" sz="1400" dirty="0"/>
              <a:t>Developed lesson/session (constructive alignment – task after session 3): three learning outcomes, corresponding learning activities, and </a:t>
            </a:r>
            <a:r>
              <a:rPr lang="de-CH" sz="1400" dirty="0" err="1"/>
              <a:t>assessment</a:t>
            </a:r>
            <a:r>
              <a:rPr lang="de-CH" sz="1400" dirty="0"/>
              <a:t> </a:t>
            </a:r>
            <a:r>
              <a:rPr lang="de-CH" sz="1400" dirty="0" err="1"/>
              <a:t>format</a:t>
            </a:r>
            <a:r>
              <a:rPr lang="de-CH" sz="1400" dirty="0"/>
              <a:t>.</a:t>
            </a:r>
            <a:endParaRPr lang="en-CH" sz="1400" dirty="0"/>
          </a:p>
          <a:p>
            <a:r>
              <a:rPr lang="en-GB" sz="1800" dirty="0"/>
              <a:t>Listeners in each session take notes and provide constructive feedback for the presenter.</a:t>
            </a:r>
            <a:endParaRPr lang="en-CH" sz="1800" dirty="0"/>
          </a:p>
        </p:txBody>
      </p:sp>
      <p:sp>
        <p:nvSpPr>
          <p:cNvPr id="6" name="Slide Number Placeholder 5">
            <a:extLst>
              <a:ext uri="{FF2B5EF4-FFF2-40B4-BE49-F238E27FC236}">
                <a16:creationId xmlns:a16="http://schemas.microsoft.com/office/drawing/2014/main" id="{4D537227-8C5F-769D-C0A8-BDA5799A34D7}"/>
              </a:ext>
            </a:extLst>
          </p:cNvPr>
          <p:cNvSpPr>
            <a:spLocks noGrp="1"/>
          </p:cNvSpPr>
          <p:nvPr>
            <p:ph type="sldNum" sz="quarter" idx="12"/>
          </p:nvPr>
        </p:nvSpPr>
        <p:spPr>
          <a:xfrm>
            <a:off x="8613648" y="6356350"/>
            <a:ext cx="2743200" cy="365125"/>
          </a:xfrm>
        </p:spPr>
        <p:txBody>
          <a:bodyPr>
            <a:normAutofit/>
          </a:bodyPr>
          <a:lstStyle/>
          <a:p>
            <a:pPr>
              <a:spcAft>
                <a:spcPts val="600"/>
              </a:spcAft>
            </a:pPr>
            <a:fld id="{A65A5C87-DF58-40C8-B092-1DE63DB4547E}" type="slidenum">
              <a:rPr lang="en-US">
                <a:solidFill>
                  <a:schemeClr val="tx2">
                    <a:lumMod val="50000"/>
                    <a:lumOff val="50000"/>
                  </a:schemeClr>
                </a:solidFill>
              </a:rPr>
              <a:pPr>
                <a:spcAft>
                  <a:spcPts val="600"/>
                </a:spcAft>
              </a:pPr>
              <a:t>46</a:t>
            </a:fld>
            <a:endParaRPr lang="en-US">
              <a:solidFill>
                <a:schemeClr val="tx2">
                  <a:lumMod val="50000"/>
                  <a:lumOff val="50000"/>
                </a:schemeClr>
              </a:solidFill>
            </a:endParaRPr>
          </a:p>
        </p:txBody>
      </p:sp>
    </p:spTree>
    <p:extLst>
      <p:ext uri="{BB962C8B-B14F-4D97-AF65-F5344CB8AC3E}">
        <p14:creationId xmlns:p14="http://schemas.microsoft.com/office/powerpoint/2010/main" val="16330200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E6A1A-7E83-2A26-F944-52D4B29C0989}"/>
              </a:ext>
            </a:extLst>
          </p:cNvPr>
          <p:cNvSpPr>
            <a:spLocks noGrp="1"/>
          </p:cNvSpPr>
          <p:nvPr>
            <p:ph type="title"/>
          </p:nvPr>
        </p:nvSpPr>
        <p:spPr>
          <a:xfrm>
            <a:off x="7848600" y="1122363"/>
            <a:ext cx="4023360" cy="3204134"/>
          </a:xfrm>
        </p:spPr>
        <p:txBody>
          <a:bodyPr vert="horz" lIns="91440" tIns="45720" rIns="91440" bIns="45720" rtlCol="0" anchor="b">
            <a:normAutofit/>
          </a:bodyPr>
          <a:lstStyle/>
          <a:p>
            <a:r>
              <a:rPr lang="en-US" sz="4800" dirty="0"/>
              <a:t>Wrap-up and Q&amp;A</a:t>
            </a:r>
          </a:p>
        </p:txBody>
      </p:sp>
      <p:pic>
        <p:nvPicPr>
          <p:cNvPr id="7" name="Picture 6">
            <a:extLst>
              <a:ext uri="{FF2B5EF4-FFF2-40B4-BE49-F238E27FC236}">
                <a16:creationId xmlns:a16="http://schemas.microsoft.com/office/drawing/2014/main" id="{AE9B8003-7080-2183-C3C1-F7388972B094}"/>
              </a:ext>
            </a:extLst>
          </p:cNvPr>
          <p:cNvPicPr>
            <a:picLocks noChangeAspect="1"/>
          </p:cNvPicPr>
          <p:nvPr/>
        </p:nvPicPr>
        <p:blipFill>
          <a:blip r:embed="rId2"/>
          <a:stretch>
            <a:fillRect/>
          </a:stretch>
        </p:blipFill>
        <p:spPr>
          <a:xfrm>
            <a:off x="1112735" y="625683"/>
            <a:ext cx="5462139" cy="5454246"/>
          </a:xfrm>
          <a:prstGeom prst="rect">
            <a:avLst/>
          </a:prstGeom>
        </p:spPr>
      </p:pic>
      <p:sp>
        <p:nvSpPr>
          <p:cNvPr id="6" name="Slide Number Placeholder 5">
            <a:extLst>
              <a:ext uri="{FF2B5EF4-FFF2-40B4-BE49-F238E27FC236}">
                <a16:creationId xmlns:a16="http://schemas.microsoft.com/office/drawing/2014/main" id="{FBD39606-4185-76E0-782E-5C756BE59826}"/>
              </a:ext>
            </a:extLst>
          </p:cNvPr>
          <p:cNvSpPr>
            <a:spLocks noGrp="1"/>
          </p:cNvSpPr>
          <p:nvPr>
            <p:ph type="sldNum" sz="quarter" idx="12"/>
          </p:nvPr>
        </p:nvSpPr>
        <p:spPr>
          <a:xfrm>
            <a:off x="11150138" y="6356350"/>
            <a:ext cx="721822" cy="365125"/>
          </a:xfrm>
        </p:spPr>
        <p:txBody>
          <a:bodyPr vert="horz" lIns="91440" tIns="45720" rIns="91440" bIns="45720" rtlCol="0" anchor="ctr">
            <a:normAutofit/>
          </a:bodyPr>
          <a:lstStyle/>
          <a:p>
            <a:pPr>
              <a:spcAft>
                <a:spcPts val="600"/>
              </a:spcAft>
            </a:pPr>
            <a:fld id="{A65A5C87-DF58-40C8-B092-1DE63DB4547E}" type="slidenum">
              <a:rPr lang="en-US">
                <a:solidFill>
                  <a:schemeClr val="tx2">
                    <a:lumMod val="50000"/>
                    <a:lumOff val="50000"/>
                  </a:schemeClr>
                </a:solidFill>
              </a:rPr>
              <a:pPr>
                <a:spcAft>
                  <a:spcPts val="600"/>
                </a:spcAft>
              </a:pPr>
              <a:t>47</a:t>
            </a:fld>
            <a:endParaRPr lang="en-US">
              <a:solidFill>
                <a:schemeClr val="tx2">
                  <a:lumMod val="50000"/>
                  <a:lumOff val="50000"/>
                </a:schemeClr>
              </a:solidFill>
            </a:endParaRPr>
          </a:p>
        </p:txBody>
      </p:sp>
    </p:spTree>
    <p:extLst>
      <p:ext uri="{BB962C8B-B14F-4D97-AF65-F5344CB8AC3E}">
        <p14:creationId xmlns:p14="http://schemas.microsoft.com/office/powerpoint/2010/main" val="28486908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F6EA5-1EEF-4F8D-A202-227127F37230}"/>
              </a:ext>
            </a:extLst>
          </p:cNvPr>
          <p:cNvSpPr>
            <a:spLocks noGrp="1"/>
          </p:cNvSpPr>
          <p:nvPr>
            <p:ph type="title"/>
          </p:nvPr>
        </p:nvSpPr>
        <p:spPr>
          <a:xfrm>
            <a:off x="824580" y="645642"/>
            <a:ext cx="5991244" cy="1106424"/>
          </a:xfrm>
        </p:spPr>
        <p:txBody>
          <a:bodyPr vert="horz" lIns="91440" tIns="45720" rIns="91440" bIns="45720" rtlCol="0" anchor="ctr">
            <a:normAutofit/>
          </a:bodyPr>
          <a:lstStyle/>
          <a:p>
            <a:r>
              <a:rPr lang="en-US" sz="3200" dirty="0"/>
              <a:t>References</a:t>
            </a:r>
          </a:p>
        </p:txBody>
      </p:sp>
      <p:pic>
        <p:nvPicPr>
          <p:cNvPr id="8" name="Content Placeholder 7" descr="Books on shelf outline">
            <a:extLst>
              <a:ext uri="{FF2B5EF4-FFF2-40B4-BE49-F238E27FC236}">
                <a16:creationId xmlns:a16="http://schemas.microsoft.com/office/drawing/2014/main" id="{5BD2E643-B630-5531-9608-BD0BAF3E42D5}"/>
              </a:ext>
            </a:extLst>
          </p:cNvPr>
          <p:cNvPicPr>
            <a:picLocks noGrp="1" noChangeAspect="1"/>
          </p:cNvPicPr>
          <p:nvPr>
            <p:ph sz="quarter" idx="14"/>
          </p:nvPr>
        </p:nvPicPr>
        <p:blipFill>
          <a:blip>
            <a:extLst>
              <a:ext uri="{96DAC541-7B7A-43D3-8B79-37D633B846F1}">
                <asvg:svgBlip xmlns:asvg="http://schemas.microsoft.com/office/drawing/2016/SVG/main" r:embed="rId3"/>
              </a:ext>
            </a:extLst>
          </a:blip>
          <a:stretch>
            <a:fillRect/>
          </a:stretch>
        </p:blipFill>
        <p:spPr>
          <a:xfrm>
            <a:off x="9686342" y="124769"/>
            <a:ext cx="2124658" cy="2124658"/>
          </a:xfrm>
          <a:prstGeom prst="rect">
            <a:avLst/>
          </a:prstGeom>
        </p:spPr>
      </p:pic>
      <p:sp>
        <p:nvSpPr>
          <p:cNvPr id="4" name="Content Placeholder 3">
            <a:extLst>
              <a:ext uri="{FF2B5EF4-FFF2-40B4-BE49-F238E27FC236}">
                <a16:creationId xmlns:a16="http://schemas.microsoft.com/office/drawing/2014/main" id="{56E2AD97-6712-4E23-9D09-2FCFC43DE6FA}"/>
              </a:ext>
            </a:extLst>
          </p:cNvPr>
          <p:cNvSpPr>
            <a:spLocks noGrp="1"/>
          </p:cNvSpPr>
          <p:nvPr>
            <p:ph sz="half" idx="2"/>
          </p:nvPr>
        </p:nvSpPr>
        <p:spPr>
          <a:xfrm>
            <a:off x="551420" y="2038896"/>
            <a:ext cx="11089159" cy="3560251"/>
          </a:xfrm>
        </p:spPr>
        <p:txBody>
          <a:bodyPr vert="horz" lIns="91440" tIns="45720" rIns="91440" bIns="45720" rtlCol="0">
            <a:noAutofit/>
          </a:bodyPr>
          <a:lstStyle/>
          <a:p>
            <a:pPr marL="358775" indent="-227013">
              <a:lnSpc>
                <a:spcPct val="100000"/>
              </a:lnSpc>
              <a:buNone/>
            </a:pPr>
            <a:r>
              <a:rPr lang="en-US" sz="1000" dirty="0" err="1"/>
              <a:t>Abelha</a:t>
            </a:r>
            <a:r>
              <a:rPr lang="en-US" sz="1000" dirty="0"/>
              <a:t>, M., Fernandes, S., Mesquita, D., </a:t>
            </a:r>
            <a:r>
              <a:rPr lang="en-US" sz="1000" dirty="0" err="1"/>
              <a:t>Seabra</a:t>
            </a:r>
            <a:r>
              <a:rPr lang="en-US" sz="1000" dirty="0"/>
              <a:t>, F., &amp; Ferreira-Oliveira, A. T. (2020). Graduate employability and competence development in higher education—A systematic literature review using PRISMA. Sustainability, 12(15), 5900.</a:t>
            </a:r>
          </a:p>
          <a:p>
            <a:pPr marL="358775" indent="-227013">
              <a:lnSpc>
                <a:spcPct val="100000"/>
              </a:lnSpc>
              <a:buNone/>
            </a:pPr>
            <a:r>
              <a:rPr lang="en-US" sz="1000" dirty="0"/>
              <a:t>Herweg, K., Tribelhorn, T., Lewis A.L., Providoli, I., Trechsel, L.J., Steinböck, C. (2021). Transdisciplinary Learning for Sustainable Development – Sharing Experience in Course and Curriculum Design. Bern, Switzerland: Centre for Development and Environment (CDE), University of Bern, with Bern Open Publishing (BOP).</a:t>
            </a:r>
          </a:p>
          <a:p>
            <a:pPr marL="358775" indent="-227013">
              <a:lnSpc>
                <a:spcPct val="100000"/>
              </a:lnSpc>
              <a:buNone/>
            </a:pPr>
            <a:r>
              <a:rPr lang="en-GB" sz="1000" dirty="0"/>
              <a:t>Ministry of Education (2020). General Education Curriculum Framework. The Federal Democratic Republic of Ethiopia: Addis Ababa.</a:t>
            </a:r>
            <a:endParaRPr lang="en-US" sz="1000" dirty="0"/>
          </a:p>
          <a:p>
            <a:pPr marL="533400" indent="-401638">
              <a:lnSpc>
                <a:spcPct val="100000"/>
              </a:lnSpc>
              <a:buNone/>
            </a:pPr>
            <a:r>
              <a:rPr lang="en-GB" sz="1000" dirty="0" err="1"/>
              <a:t>Rieckmann</a:t>
            </a:r>
            <a:r>
              <a:rPr lang="en-GB" sz="1000" dirty="0"/>
              <a:t>, M. (2018). Learning to transform the world: Key competencies in Education for Sustainable Development. Issues and trends in education for sustainable development, 39, 39-59.</a:t>
            </a:r>
            <a:endParaRPr lang="en-US" sz="1000" dirty="0"/>
          </a:p>
          <a:p>
            <a:pPr marL="533400" indent="-401638">
              <a:lnSpc>
                <a:spcPct val="100000"/>
              </a:lnSpc>
              <a:buNone/>
            </a:pPr>
            <a:r>
              <a:rPr lang="en-GB" sz="1000" dirty="0"/>
              <a:t>Royo, M. G., Diep, L., Mulligan, J., Mukanga, P., &amp; Parikh, P. (2022). Linking the UN Sustainable Development Goals and African Agenda 2063: Understanding overlaps and gaps between the global goals and continental priorities for Africa. World Development Sustainability, 1, 100010. </a:t>
            </a:r>
            <a:r>
              <a:rPr lang="en-GB" sz="1000" dirty="0">
                <a:hlinkClick r:id="rId4"/>
              </a:rPr>
              <a:t>https://doi.org/10.1016/j.wds.2022.100010</a:t>
            </a:r>
            <a:r>
              <a:rPr lang="en-GB" sz="1000" dirty="0"/>
              <a:t>  </a:t>
            </a:r>
            <a:endParaRPr lang="en-US" sz="1000" dirty="0"/>
          </a:p>
          <a:p>
            <a:pPr marL="533400" indent="-401638">
              <a:lnSpc>
                <a:spcPct val="100000"/>
              </a:lnSpc>
              <a:buNone/>
            </a:pPr>
            <a:r>
              <a:rPr lang="en-US" sz="1000" dirty="0" err="1"/>
              <a:t>Tejedor</a:t>
            </a:r>
            <a:r>
              <a:rPr lang="en-US" sz="1000" dirty="0"/>
              <a:t>, G., </a:t>
            </a:r>
            <a:r>
              <a:rPr lang="en-US" sz="1000" dirty="0" err="1"/>
              <a:t>Segalàs</a:t>
            </a:r>
            <a:r>
              <a:rPr lang="en-US" sz="1000" dirty="0"/>
              <a:t>, J., </a:t>
            </a:r>
            <a:r>
              <a:rPr lang="en-US" sz="1000" dirty="0" err="1"/>
              <a:t>Barrón</a:t>
            </a:r>
            <a:r>
              <a:rPr lang="en-US" sz="1000" dirty="0"/>
              <a:t>, Á., Fernández-Morilla, M., Fuertes, M. T., Ruiz-Morales, J., ... &amp; Hernández, À. (2019). Didactic strategies to promote competencies in sustainability. Sustainability, 11(7), 2086. </a:t>
            </a:r>
            <a:r>
              <a:rPr lang="en-US" sz="1000" dirty="0">
                <a:hlinkClick r:id="rId5"/>
              </a:rPr>
              <a:t>https://doi.org/10.3390/su11072086</a:t>
            </a:r>
            <a:r>
              <a:rPr lang="en-US" sz="1000" dirty="0"/>
              <a:t> </a:t>
            </a:r>
          </a:p>
          <a:p>
            <a:pPr marL="538163" indent="-406400">
              <a:lnSpc>
                <a:spcPct val="100000"/>
              </a:lnSpc>
              <a:buNone/>
            </a:pPr>
            <a:r>
              <a:rPr lang="en-US" sz="1000" dirty="0"/>
              <a:t>UNESCO (2023). What you need to know about education for sustainable development </a:t>
            </a:r>
            <a:r>
              <a:rPr lang="en-US" sz="1000" dirty="0">
                <a:hlinkClick r:id="rId6"/>
              </a:rPr>
              <a:t>https://www.unesco.org/en/education-sustainable-development/need-know</a:t>
            </a:r>
            <a:r>
              <a:rPr lang="en-US" sz="1000" dirty="0"/>
              <a:t> [Last accessed 28 December 2023] </a:t>
            </a:r>
          </a:p>
          <a:p>
            <a:pPr marL="538163" indent="-406400">
              <a:lnSpc>
                <a:spcPct val="100000"/>
              </a:lnSpc>
              <a:buNone/>
            </a:pPr>
            <a:r>
              <a:rPr lang="en-US" sz="1000" dirty="0"/>
              <a:t>UNESCO (n.d.) Berlin Declaration on Education for Sustainable Development. </a:t>
            </a:r>
            <a:r>
              <a:rPr lang="en-US" sz="1000" dirty="0">
                <a:hlinkClick r:id="rId7"/>
              </a:rPr>
              <a:t>https://en.unesco.org/sites/default/files/esdfor2030-berlin-declaration-en.pdf</a:t>
            </a:r>
            <a:r>
              <a:rPr lang="en-US" sz="1000" dirty="0"/>
              <a:t> </a:t>
            </a:r>
            <a:r>
              <a:rPr lang="en-GB" sz="1000" dirty="0"/>
              <a:t>[Last accessed 28 December 2023] </a:t>
            </a:r>
            <a:endParaRPr lang="en-US" sz="1000" dirty="0"/>
          </a:p>
          <a:p>
            <a:pPr marL="538163" indent="-406400">
              <a:lnSpc>
                <a:spcPct val="100000"/>
              </a:lnSpc>
              <a:buNone/>
            </a:pPr>
            <a:r>
              <a:rPr lang="en-US" sz="1000" dirty="0"/>
              <a:t>United Nations (n.d.) Ensure inclusive and equitable quality education and promote lifelong learning opportunities for all </a:t>
            </a:r>
            <a:r>
              <a:rPr lang="en-US" sz="1000" dirty="0">
                <a:hlinkClick r:id="rId8"/>
              </a:rPr>
              <a:t>https://sdgs.un.org/goals/goal4#targets_and_indicators</a:t>
            </a:r>
            <a:r>
              <a:rPr lang="en-US" sz="1000" dirty="0"/>
              <a:t> </a:t>
            </a:r>
            <a:r>
              <a:rPr lang="en-GB" sz="1000" dirty="0"/>
              <a:t>[Last accessed 28 December 2023] </a:t>
            </a:r>
            <a:endParaRPr lang="en-US" sz="1000" dirty="0"/>
          </a:p>
          <a:p>
            <a:pPr marL="358775" indent="-227013">
              <a:lnSpc>
                <a:spcPct val="100000"/>
              </a:lnSpc>
              <a:buNone/>
            </a:pPr>
            <a:endParaRPr lang="en-US" sz="1000" dirty="0"/>
          </a:p>
        </p:txBody>
      </p:sp>
      <p:sp>
        <p:nvSpPr>
          <p:cNvPr id="9" name="Slide Number Placeholder 8">
            <a:extLst>
              <a:ext uri="{FF2B5EF4-FFF2-40B4-BE49-F238E27FC236}">
                <a16:creationId xmlns:a16="http://schemas.microsoft.com/office/drawing/2014/main" id="{BB08890F-0304-4336-8A5F-BCCA24EADE2D}"/>
              </a:ext>
            </a:extLst>
          </p:cNvPr>
          <p:cNvSpPr>
            <a:spLocks noGrp="1"/>
          </p:cNvSpPr>
          <p:nvPr>
            <p:ph type="sldNum" sz="quarter" idx="12"/>
          </p:nvPr>
        </p:nvSpPr>
        <p:spPr>
          <a:xfrm>
            <a:off x="8613648" y="6356350"/>
            <a:ext cx="2743200" cy="365125"/>
          </a:xfrm>
        </p:spPr>
        <p:txBody>
          <a:bodyPr vert="horz" lIns="91440" tIns="45720" rIns="91440" bIns="45720" rtlCol="0" anchor="ctr">
            <a:normAutofit/>
          </a:bodyPr>
          <a:lstStyle/>
          <a:p>
            <a:pPr>
              <a:spcAft>
                <a:spcPts val="600"/>
              </a:spcAft>
            </a:pPr>
            <a:fld id="{A65A5C87-DF58-40C8-B092-1DE63DB4547E}" type="slidenum">
              <a:rPr lang="en-US">
                <a:solidFill>
                  <a:schemeClr val="tx2">
                    <a:lumMod val="50000"/>
                    <a:lumOff val="50000"/>
                  </a:schemeClr>
                </a:solidFill>
              </a:rPr>
              <a:pPr>
                <a:spcAft>
                  <a:spcPts val="600"/>
                </a:spcAft>
              </a:pPr>
              <a:t>48</a:t>
            </a:fld>
            <a:endParaRPr lang="en-US">
              <a:solidFill>
                <a:schemeClr val="tx2">
                  <a:lumMod val="50000"/>
                  <a:lumOff val="50000"/>
                </a:schemeClr>
              </a:solidFill>
            </a:endParaRPr>
          </a:p>
        </p:txBody>
      </p:sp>
      <p:sp>
        <p:nvSpPr>
          <p:cNvPr id="12" name="Content Placeholder 5">
            <a:extLst>
              <a:ext uri="{FF2B5EF4-FFF2-40B4-BE49-F238E27FC236}">
                <a16:creationId xmlns:a16="http://schemas.microsoft.com/office/drawing/2014/main" id="{CEECEE07-176B-5023-7C4A-61F84026EA6E}"/>
              </a:ext>
            </a:extLst>
          </p:cNvPr>
          <p:cNvSpPr txBox="1">
            <a:spLocks/>
          </p:cNvSpPr>
          <p:nvPr/>
        </p:nvSpPr>
        <p:spPr>
          <a:xfrm>
            <a:off x="8153400" y="6069520"/>
            <a:ext cx="3260075" cy="41941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700" i="1">
                <a:solidFill>
                  <a:srgbClr val="7030A0"/>
                </a:solidFill>
                <a:latin typeface="Calibri" panose="020F0502020204030204" pitchFamily="34" charset="0"/>
                <a:ea typeface="Calibri" panose="020F0502020204030204" pitchFamily="34" charset="0"/>
                <a:cs typeface="Arial" panose="020B0604020202020204" pitchFamily="34" charset="0"/>
              </a:rPr>
              <a:t> </a:t>
            </a:r>
          </a:p>
          <a:p>
            <a:pPr marL="0" indent="0">
              <a:lnSpc>
                <a:spcPct val="100000"/>
              </a:lnSpc>
              <a:buNone/>
            </a:pPr>
            <a:r>
              <a:rPr lang="en-GB" sz="700" i="1">
                <a:solidFill>
                  <a:srgbClr val="7030A0"/>
                </a:solidFill>
                <a:latin typeface="Calibri" panose="020F0502020204030204" pitchFamily="34" charset="0"/>
                <a:ea typeface="Calibri" panose="020F0502020204030204" pitchFamily="34" charset="0"/>
                <a:cs typeface="Arial" panose="020B0604020202020204" pitchFamily="34" charset="0"/>
              </a:rPr>
              <a:t> </a:t>
            </a:r>
            <a:endParaRPr lang="en-US" sz="700">
              <a:solidFill>
                <a:srgbClr val="7030A0"/>
              </a:solidFill>
            </a:endParaRPr>
          </a:p>
        </p:txBody>
      </p:sp>
    </p:spTree>
    <p:extLst>
      <p:ext uri="{BB962C8B-B14F-4D97-AF65-F5344CB8AC3E}">
        <p14:creationId xmlns:p14="http://schemas.microsoft.com/office/powerpoint/2010/main" val="714232862"/>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ac16dc0-0dc9-49ab-99db-6bc168e4b9ef">
      <Terms xmlns="http://schemas.microsoft.com/office/infopath/2007/PartnerControls"/>
    </lcf76f155ced4ddcb4097134ff3c332f>
    <Bemerkungen xmlns="8ac16dc0-0dc9-49ab-99db-6bc168e4b9ef" xsi:nil="true"/>
    <TaxCatchAll xmlns="5718835e-0d9f-44bb-9dc0-be88827e798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99DE173C41AD748B4060AEB6BE3D8C9" ma:contentTypeVersion="14" ma:contentTypeDescription="Create a new document." ma:contentTypeScope="" ma:versionID="ad2f6bcab80e0124e392d68d2324b5e4">
  <xsd:schema xmlns:xsd="http://www.w3.org/2001/XMLSchema" xmlns:xs="http://www.w3.org/2001/XMLSchema" xmlns:p="http://schemas.microsoft.com/office/2006/metadata/properties" xmlns:ns2="5718835e-0d9f-44bb-9dc0-be88827e798a" xmlns:ns3="8ac16dc0-0dc9-49ab-99db-6bc168e4b9ef" targetNamespace="http://schemas.microsoft.com/office/2006/metadata/properties" ma:root="true" ma:fieldsID="2569b1ad6a7deb867c851da986e7547d" ns2:_="" ns3:_="">
    <xsd:import namespace="5718835e-0d9f-44bb-9dc0-be88827e798a"/>
    <xsd:import namespace="8ac16dc0-0dc9-49ab-99db-6bc168e4b9ef"/>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Bemerkungen" minOccurs="0"/>
                <xsd:element ref="ns3:MediaServiceSearchProperties" minOccurs="0"/>
                <xsd:element ref="ns3:MediaServiceDateTaken" minOccurs="0"/>
                <xsd:element ref="ns3:MediaServiceGenerationTime" minOccurs="0"/>
                <xsd:element ref="ns3:MediaServiceEventHashCode" minOccurs="0"/>
                <xsd:element ref="ns3:lcf76f155ced4ddcb4097134ff3c332f" minOccurs="0"/>
                <xsd:element ref="ns2:TaxCatchAll"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18835e-0d9f-44bb-9dc0-be88827e798a"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811161c7-2b90-4bdd-9555-9b979c9f9aa6}" ma:internalName="TaxCatchAll" ma:showField="CatchAllData" ma:web="5718835e-0d9f-44bb-9dc0-be88827e798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ac16dc0-0dc9-49ab-99db-6bc168e4b9ef"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Bemerkungen" ma:index="13" nillable="true" ma:displayName="Bemerkungen" ma:format="Dropdown" ma:internalName="Bemerkungen">
      <xsd:simpleType>
        <xsd:restriction base="dms:Note">
          <xsd:maxLength value="255"/>
        </xsd:restriction>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a84686df-39cf-4bac-acb0-1572f53f1b5d"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27DC71-2909-427C-BDB0-3E47E2101517}">
  <ds:schemaRefs>
    <ds:schemaRef ds:uri="http://schemas.microsoft.com/sharepoint/v3/contenttype/forms"/>
  </ds:schemaRefs>
</ds:datastoreItem>
</file>

<file path=customXml/itemProps2.xml><?xml version="1.0" encoding="utf-8"?>
<ds:datastoreItem xmlns:ds="http://schemas.openxmlformats.org/officeDocument/2006/customXml" ds:itemID="{290D7697-8E53-4EA8-8CBB-9C19575257BF}">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55823C3-D97E-451E-A5F2-547AA9ACC119}"/>
</file>

<file path=docMetadata/LabelInfo.xml><?xml version="1.0" encoding="utf-8"?>
<clbl:labelList xmlns:clbl="http://schemas.microsoft.com/office/2020/mipLabelMetadata">
  <clbl:label id="{d400387a-212f-43ea-ac7f-77aa12d7977e}" enabled="0" method="" siteId="{d400387a-212f-43ea-ac7f-77aa12d7977e}" removed="1"/>
</clbl:labelList>
</file>

<file path=docProps/app.xml><?xml version="1.0" encoding="utf-8"?>
<Properties xmlns="http://schemas.openxmlformats.org/officeDocument/2006/extended-properties" xmlns:vt="http://schemas.openxmlformats.org/officeDocument/2006/docPropsVTypes">
  <Template>AccentBox presentation</Template>
  <TotalTime>0</TotalTime>
  <Words>3705</Words>
  <Application>Microsoft Office PowerPoint</Application>
  <PresentationFormat>Widescreen</PresentationFormat>
  <Paragraphs>393</Paragraphs>
  <Slides>48</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Arial</vt:lpstr>
      <vt:lpstr>Avenir Next LT Pro</vt:lpstr>
      <vt:lpstr>Calibri</vt:lpstr>
      <vt:lpstr>Segoe UI</vt:lpstr>
      <vt:lpstr>Symbol</vt:lpstr>
      <vt:lpstr>Wingdings</vt:lpstr>
      <vt:lpstr>ヒラギノ角ゴ Pro W3</vt:lpstr>
      <vt:lpstr>AccentBoxVTI</vt:lpstr>
      <vt:lpstr>Session 3 Education for Sustainable Development (ESD) &amp; Constructive Alignment</vt:lpstr>
      <vt:lpstr>Outline</vt:lpstr>
      <vt:lpstr>Learning Outcomes</vt:lpstr>
      <vt:lpstr>Plenary discussion </vt:lpstr>
      <vt:lpstr>Introduction to ESD</vt:lpstr>
      <vt:lpstr>Complex sustainability challenges </vt:lpstr>
      <vt:lpstr>New form of science and education </vt:lpstr>
      <vt:lpstr>What is ESD? (UNESCO)</vt:lpstr>
      <vt:lpstr>What is ESD? (UNESCO’s Berlin Declaration) </vt:lpstr>
      <vt:lpstr>Definitions</vt:lpstr>
      <vt:lpstr>The UN Sustainable Development Goal 4</vt:lpstr>
      <vt:lpstr>ESD is anchored in SDG 4.7</vt:lpstr>
      <vt:lpstr>Education in the African Union Agenda 2063</vt:lpstr>
      <vt:lpstr>Competences</vt:lpstr>
      <vt:lpstr>Competences</vt:lpstr>
      <vt:lpstr>PowerPoint Presentation</vt:lpstr>
      <vt:lpstr>Pedagogical strategies that foster SD competences</vt:lpstr>
      <vt:lpstr>Key pedagogical approaches in ESD </vt:lpstr>
      <vt:lpstr>Suggestions for teaching principles</vt:lpstr>
      <vt:lpstr>Discussion/Reflection</vt:lpstr>
      <vt:lpstr>Introduction to Constructive Alignment</vt:lpstr>
      <vt:lpstr>Constructive Alignment</vt:lpstr>
      <vt:lpstr>Aligning three elements</vt:lpstr>
      <vt:lpstr>Learning Outcomes</vt:lpstr>
      <vt:lpstr>Learning Outcomes</vt:lpstr>
      <vt:lpstr>Example</vt:lpstr>
      <vt:lpstr>Learning activities</vt:lpstr>
      <vt:lpstr>Learning activities that foster SD competences</vt:lpstr>
      <vt:lpstr>Assessment</vt:lpstr>
      <vt:lpstr>Assessment formats</vt:lpstr>
      <vt:lpstr>Assessment functions</vt:lpstr>
      <vt:lpstr>Examples of Constructive Alignment</vt:lpstr>
      <vt:lpstr>Examples of Constructive Alignment</vt:lpstr>
      <vt:lpstr>Example 1: Land degradation</vt:lpstr>
      <vt:lpstr>Example 1: Land degradation</vt:lpstr>
      <vt:lpstr>Example 1: Land degradation</vt:lpstr>
      <vt:lpstr>Example 1: Land degradation</vt:lpstr>
      <vt:lpstr>Example 2: Urban migration</vt:lpstr>
      <vt:lpstr>Example 2: Urban migration</vt:lpstr>
      <vt:lpstr>Example 1: Urban migration </vt:lpstr>
      <vt:lpstr>Example 2: Urban migration</vt:lpstr>
      <vt:lpstr>Reflection</vt:lpstr>
      <vt:lpstr>Reflection task: Muddiest point</vt:lpstr>
      <vt:lpstr>Task after Session 3 – Session development</vt:lpstr>
      <vt:lpstr>Overall Course Project</vt:lpstr>
      <vt:lpstr>Outlook on next session: Presentations of action plans</vt:lpstr>
      <vt:lpstr>Wrap-up and Q&amp;A</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AccentBox</dc:title>
  <dc:creator>Lewis, Anna Lena (CDE)</dc:creator>
  <cp:lastModifiedBy>Lewis, Anna Lena (CDE)</cp:lastModifiedBy>
  <cp:revision>172</cp:revision>
  <dcterms:created xsi:type="dcterms:W3CDTF">2023-10-11T13:15:05Z</dcterms:created>
  <dcterms:modified xsi:type="dcterms:W3CDTF">2026-08-27T08:38:06Z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0x010100599DE173C41AD748B4060AEB6BE3D8C9</vt:lpwstr>
  </property>
</Properties>
</file>